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B1F47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73152" cy="6858000"/>
          </a:xfrm>
          <a:prstGeom prst="rect">
            <a:avLst/>
          </a:prstGeom>
          <a:solidFill>
            <a:srgbClr val="1A4FA0"/>
          </a:solidFill>
          <a:ln/>
        </p:spPr>
      </p:sp>
      <p:sp>
        <p:nvSpPr>
          <p:cNvPr id="4" name="Shape 2"/>
          <p:cNvSpPr/>
          <p:nvPr/>
        </p:nvSpPr>
        <p:spPr>
          <a:xfrm>
            <a:off x="9098280" y="1325880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262A55"/>
          </a:solidFill>
          <a:ln w="12700">
            <a:solidFill>
              <a:srgbClr val="3A3E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0" y="13807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
</a:t>
            </a:r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· 06:00 · 07:00 · Fri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241280" y="2002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98280" y="2167128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262A55"/>
          </a:solidFill>
          <a:ln w="12700">
            <a:solidFill>
              <a:srgbClr val="3A3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22219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/ R program
</a:t>
            </a:r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41280" y="2843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98280" y="3008376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262A55"/>
          </a:solidFill>
          <a:ln w="12700">
            <a:solidFill>
              <a:srgbClr val="3A3E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30632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
</a:t>
            </a:r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/ R Markdown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0" y="3685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3849624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262A55"/>
          </a:solidFill>
          <a:ln w="12700">
            <a:solidFill>
              <a:srgbClr val="3A3E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39044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
</a:t>
            </a:r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+ urgent alert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WHILE ON LEAVE · STUDY CP-101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7830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month of trial monitoring —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automated, in SAS and R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 biostatistician is in Europe for a month. Monitoring keeps running on validated, deterministic SAS/R inside the existing environment — the covering colleague gets the right updates, escalation is automatic, and the manager gets peace of mind. No AI, no new tools, no PHI egress.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3200400" cy="0"/>
          </a:xfrm>
          <a:prstGeom prst="line">
            <a:avLst/>
          </a:prstGeom>
          <a:noFill/>
          <a:ln w="12700">
            <a:solidFill>
              <a:srgbClr val="3A3E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49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companion pipeline — the one you can ship today.  ·  Illustrative mockups.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1A4F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0 · BEFORE LEAVING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the already-validated programs, hand over the runbook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6492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92240" cy="365760"/>
          </a:xfrm>
          <a:prstGeom prst="rect">
            <a:avLst/>
          </a:prstGeom>
          <a:solidFill>
            <a:srgbClr val="12152E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188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 — service account SVC-BIOSTAT (not a personal login)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1691640"/>
            <a:ext cx="6126480" cy="841248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8013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1801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daily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48840" y="1764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refresh + integrity &amp; FRESHNESS gate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48840" y="2057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AA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 latest SDTM/safety/IXRS; verify feeds updated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2596896"/>
            <a:ext cx="6126480" cy="841248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2706624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daily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48840" y="2670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scan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148840" y="29626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AA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AE/SAE · Hy's-Law/eDISH · QTcF · labs · DLT tally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502152"/>
            <a:ext cx="6126480" cy="841248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6118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611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 daily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148840" y="3575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Routine digest → support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148840" y="38679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AA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GREEN/AMBER summary + heartbeat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4407408"/>
            <a:ext cx="6126480" cy="841248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4517136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517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16:00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148840" y="4480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status + exec one-pager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148840" y="47731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AA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support (full) · → manager (1 page)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5312664"/>
            <a:ext cx="6126480" cy="841248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54223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5422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on-event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48840" y="53858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ALERT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148840" y="56784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AA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KRI/QTL/DLT/SAE → urgent email + escalation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78040" y="1188720"/>
            <a:ext cx="4526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78040" y="1188720"/>
            <a:ext cx="4526280" cy="365760"/>
          </a:xfrm>
          <a:prstGeom prst="rect">
            <a:avLst/>
          </a:prstGeom>
          <a:solidFill>
            <a:srgbClr val="037B7B"/>
          </a:solidFill>
          <a:ln/>
        </p:spPr>
      </p:sp>
      <p:sp>
        <p:nvSpPr>
          <p:cNvPr id="44" name="Shape 42"/>
          <p:cNvSpPr/>
          <p:nvPr/>
        </p:nvSpPr>
        <p:spPr>
          <a:xfrm>
            <a:off x="732434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38835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745236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732434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738835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745236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732434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738835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745236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763524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runbook (PDF) — to support, cc manager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6092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CP-101 — Monitoring coverage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360920" y="2148840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56" name="Text 54"/>
          <p:cNvSpPr/>
          <p:nvPr/>
        </p:nvSpPr>
        <p:spPr>
          <a:xfrm>
            <a:off x="7589520" y="206654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within limits — no action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360920" y="2697480"/>
            <a:ext cx="146304" cy="146304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58" name="Text 56"/>
          <p:cNvSpPr/>
          <p:nvPr/>
        </p:nvSpPr>
        <p:spPr>
          <a:xfrm>
            <a:off x="7589520" y="26151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2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operational/quality KRI crossed — support reviews &amp; acts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360920" y="344728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0" name="Text 58"/>
          <p:cNvSpPr/>
          <p:nvPr/>
        </p:nvSpPr>
        <p:spPr>
          <a:xfrm>
            <a:off x="7589520" y="336499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threshold (DLT/SAE/Hy's-Law/QTcF) — ack ≤30 min, CONTACT MEDICAL MONITOR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360920" y="4197096"/>
            <a:ext cx="4206240" cy="0"/>
          </a:xfrm>
          <a:prstGeom prst="line">
            <a:avLst/>
          </a:prstGeom>
          <a:noFill/>
          <a:ln w="12700">
            <a:solidFill>
              <a:srgbClr val="DDE1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60920" y="4315968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BACKUP colleague + role alias (never one person)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Monitor: Dr. R. Okafor · +1-…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 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= a number crossed a line; it is NOT an interpretation. Humans decide.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64" name="Shape 62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1A4FA0"/>
          </a:solidFill>
          <a:ln/>
        </p:spPr>
      </p:sp>
      <p:sp>
        <p:nvSpPr>
          <p:cNvPr id="65" name="Text 63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new code — the lead’s normal monitoring programs are simply moved from “run when I remember” to “run on a clock,” under a service account that outlasts the lead’s login.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QUIET BASELINE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daily digest — GREEN — and the heartbeat that proves it ran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118872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188720"/>
            <a:ext cx="7863840" cy="36576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4358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0759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4358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30759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— Daily Safety Digest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1691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Safety Digest — CP-101 — Tue 09 Jun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23760" y="17373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GREEN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17320" y="20574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Support (covering biostatistician) · auto-sent 07:00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17320" y="2395728"/>
            <a:ext cx="7223760" cy="0"/>
          </a:xfrm>
          <a:prstGeom prst="line">
            <a:avLst/>
          </a:prstGeom>
          <a:noFill/>
          <a:ln w="12700">
            <a:solidFill>
              <a:srgbClr val="DD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7320" y="2679192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25420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/ dosed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63440" y="254203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 across cohorts 1–4 · cohort 5 screening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80160" y="2962656"/>
            <a:ext cx="7543800" cy="420624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6" name="Shape 24"/>
          <p:cNvSpPr/>
          <p:nvPr/>
        </p:nvSpPr>
        <p:spPr>
          <a:xfrm>
            <a:off x="1417320" y="3099816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296265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AEs / SAEs since last run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63440" y="296265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AE (all Grade 1) · 0 SAE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17320" y="3520440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0" name="Text 28"/>
          <p:cNvSpPr/>
          <p:nvPr/>
        </p:nvSpPr>
        <p:spPr>
          <a:xfrm>
            <a:off x="1645920" y="33832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Hy's-Law / eDISH · QTcF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63440" y="33832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flags · 0 flags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280160" y="3803904"/>
            <a:ext cx="7543800" cy="420624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3" name="Shape 31"/>
          <p:cNvSpPr/>
          <p:nvPr/>
        </p:nvSpPr>
        <p:spPr>
          <a:xfrm>
            <a:off x="1417320" y="3941064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4" name="Text 32"/>
          <p:cNvSpPr/>
          <p:nvPr/>
        </p:nvSpPr>
        <p:spPr>
          <a:xfrm>
            <a:off x="1645920" y="38039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/ vitals out of range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663440" y="380390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clinically-notable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417320" y="4361688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7" name="Text 35"/>
          <p:cNvSpPr/>
          <p:nvPr/>
        </p:nvSpPr>
        <p:spPr>
          <a:xfrm>
            <a:off x="1645920" y="42245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DLT tally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663440" y="422452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4: 0/6 — within 3+3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280160" y="4645152"/>
            <a:ext cx="7543800" cy="420624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0" name="Shape 38"/>
          <p:cNvSpPr/>
          <p:nvPr/>
        </p:nvSpPr>
        <p:spPr>
          <a:xfrm>
            <a:off x="1417320" y="4782312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41" name="Text 39"/>
          <p:cNvSpPr/>
          <p:nvPr/>
        </p:nvSpPr>
        <p:spPr>
          <a:xfrm>
            <a:off x="1645920" y="46451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queries / overdue visits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663440" y="464515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open (none &gt;30 d) · 0 overdue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280160" y="5175504"/>
            <a:ext cx="7543800" cy="566928"/>
          </a:xfrm>
          <a:prstGeom prst="rect">
            <a:avLst/>
          </a:prstGeom>
          <a:solidFill>
            <a:srgbClr val="0F1130"/>
          </a:solidFill>
          <a:ln/>
        </p:spPr>
      </p:sp>
      <p:sp>
        <p:nvSpPr>
          <p:cNvPr id="44" name="Text 42"/>
          <p:cNvSpPr/>
          <p:nvPr/>
        </p:nvSpPr>
        <p:spPr>
          <a:xfrm>
            <a:off x="1463040" y="517550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HEARTBEAT  ran 07:00:04 · data fresh to 06:14 today · 28,114 records · SYSCC=0 · next run 10 Jun 07:00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46" name="Shape 44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47" name="Text 45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news” is never assumed: every run emits a heartbeat with a data-freshness timestamp — so a missed job or a frozen feed announces itself instead of hiding behind a green screen.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C28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TUE 07:00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enrollment KRI dips — AMBER, in the routine channel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118872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188720"/>
            <a:ext cx="7863840" cy="36576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4358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0759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4358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30759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— Daily Safety Digest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1691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Safety Digest — CP-101 — Tue 16 Jun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23760" y="17373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BF1D8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AMBER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17320" y="20574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Support · auto-sent 07:00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17320" y="2395728"/>
            <a:ext cx="7223760" cy="0"/>
          </a:xfrm>
          <a:prstGeom prst="line">
            <a:avLst/>
          </a:prstGeom>
          <a:noFill/>
          <a:ln w="12700">
            <a:solidFill>
              <a:srgbClr val="DD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2542032"/>
            <a:ext cx="7543800" cy="841248"/>
          </a:xfrm>
          <a:prstGeom prst="rect">
            <a:avLst/>
          </a:prstGeom>
          <a:solidFill>
            <a:srgbClr val="FBF1D8"/>
          </a:solidFill>
          <a:ln w="19050">
            <a:solidFill>
              <a:srgbClr val="C289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2743200"/>
            <a:ext cx="146304" cy="146304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24" name="Text 22"/>
          <p:cNvSpPr/>
          <p:nvPr/>
        </p:nvSpPr>
        <p:spPr>
          <a:xfrm>
            <a:off x="1691640" y="2606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vs plan — KRI BREACHED
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A4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of planned-to-date (KRI floor 80%) · screen-failure cluster at Site 02 (5 of last 7) · cohort-5 fill at risk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463040" y="3685032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6" name="Text 24"/>
          <p:cNvSpPr/>
          <p:nvPr/>
        </p:nvSpPr>
        <p:spPr>
          <a:xfrm>
            <a:off x="1691640" y="35661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(AE/SAE · Hy's-Law · QTcF · DLT)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within limits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63040" y="4105656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9" name="Text 27"/>
          <p:cNvSpPr/>
          <p:nvPr/>
        </p:nvSpPr>
        <p:spPr>
          <a:xfrm>
            <a:off x="1691640" y="39867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/ vitals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39867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notable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4526280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2" name="Text 30"/>
          <p:cNvSpPr/>
          <p:nvPr/>
        </p:nvSpPr>
        <p:spPr>
          <a:xfrm>
            <a:off x="1691640" y="44074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/ deviations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4407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open · deviation trend flat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80160" y="4937760"/>
            <a:ext cx="7543800" cy="603504"/>
          </a:xfrm>
          <a:prstGeom prst="rect">
            <a:avLst/>
          </a:prstGeom>
          <a:solidFill>
            <a:srgbClr val="037B7B"/>
          </a:solidFill>
          <a:ln/>
        </p:spPr>
      </p:sp>
      <p:sp>
        <p:nvSpPr>
          <p:cNvPr id="35" name="Text 33"/>
          <p:cNvSpPr/>
          <p:nvPr/>
        </p:nvSpPr>
        <p:spPr>
          <a:xfrm>
            <a:off x="1463040" y="493776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→ AMBER: Support reviews enrollment, raises a site-activation action with the PM. Stays in the digest channel. The manager’s Friday one-pager will show: flagged → being handled.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37" name="Shape 35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38" name="Text 36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operational signal correctly stays in the routine channel — it does not cry wolf at the medical monitor. The support acts; the manager simply sees it was caught and handled.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THU 06:07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candidate Hy's-Law signal trips the URGENT tier — outside the digest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118872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188720"/>
            <a:ext cx="786384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4358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0759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4358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30759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— ⛔ URGENT safety alert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80160" y="1691640"/>
            <a:ext cx="7543800" cy="548640"/>
          </a:xfrm>
          <a:prstGeom prst="rect">
            <a:avLst/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16916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⛔  RED ALERT — candidate Hy's-Law lab pattern — Participant 0312 (cohort 5, top dose)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2331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auto-sent 06:07 · to: Support + BACKUP + role alias · cc: PM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2697480"/>
            <a:ext cx="7223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criteria met: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B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4.1× ULN  AND  total bilirubin 2.3× ULN  (ALP 1.2× ULN)  — hepatocellular pattern, same episode.
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7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CONTACT THE MEDICAL MONITOR NOW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Dr. R. Okafor, +1-…
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B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Acknowledge this alert within 30 minutes (reply to confirm receipt).
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B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Evidence packet for Participant 0312 attached (see next page).
</a:t>
            </a:r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SCREENING flag that matches Hy's-Law lab criteria — it is NOT a diagnosis. The medical monitor adjudicates.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5532120"/>
            <a:ext cx="7543800" cy="457200"/>
          </a:xfrm>
          <a:prstGeom prst="rect">
            <a:avLst/>
          </a:prstGeom>
          <a:solidFill>
            <a:srgbClr val="0F1130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55321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📎 CP101_S0312_eDISH_evidence.pdf  ·  📎 S0312_lab_trajectory.pdf  ·  heartbeat: ran 06:07, data fresh to 05:51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threshold fires immediately — outside the daily digest, to a primary + backup + a role alias (never one person) — with the medical monitor’s number and the evidence already attached.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THU MORNING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is pre-packaged; the humans decide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852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852160" cy="365760"/>
          </a:xfrm>
          <a:prstGeom prst="rect">
            <a:avLst/>
          </a:prstGeom>
          <a:solidFill>
            <a:srgbClr val="1A4FA0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packet — Participant 0312 (auto-generated, reproducible)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eDISH — peak ALT/ULN vs peak TBili/ULN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2011680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2011680"/>
            <a:ext cx="0" cy="2468880"/>
          </a:xfrm>
          <a:prstGeom prst="line">
            <a:avLst/>
          </a:prstGeom>
          <a:noFill/>
          <a:ln w="12700">
            <a:solidFill>
              <a:srgbClr val="C2891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05840" y="3122676"/>
            <a:ext cx="4206240" cy="0"/>
          </a:xfrm>
          <a:prstGeom prst="line">
            <a:avLst/>
          </a:prstGeom>
          <a:noFill/>
          <a:ln w="12700">
            <a:solidFill>
              <a:srgbClr val="C2891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19272" y="21214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Hy's-Law</a:t>
            </a:r>
            <a:endParaRPr lang="en-US" sz="8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47088" y="4110228"/>
            <a:ext cx="109728" cy="109728"/>
          </a:xfrm>
          <a:prstGeom prst="ellipse">
            <a:avLst/>
          </a:prstGeom>
          <a:solidFill>
            <a:srgbClr val="9AA0D8"/>
          </a:solidFill>
          <a:ln/>
        </p:spPr>
      </p:sp>
      <p:sp>
        <p:nvSpPr>
          <p:cNvPr id="23" name="Shape 21"/>
          <p:cNvSpPr/>
          <p:nvPr/>
        </p:nvSpPr>
        <p:spPr>
          <a:xfrm>
            <a:off x="2351837" y="3937406"/>
            <a:ext cx="109728" cy="109728"/>
          </a:xfrm>
          <a:prstGeom prst="ellipse">
            <a:avLst/>
          </a:prstGeom>
          <a:solidFill>
            <a:srgbClr val="9AA0D8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8648" y="3739896"/>
            <a:ext cx="109728" cy="109728"/>
          </a:xfrm>
          <a:prstGeom prst="ellipse">
            <a:avLst/>
          </a:prstGeom>
          <a:solidFill>
            <a:srgbClr val="9AA0D8"/>
          </a:solidFill>
          <a:ln/>
        </p:spPr>
      </p:sp>
      <p:sp>
        <p:nvSpPr>
          <p:cNvPr id="25" name="Shape 23"/>
          <p:cNvSpPr/>
          <p:nvPr/>
        </p:nvSpPr>
        <p:spPr>
          <a:xfrm>
            <a:off x="2183587" y="3986784"/>
            <a:ext cx="109728" cy="109728"/>
          </a:xfrm>
          <a:prstGeom prst="ellipse">
            <a:avLst/>
          </a:prstGeom>
          <a:solidFill>
            <a:srgbClr val="9AA0D8"/>
          </a:solidFill>
          <a:ln/>
        </p:spPr>
      </p:sp>
      <p:sp>
        <p:nvSpPr>
          <p:cNvPr id="26" name="Shape 24"/>
          <p:cNvSpPr/>
          <p:nvPr/>
        </p:nvSpPr>
        <p:spPr>
          <a:xfrm>
            <a:off x="4034333" y="270296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171493" y="264810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S-0312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45262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peak ALT (×ULN) →     y: peak total bilirubin (×ULN) ↑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" y="4892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also includes: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trajectory (ALT/AST/TBL/ALP by visit) · dosing &amp; exposure timeline · concomitant meds · the exact threshold rule that fired.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118872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1188720"/>
            <a:ext cx="5212080" cy="365760"/>
          </a:xfrm>
          <a:prstGeom prst="rect">
            <a:avLst/>
          </a:prstGeom>
          <a:solidFill>
            <a:srgbClr val="12152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3854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70255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76656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63854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70255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76656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63854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70255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76656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0" y="1188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log (time-stamped, automatic)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75120" y="173736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0" y="1737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06:07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543800" y="1719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fired — RED — S-0312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75120" y="219456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2194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543800" y="2176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delivered: support, backup, alias, PM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675120" y="265176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0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06:31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543800" y="26334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ACK (within 30-min SLA)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75120" y="310896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52" name="Text 50"/>
          <p:cNvSpPr/>
          <p:nvPr/>
        </p:nvSpPr>
        <p:spPr>
          <a:xfrm>
            <a:off x="6675120" y="31089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07:10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543800" y="3090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 monitor reviewed packet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675120" y="356616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55" name="Text 53"/>
          <p:cNvSpPr/>
          <p:nvPr/>
        </p:nvSpPr>
        <p:spPr>
          <a:xfrm>
            <a:off x="6675120" y="35661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07:25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543800" y="3547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MM: repeat LFTs + hold cohort 5 dosing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675120" y="402336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58" name="Text 56"/>
          <p:cNvSpPr/>
          <p:nvPr/>
        </p:nvSpPr>
        <p:spPr>
          <a:xfrm>
            <a:off x="6675120" y="4023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43800" y="4005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confirmatory labs trending down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675120" y="448056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23306A"/>
          </a:solidFill>
          <a:ln/>
        </p:spPr>
      </p:sp>
      <p:sp>
        <p:nvSpPr>
          <p:cNvPr id="61" name="Text 59"/>
          <p:cNvSpPr/>
          <p:nvPr/>
        </p:nvSpPr>
        <p:spPr>
          <a:xfrm>
            <a:off x="6675120" y="4480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543800" y="4462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MM: not confirmed Hy's Law; cohort released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675120" y="49194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auto-stood-down; loop closed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675120" y="5440680"/>
            <a:ext cx="4846320" cy="566928"/>
          </a:xfrm>
          <a:prstGeom prst="rect">
            <a:avLst/>
          </a:prstGeom>
          <a:solidFill>
            <a:srgbClr val="1A1E40"/>
          </a:solidFill>
          <a:ln/>
        </p:spPr>
      </p:sp>
      <p:sp>
        <p:nvSpPr>
          <p:cNvPr id="65" name="Text 63"/>
          <p:cNvSpPr/>
          <p:nvPr/>
        </p:nvSpPr>
        <p:spPr>
          <a:xfrm>
            <a:off x="6812280" y="54406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did 3 deterministic things: DETECTED · PAGED · PACKAGED. Every clinical decision was the medical monitor’s.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67" name="Shape 65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8" name="Text 66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stress, the covering colleague isn’t scrambling to pull data at 6 a.m. — it’s already assembled, identically formatted, and reproducible. Detect, page, package; humans decide.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THE LEAD RETURNS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time-stamped, reproducible audit trail — nothing to reconstruct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solidFill>
            <a:srgbClr val="12152E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archive — CP-101 — the month, on the validated share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logs/2026-06-*.log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17830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dated SAS/R run logs — every job, every day, SYSCC=0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386584"/>
            <a:ext cx="10881360" cy="548640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386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digests/daily_*.pdf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38658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daily safety digests (heartbeat on each)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2990088"/>
            <a:ext cx="10881360" cy="548640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990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digests/weekly_*.pdf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9900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weekly status packs + 4 manager one-pagers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593592"/>
            <a:ext cx="10881360" cy="548640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5935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alerts/2026-06-16_AMBER_enrollment.pdf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35935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Week-2 enrollment KRI — flagged → handled (PM action)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97096"/>
            <a:ext cx="10881360" cy="548640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1970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alerts/2026-06-25_RED_S0312_HysLaw.pdf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41970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Week-3 candidate Hy's-Law — escalated → adjudicated → stood down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800600"/>
            <a:ext cx="10881360" cy="548640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800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evidence/CP101_S0312_eDISH_evidence.pdf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4800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auto-built evidence packet (eDISH + trajectory + dosing)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404104"/>
            <a:ext cx="10881360" cy="548640"/>
          </a:xfrm>
          <a:prstGeom prst="rect">
            <a:avLst/>
          </a:prstGeom>
          <a:solidFill>
            <a:srgbClr val="1A1E40"/>
          </a:solidFill>
          <a:ln w="12700">
            <a:solidFill>
              <a:srgbClr val="2C31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4041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heartbeat/heartbeat_history.csv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54041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accounted for — no silent gaps in the month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6053328"/>
            <a:ext cx="10881360" cy="50292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6053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flag → escalate → package → decide → stand-down — all logged, all reproducible. No “what did the AI decide and why,” no PHI egress to explain.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41" name="Shape 39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whole system is deterministic and validated, the audit trail is automatic and trustworthy — the lead reconstructs nothing, and the handback is clean.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WON'T FAIL SILENTLY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safeguards — because “no news” must never mean “good news”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94960" cy="192024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91440" cy="19202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270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Heartbeat / dead-man’s-switch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03911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run pings “ran OK, SYSCC=0”; an independent watcher on a second host escalates if the ping is missing — so a dead job announces itself.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394960" cy="192024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25880"/>
            <a:ext cx="91440" cy="1920240"/>
          </a:xfrm>
          <a:prstGeom prst="rect">
            <a:avLst/>
          </a:prstGeom>
          <a:solidFill>
            <a:srgbClr val="1A4FA0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5270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Data-freshness gate (first check)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03911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safety logic runs, compare each feed’s newest timestamp to now; if a source stopped refreshing, raise it — a clean green on stale data is worse than red.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394960" cy="192024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20440"/>
            <a:ext cx="91440" cy="192024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21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 de-duplication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42336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seen-flags table keys each finding by participant+test+event, so one real event alerts once — no storm, no muted thread burying the next real signal.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520440"/>
            <a:ext cx="5394960" cy="192024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520440"/>
            <a:ext cx="91440" cy="192024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721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+ backup recipients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9400" y="42336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one person: a primary, a backup, and a role-based alias, with an acknowledgement SLA — so a 6 a.m. alert never lands in a void while everyone’s away.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solidFill>
            <a:srgbClr val="1518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rule: </a:t>
            </a:r>
            <a:pPr indent="0" marL="0">
              <a:buNone/>
            </a:pPr>
            <a:r>
              <a:rPr lang="en-US" sz="12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news” is never interpreted as “all clear” — a successful, data-fresh run must say so explicitly, and the absence of any message is itself escalated.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1A4F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Necessary, not sufficient — and that’s exactly the point.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60020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122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lowest-risk pipeline — ship 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892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AI, no new vendor, no PHI egress, no new validation surface. It reuses already-validated SAS/R inside the existing environment, so there’s no new approval gate between today and go-live.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82296" cy="1600200"/>
          </a:xfrm>
          <a:prstGeom prst="rect">
            <a:avLst/>
          </a:prstGeom>
          <a:solidFill>
            <a:srgbClr val="1A4FA0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122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&amp; reproducible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892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→ byte-identical result, every run. Nothing to “explain,” no model drift — the audit trail is automatic and trustworthy.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94760"/>
            <a:ext cx="82296" cy="160020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410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— and the medical monitor — still decide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4892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detects, pages, and packages pre-specified threshold crossings. It does not triage, interpret, or adjudicate. A flag is a prompt for a human, never a finding.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37947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794760"/>
            <a:ext cx="82296" cy="16002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9410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seam the AI hybrid fills later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4434840"/>
            <a:ext cx="4892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triage, cross-signal summarization, plain-language briefing — that’s the next layer. Ship this now; add AI on top when it’s approved.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25449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D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of mind: monitoring never stops, even silence is verified (heartbeat + data-freshness), and every escalation is automatic and logged — while the lead is unreachable in Europe.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Coverage while on leave — SAS/R trial monitoring (CP-101)</dc:title>
  <dc:subject>PptxGenJS Presentation</dc:subject>
  <dc:creator>Lead Biostatistician</dc:creator>
  <cp:lastModifiedBy>Lead Biostatistician</cp:lastModifiedBy>
  <cp:revision>1</cp:revision>
  <dcterms:created xsi:type="dcterms:W3CDTF">2026-06-26T14:53:25Z</dcterms:created>
  <dcterms:modified xsi:type="dcterms:W3CDTF">2026-06-26T14:53:25Z</dcterms:modified>
</cp:coreProperties>
</file>