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TRIAL-RISK EARLY-WARNING  ·  ADVANCED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66751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Optimal Transport + nested Active Inference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2984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continuous, anticipatory layer </a:t>
            </a:r>
            <a:pPr indent="0" marL="0">
              <a:buNone/>
            </a:pPr>
            <a:r>
              <a:rPr lang="en-US" sz="135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top of the threshold rules — it surfaces risk </a:t>
            </a:r>
            <a:pPr indent="0" marL="0">
              <a:buNone/>
            </a:pPr>
            <a:r>
              <a:rPr lang="en-US" sz="1350" b="1" dirty="0">
                <a:solidFill>
                  <a:srgbClr val="4A2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</a:t>
            </a:r>
            <a:pPr indent="0" marL="0">
              <a:buNone/>
            </a:pPr>
            <a:r>
              <a:rPr lang="en-US" sz="135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is </a:t>
            </a:r>
            <a:pPr indent="0" marL="0">
              <a:buNone/>
            </a:pPr>
            <a:r>
              <a:rPr lang="en-US" sz="1350" b="1" dirty="0">
                <a:solidFill>
                  <a:srgbClr val="4A2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geometry- &amp; tail-aware</a:t>
            </a:r>
            <a:pPr indent="0" marL="0">
              <a:buNone/>
            </a:pPr>
            <a:r>
              <a:rPr lang="en-US" sz="135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pPr indent="0" marL="0">
              <a:buNone/>
            </a:pPr>
            <a:r>
              <a:rPr lang="en-US" sz="1350" b="1" dirty="0">
                <a:solidFill>
                  <a:srgbClr val="4A2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what to check next</a:t>
            </a:r>
            <a:pPr indent="0" marL="0">
              <a:buNone/>
            </a:pPr>
            <a:r>
              <a:rPr lang="en-US" sz="135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444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F4"/>
            </a:solidFill>
            <a:prstDash val="solid"/>
          </a:ln>
          <a:effectLst>
            <a:outerShdw sx="100000" sy="100000" kx="0" ky="0" algn="bl" rotWithShape="0" blurRad="114300" dist="38100" dir="8100000">
              <a:srgbClr val="1A1E33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74520"/>
            <a:ext cx="3444240" cy="56692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38528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TRANSPORT
</a:t>
            </a:r>
            <a:pPr indent="0" marL="0">
              <a:lnSpc>
                <a:spcPct val="92000"/>
              </a:lnSpc>
              <a:buNone/>
            </a:pPr>
            <a:r>
              <a:rPr lang="en-US" sz="1000" i="1" dirty="0">
                <a:solidFill>
                  <a:srgbClr val="EB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Wasserstein drift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77824" y="2587752"/>
            <a:ext cx="2987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buSzPct val="100000"/>
              <a:buChar char="•"/>
            </a:pPr>
            <a:r>
              <a:rPr lang="en-US" sz="1050" b="1" dirty="0">
                <a:solidFill>
                  <a:srgbClr val="4A2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has the distribution drifted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a meta-learned reference?</a:t>
            </a:r>
            <a:endParaRPr lang="en-US" sz="1050" dirty="0"/>
          </a:p>
          <a:p>
            <a:pPr marL="152400" indent="-152400">
              <a:lnSpc>
                <a:spcPct val="100000"/>
              </a:lnSpc>
              <a:buSzPct val="100000"/>
              <a:buChar char="•"/>
            </a:pPr>
            <a:r>
              <a:rPr lang="en-US" sz="1050" b="1" dirty="0">
                <a:solidFill>
                  <a:srgbClr val="4A2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Wasserstein distance respects clinical severity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sees mass move toward the dangerous tail (Hy's-Law territory) where a mean or a single threshold is silent.</a:t>
            </a:r>
            <a:endParaRPr lang="en-US" sz="1050" dirty="0"/>
          </a:p>
          <a:p>
            <a:pPr marL="152400" indent="-152400">
              <a:lnSpc>
                <a:spcPct val="100000"/>
              </a:lnSpc>
              <a:buSzPct val="100000"/>
              <a:buChar char="•"/>
            </a:pPr>
            <a:r>
              <a:rPr lang="en-US" sz="1050" b="1" dirty="0">
                <a:solidFill>
                  <a:srgbClr val="4A2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drift before a line is crossed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the transport map says which analyte/grade is driving it.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58640" y="1874520"/>
            <a:ext cx="3444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2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E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58640" y="1874520"/>
            <a:ext cx="3444240" cy="5669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4559808" y="1938528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INFERENCE
</a:t>
            </a:r>
            <a:pPr indent="0" marL="0">
              <a:lnSpc>
                <a:spcPct val="92000"/>
              </a:lnSpc>
              <a:buNone/>
            </a:pPr>
            <a:r>
              <a:rPr lang="en-US" sz="1000" i="1" dirty="0">
                <a:solidFill>
                  <a:srgbClr val="EB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energy + EFE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96384" y="2587752"/>
            <a:ext cx="2987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0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of each subject's expected trajectory.</a:t>
            </a:r>
            <a:endParaRPr lang="en-US" sz="1050" dirty="0"/>
          </a:p>
          <a:p>
            <a:pPr marL="152400" indent="-152400">
              <a:lnSpc>
                <a:spcPct val="100000"/>
              </a:lnSpc>
              <a:buSzPct val="100000"/>
              <a:buChar char="•"/>
            </a:pPr>
            <a:r>
              <a:rPr lang="en-US" sz="1050" b="1" dirty="0">
                <a:solidFill>
                  <a:srgbClr val="0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(free energy) rising = early warning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subject is doing something the model didn't expect, before a frank event.</a:t>
            </a:r>
            <a:endParaRPr lang="en-US" sz="1050" dirty="0"/>
          </a:p>
          <a:p>
            <a:pPr marL="152400" indent="-152400">
              <a:lnSpc>
                <a:spcPct val="100000"/>
              </a:lnSpc>
              <a:buSzPct val="100000"/>
              <a:buChar char="•"/>
            </a:pPr>
            <a:r>
              <a:rPr lang="en-US" sz="1050" b="1" dirty="0">
                <a:solidFill>
                  <a:srgbClr val="0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Free Energy picks the most informative next assessment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e.g. an unscheduled LFT — and recommends it for approval.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77200" y="1874520"/>
            <a:ext cx="3444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F4"/>
            </a:solidFill>
            <a:prstDash val="solid"/>
          </a:ln>
          <a:effectLst>
            <a:outerShdw sx="100000" sy="100000" kx="0" ky="0" algn="bl" rotWithShape="0" blurRad="114300" dist="38100" dir="8100000">
              <a:srgbClr val="1A1E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77200" y="1874520"/>
            <a:ext cx="3444240" cy="566928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6" name="Text 14"/>
          <p:cNvSpPr/>
          <p:nvPr/>
        </p:nvSpPr>
        <p:spPr>
          <a:xfrm>
            <a:off x="8278368" y="1938528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+ META
</a:t>
            </a:r>
            <a:pPr indent="0" marL="0">
              <a:lnSpc>
                <a:spcPct val="92000"/>
              </a:lnSpc>
              <a:buNone/>
            </a:pPr>
            <a:r>
              <a:rPr lang="en-US" sz="1000" i="1" dirty="0">
                <a:solidFill>
                  <a:srgbClr val="EB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deep hierarchy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14944" y="2587752"/>
            <a:ext cx="2987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0000"/>
              </a:lnSpc>
              <a:buSzPct val="100000"/>
              <a:buChar char="•"/>
            </a:pPr>
            <a:r>
              <a:rPr lang="en-US" sz="105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→ study → client as one model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priors flow down, prediction-errors (risk) flow up.</a:t>
            </a:r>
            <a:endParaRPr lang="en-US" sz="1050" dirty="0"/>
          </a:p>
          <a:p>
            <a:pPr marL="152400" indent="-152400">
              <a:lnSpc>
                <a:spcPct val="100000"/>
              </a:lnSpc>
              <a:buSzPct val="100000"/>
              <a:buChar char="•"/>
            </a:pPr>
            <a:r>
              <a:rPr lang="en-US" sz="105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Priors are meta-learned across studies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 Wasserstein barycenter of prior cohorts) — a new study starts population-informed.</a:t>
            </a:r>
            <a:endParaRPr lang="en-US" sz="1050" dirty="0"/>
          </a:p>
          <a:p>
            <a:pPr marL="152400" indent="-152400">
              <a:lnSpc>
                <a:spcPct val="100000"/>
              </a:lnSpc>
              <a:buSzPct val="100000"/>
              <a:buChar char="•"/>
            </a:pPr>
            <a:r>
              <a:rPr lang="en-US" sz="105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participant signal propagates to study &amp; program risk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three siloed dashboards.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BUYS OVER THRESHOLDS ALONE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0" y="4782312"/>
            <a:ext cx="835762" cy="310896"/>
          </a:xfrm>
          <a:prstGeom prst="roundRect">
            <a:avLst>
              <a:gd name="adj" fmla="val 17647"/>
            </a:avLst>
          </a:prstGeom>
          <a:solidFill>
            <a:srgbClr val="F2F1FB"/>
          </a:solidFill>
          <a:ln w="12700">
            <a:solidFill>
              <a:srgbClr val="DCD3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4782312"/>
            <a:ext cx="8357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2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0834" y="4782312"/>
            <a:ext cx="1960474" cy="310896"/>
          </a:xfrm>
          <a:prstGeom prst="roundRect">
            <a:avLst>
              <a:gd name="adj" fmla="val 17647"/>
            </a:avLst>
          </a:prstGeom>
          <a:solidFill>
            <a:srgbClr val="F2F1FB"/>
          </a:solidFill>
          <a:ln w="12700">
            <a:solidFill>
              <a:srgbClr val="DCD3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0834" y="4782312"/>
            <a:ext cx="19604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2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Geometry- &amp; tail-aware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65899" y="4782312"/>
            <a:ext cx="1210666" cy="310896"/>
          </a:xfrm>
          <a:prstGeom prst="roundRect">
            <a:avLst>
              <a:gd name="adj" fmla="val 17647"/>
            </a:avLst>
          </a:prstGeom>
          <a:solidFill>
            <a:srgbClr val="F2F1FB"/>
          </a:solidFill>
          <a:ln w="12700">
            <a:solidFill>
              <a:srgbClr val="DCD3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65899" y="4782312"/>
            <a:ext cx="1210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2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Anticipatory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41157" y="4782312"/>
            <a:ext cx="1885493" cy="310896"/>
          </a:xfrm>
          <a:prstGeom prst="roundRect">
            <a:avLst>
              <a:gd name="adj" fmla="val 17647"/>
            </a:avLst>
          </a:prstGeom>
          <a:solidFill>
            <a:srgbClr val="F2F1FB"/>
          </a:solidFill>
          <a:ln w="12700">
            <a:solidFill>
              <a:srgbClr val="DCD3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41157" y="4782312"/>
            <a:ext cx="188549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2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across tiers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5294376"/>
            <a:ext cx="10881360" cy="841248"/>
          </a:xfrm>
          <a:prstGeom prst="rect">
            <a:avLst/>
          </a:prstGeom>
          <a:solidFill>
            <a:srgbClr val="15183A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5294376"/>
            <a:ext cx="91440" cy="841248"/>
          </a:xfrm>
          <a:prstGeom prst="rect">
            <a:avLst/>
          </a:prstGeom>
          <a:solidFill>
            <a:srgbClr val="C2891C"/>
          </a:solidFill>
          <a:ln/>
        </p:spPr>
      </p:sp>
      <p:sp>
        <p:nvSpPr>
          <p:cNvPr id="29" name="Text 27"/>
          <p:cNvSpPr/>
          <p:nvPr/>
        </p:nvSpPr>
        <p:spPr>
          <a:xfrm>
            <a:off x="932688" y="5294376"/>
            <a:ext cx="10378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Decision-support, advanced / research-grade.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&amp; frozen before any regulated use. The rule-based DLT / Hy's-Law / QTcF / QTL triggers stay authoritative; validated tools own every number; the SRC / DSMB / medical monitor decide. EFE only recommends </a:t>
            </a:r>
            <a:pPr indent="0" marL="0">
              <a:lnSpc>
                <a:spcPct val="100000"/>
              </a:lnSpc>
              <a:buNone/>
            </a:pPr>
            <a:r>
              <a:rPr lang="en-US" sz="11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observe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5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 human approval, never an autonomous clinical or dosing action.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1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to the Trial-Termination Early-Warning Dashboard and the Participant-Tier Advanced-Engine implementation spec.  ·  Methods (OT + active inference) independently math-checked.  ·  Illustrative.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Trial-Risk Early-Warning — Advanced Engine</dc:title>
  <dc:subject>PptxGenJS Presentation</dc:subject>
  <dc:creator>Lead Biostatistician</dc:creator>
  <cp:lastModifiedBy>Lead Biostatistician</cp:lastModifiedBy>
  <cp:revision>1</cp:revision>
  <dcterms:created xsi:type="dcterms:W3CDTF">2026-06-10T16:46:36Z</dcterms:created>
  <dcterms:modified xsi:type="dcterms:W3CDTF">2026-06-10T16:46:36Z</dcterms:modified>
</cp:coreProperties>
</file>