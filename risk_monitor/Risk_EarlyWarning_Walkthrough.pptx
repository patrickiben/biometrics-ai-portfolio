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291840" cy="6858000"/>
          </a:xfrm>
          <a:prstGeom prst="rect">
            <a:avLst/>
          </a:prstGeom>
          <a:solidFill>
            <a:srgbClr val="1B1F4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7315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142646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9464040" y="13075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DLTs · safety · PK — on-device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235440" y="2478024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7" name="Text 5"/>
          <p:cNvSpPr/>
          <p:nvPr/>
        </p:nvSpPr>
        <p:spPr>
          <a:xfrm>
            <a:off x="9464040" y="23591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rules · enrollment · QTLs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35440" y="3529584"/>
            <a:ext cx="118872" cy="11887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9" name="Text 7"/>
          <p:cNvSpPr/>
          <p:nvPr/>
        </p:nvSpPr>
        <p:spPr>
          <a:xfrm>
            <a:off x="9464040" y="3410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
</a:t>
            </a:r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early-warning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RISK · EARLY-WARNING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termination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early — across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of cloud Claude (under a BAA) and on-device local LLMs. The AI detects, aggregates, and triages — it never makes the safety or termination call. A walkthrough.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3200400" cy="0"/>
          </a:xfrm>
          <a:prstGeom prst="line">
            <a:avLst/>
          </a:prstGeom>
          <a:noFill/>
          <a:ln w="12700">
            <a:solidFill>
              <a:srgbClr val="3A3E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[Your Name], Lead Biostatistician   ·   [Date]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throughout. Participant-level data runs on-device, zero egress; validated tools own every reported number.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B556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Termination risk hides until the meeting — we want it sooner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Early-phase trials can stop for reasons that build quietly: a participant's safety signal, a cohort's toxicity trend against the stopping rule, or a sponsor cooling on the program. Too often the first formal look is the cohort review or the governance meeting — days or weeks late. The dashboard surfaces all three, continuously.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444240" cy="3108960"/>
          </a:xfrm>
          <a:prstGeom prst="rect">
            <a:avLst/>
          </a:prstGeom>
          <a:solidFill>
            <a:srgbClr val="E2F1F2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68880"/>
            <a:ext cx="344424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7432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2941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dose-limiting toxicity emerging in the DLT window — a Hy's-Law liver signal, QTc prolongation, an AE cluster escalating.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8640" y="2468880"/>
            <a:ext cx="3444240" cy="3108960"/>
          </a:xfrm>
          <a:prstGeom prst="rect">
            <a:avLst/>
          </a:prstGeom>
          <a:solidFill>
            <a:srgbClr val="FAF0D8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640" y="2468880"/>
            <a:ext cx="3444240" cy="9144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4672" y="27432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4672" y="3337560"/>
            <a:ext cx="2941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DLT rate approaching the stopping rule; enrollment or quality limits breached; a futility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77200" y="2468880"/>
            <a:ext cx="3444240" cy="3108960"/>
          </a:xfrm>
          <a:prstGeom prst="rect">
            <a:avLst/>
          </a:prstGeom>
          <a:solidFill>
            <a:srgbClr val="E5EEF8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7200" y="2468880"/>
            <a:ext cx="3444240" cy="9144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6" name="Text 14"/>
          <p:cNvSpPr/>
          <p:nvPr/>
        </p:nvSpPr>
        <p:spPr>
          <a:xfrm>
            <a:off x="8333232" y="27432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/ SPONSOR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3232" y="3337560"/>
            <a:ext cx="2941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aging, communication cooling, scope-reduction change-orders, sponsor pipeline or funding stress.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one screen — so the earliest mover in any of them is visible before the formal review.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RAG panels and a live early-warning feed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474720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3474720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709928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1636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2167128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084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S-1042 — candidate Hy's-Law / DILI (DLT window, day 9)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2843784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S-1039 — ΔQTcF +48 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3520440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438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4 — AE cluster Grade 2→3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197096"/>
            <a:ext cx="3474720" cy="420624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215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· zero egress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14173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417320"/>
            <a:ext cx="3474720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1417320"/>
            <a:ext cx="3474720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44568" y="1709928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23" name="Text 21"/>
          <p:cNvSpPr/>
          <p:nvPr/>
        </p:nvSpPr>
        <p:spPr>
          <a:xfrm>
            <a:off x="4727448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1636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44568" y="2167128"/>
            <a:ext cx="118872" cy="118872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48" y="2084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4 DLT rate 1/6 — within the 3+3 rule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44568" y="2843784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28" name="Text 26"/>
          <p:cNvSpPr/>
          <p:nvPr/>
        </p:nvSpPr>
        <p:spPr>
          <a:xfrm>
            <a:off x="4727448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Screen-failure 38% vs 25% — KRI breached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44568" y="3520440"/>
            <a:ext cx="118872" cy="118872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3438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QTL — within tolerance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43400" y="4197096"/>
            <a:ext cx="3474720" cy="420624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2" name="Text 30"/>
          <p:cNvSpPr/>
          <p:nvPr/>
        </p:nvSpPr>
        <p:spPr>
          <a:xfrm>
            <a:off x="4544568" y="4215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aggregate + on-device drill-down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14173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46720" y="1417320"/>
            <a:ext cx="3474720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1417320"/>
            <a:ext cx="3474720" cy="7315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36" name="Shape 34"/>
          <p:cNvSpPr/>
          <p:nvPr/>
        </p:nvSpPr>
        <p:spPr>
          <a:xfrm>
            <a:off x="8247888" y="1709928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37" name="Text 35"/>
          <p:cNvSpPr/>
          <p:nvPr/>
        </p:nvSpPr>
        <p:spPr>
          <a:xfrm>
            <a:off x="8430768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561320" y="1636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47888" y="2167128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8430768" y="2084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$420K &gt;60 days — payment-aging breach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47888" y="2843784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42" name="Text 40"/>
          <p:cNvSpPr/>
          <p:nvPr/>
        </p:nvSpPr>
        <p:spPr>
          <a:xfrm>
            <a:off x="8430768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cadence −40% MoM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47888" y="3520440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44" name="Text 42"/>
          <p:cNvSpPr/>
          <p:nvPr/>
        </p:nvSpPr>
        <p:spPr>
          <a:xfrm>
            <a:off x="8430768" y="3438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scope-reduction change-orders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4197096"/>
            <a:ext cx="3474720" cy="420624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46" name="Text 44"/>
          <p:cNvSpPr/>
          <p:nvPr/>
        </p:nvSpPr>
        <p:spPr>
          <a:xfrm>
            <a:off x="8247888" y="4215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CRM / finance / filings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0080" y="47823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</a:t>
            </a:r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termination-level   </a:t>
            </a:r>
            <a:pPr algn="ctr" indent="0" marL="0">
              <a:buNone/>
            </a:pPr>
            <a:r>
              <a:rPr lang="en-US" sz="1100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watch / precursor   </a:t>
            </a:r>
            <a:pPr algn="ctr" indent="0" marL="0">
              <a:buNone/>
            </a:pPr>
            <a:r>
              <a:rPr lang="en-US" sz="1100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within limits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current state. Each panel rolls weighted signals up to a RAG status — not an autonomous verdict.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PARTICIPANT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Participant-level safety — processed on-device, zero egress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713232"/>
          </a:xfrm>
          <a:prstGeom prst="rect">
            <a:avLst/>
          </a:prstGeom>
          <a:solidFill>
            <a:srgbClr val="E2F1F2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91440" cy="7132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3716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flags candidate DLTs and safety patterns early, before the formal cohort review, and pre-assembles the SRC packet. It never adjudicates the DLT.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682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DLTs in the evaluation window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36829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 — 3+3 / BOIN / mTPI-2 / CRM; sentinel dosing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266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Hy's-Law / drug-induced liver injury (eDISH)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302666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ALT/AST &gt;3×ULN + bili &gt;2×ULN + ALP &lt;2×ULN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04488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8503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QTcF prolongation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6850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 ms, or Δ &gt;60 ms from baseline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562856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434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exposure outliers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3434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/ AUC beyond the NOAEL-scaled safety margin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65192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22122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0176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AE-cluster &amp; grade escalation; SAE / death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50017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CTCAE grade trend; expedited-reporting clock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733288"/>
            <a:ext cx="10881360" cy="512064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73328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on-device local LLM. Decision: the medical monitor / Safety Review Committee.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Dose-escalation rules, enrollment, quality — aggregate KRIs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713232"/>
          </a:xfrm>
          <a:prstGeom prst="rect">
            <a:avLst/>
          </a:prstGeom>
          <a:solidFill>
            <a:srgbClr val="FAF0D8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91440" cy="713232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3716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De-identified, aggregate signals run on cloud Claude; any participant-level drill-down stays on-device. These watch the study's trajectory against its own rules.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682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DLT rate vs the stopping / de-escalation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36829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toxicity → escalation stop / MTD reached early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266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 screen-failure KRIs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302666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recruitment plan; feasibility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04488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8503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Quality Tolerance Limits (ICH E6(R3))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6850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SAE / AE-rate QTL breaches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562856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434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&amp; central-monitoring signals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3434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aging, protocol-deviation trend, site anomalies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65192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221224"/>
            <a:ext cx="118872" cy="118872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0176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Futility &amp; probability of meeting the objective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50017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signals against the plan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733288"/>
            <a:ext cx="10881360" cy="512064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73328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cloud Claude (aggregate) + on-device drill-down. Decision: the PM, with the SRC / DSMB on safety.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2F6D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CLIENT / SPONSOR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early-warning — decision-support for the account team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713232"/>
          </a:xfrm>
          <a:prstGeom prst="rect">
            <a:avLst/>
          </a:prstGeom>
          <a:solidFill>
            <a:srgbClr val="E5EEF8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91440" cy="71323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3716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business data on cloud Claude. This tier is signal and triage for the account team — never a verdict the system renders about a sponsor.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118872" cy="11887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682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Accounts-receivable / payment aging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36829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disputes; days-past-due breaches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118872" cy="11887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266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cadence &amp; sentiment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302666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/ email drop; relationship cooling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04488"/>
            <a:ext cx="118872" cy="11887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8503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Scope-reduction &amp; change-order trend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6850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de-scope often precedes cancellation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562856"/>
            <a:ext cx="118872" cy="11887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434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financial &amp; pipeline health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3434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runway, layoffs, portfolio re-prioritization, M&amp;A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65192"/>
            <a:ext cx="10881360" cy="658368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221224"/>
            <a:ext cx="118872" cy="11887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0176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readouts &amp; contract / renewal window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50017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adjacent-program failures; option-exercise signals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733288"/>
            <a:ext cx="10881360" cy="512064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73328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cloud Claude (CRM / finance / public filings). Decision: the account / BD lead.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decides the engine; humans decide the outcome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12080" cy="2377440"/>
          </a:xfrm>
          <a:prstGeom prst="rect">
            <a:avLst/>
          </a:prstGeom>
          <a:solidFill>
            <a:srgbClr val="E2F1F2"/>
          </a:solidFill>
          <a:ln w="12700">
            <a:solidFill>
              <a:srgbClr val="C5E2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212080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36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LOCAL LLM
</a:t>
            </a:r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D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safety / PK / unblinded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egress — data never leaves the validated environment.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whole participant tier and any participant-level drill-down.</a:t>
            </a:r>
            <a:endParaRPr lang="en-US" sz="1200" dirty="0"/>
          </a:p>
          <a:p>
            <a:pPr marL="152400" indent="-1524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Part-11 audited.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377440"/>
          </a:xfrm>
          <a:prstGeom prst="rect">
            <a:avLst/>
          </a:prstGeom>
          <a:solidFill>
            <a:srgbClr val="E5EEF8"/>
          </a:solidFill>
          <a:ln w="12700">
            <a:solidFill>
              <a:srgbClr val="CBDDF0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463040"/>
            <a:ext cx="5212080" cy="56692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36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(CLOUD)
</a:t>
            </a:r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DC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ops &amp; commercial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1762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De-identified, aggregate study KRIs and the client / commercial tier.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BAA; no PHI or unblinded data.</a:t>
            </a:r>
            <a:endParaRPr lang="en-US" sz="1200" dirty="0"/>
          </a:p>
          <a:p>
            <a:pPr marL="152400" indent="-1524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can't reach, the local model does.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881360" cy="1691640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069080"/>
            <a:ext cx="109728" cy="169164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06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 that governs everything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590288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flags, aggregates, triages, and drafts the alert — it never makes the safety or termination call.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monitor / SRC / DSMB make every DLT and safety determination; the PM owns the study; the account lead owns the client signal. Reported safety numbers come from the validated safety database, the cohort DLT-rate from the validated dose-escalation tool — never the LLM. Every flag triggers a human review and a logged disposition; nothing is paused or terminated by the system itself.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routing principle as the rest of the hybrid AI program — pointed at early-termination risk.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continuous, anticipatory layer on top of the rules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and decision-support only</a:t>
            </a:r>
            <a:pPr indent="0" marL="0">
              <a:buNone/>
            </a:pPr>
            <a:r>
              <a:rPr lang="en-US" sz="12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surfaces risk earlier and continuously, but the threshold rules stay authoritative and it is validated before any regulated use.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44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3444240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0195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TRANSPORT
</a:t>
            </a:r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EE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drift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596896"/>
            <a:ext cx="298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has a distribution drifted from a meta-learned reference? Wasserstein distance respects clinical severity — it sees mass move toward the dangerous tail where a single threshold is silent — and points to which analyte is driving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8640" y="1828800"/>
            <a:ext cx="3444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640" y="1828800"/>
            <a:ext cx="3444240" cy="60350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559808" y="190195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
</a:t>
            </a:r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EE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energy + EFE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6384" y="2596896"/>
            <a:ext cx="298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monitor as a model of the expected trajectory. Rising surprise (free energy) is an early warning; Expected Free Energy picks the most informative next assessment — say, an unscheduled liver panel — and recommends it for approval.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7200" y="1828800"/>
            <a:ext cx="3444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7200" y="1828800"/>
            <a:ext cx="3444240" cy="603504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8368" y="190195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+ META
</a:t>
            </a:r>
            <a:pPr indent="0" marL="0">
              <a:lnSpc>
                <a:spcPct val="90000"/>
              </a:lnSpc>
              <a:buNone/>
            </a:pPr>
            <a:r>
              <a:rPr lang="en-US" sz="1000" i="1" dirty="0">
                <a:solidFill>
                  <a:srgbClr val="EE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 hierarchy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14944" y="2596896"/>
            <a:ext cx="298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Participant, study, and client are one model: priors flow down, risk flows up, and the priors are meta-learned across studies. A participant signal propagates to study and program risk — not three siloed dashboards.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102352"/>
            <a:ext cx="10881360" cy="457200"/>
          </a:xfrm>
          <a:prstGeom prst="rect">
            <a:avLst/>
          </a:prstGeom>
          <a:solidFill>
            <a:srgbClr val="F2F1FB"/>
          </a:solidFill>
          <a:ln w="12700">
            <a:solidFill>
              <a:srgbClr val="DCD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02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over thresholds alone:  </a:t>
            </a:r>
            <a:pPr indent="0" marL="0">
              <a:buNone/>
            </a:pPr>
            <a:r>
              <a:rPr lang="en-US" sz="1200" dirty="0">
                <a:solidFill>
                  <a:srgbClr val="4A4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· geometry- &amp; tail-aware · anticipatory · coherent across tiers. Methods independently math-checked.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participant-tier implementation spec; this layer is opt-in and never overrides a rule or a human.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B556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DLT early-warning fires — day 9, not day 21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969264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91440" cy="969264"/>
          </a:xfrm>
          <a:prstGeom prst="rect">
            <a:avLst/>
          </a:prstGeom>
          <a:solidFill>
            <a:srgbClr val="B5564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60020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5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9, cohort 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5819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S-1042's central-lab feed posts ALT 3.4×ULN, total bilirubin 2.1×ULN, ALP 1.3×ULN. The on-device model evaluates the eDISH logic, recognizes a Hy's-Law pattern, and — inside the DLT window — flags a candidate DLT. Nothing left the device.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10881360" cy="969264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87752"/>
            <a:ext cx="91440" cy="969264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679192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8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 minutes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660904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pre-assembles the case: the LFT trajectory, the eDISH context, dose &amp; exposure, concomitant meds, and the running cohort DLT tally against the 3+3 rule. It drafts the alert and routes it to the medical monitor and SRC chair — ahead of the scheduled review — with a Part-11 audit entry.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10881360" cy="969264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66744"/>
            <a:ext cx="91440" cy="96926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75818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humans decide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739896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monitor orders a confirmatory repeat panel; the SRC convenes. Per protocol, further dosing pauses pending adjudication. The validated safety database holds the authoritative numbers; the SRC makes the DLT call.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45736"/>
            <a:ext cx="10881360" cy="969264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45736"/>
            <a:ext cx="91440" cy="969264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837176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payoff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4818888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surfaced on day 9, not at the cohort meeting on day 21 — SRC packet already built, data never leaving the device, and a human making every call.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The dashboard's Participant panel goes red, the Study panel flags the cohort, and a cross-study check runs for the same compound.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F9D6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IT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wins first, then the on-device tier, then scoring &amp; audit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603504" cy="603504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6824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 wins — cloud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084832"/>
            <a:ext cx="9555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Study &amp; Client tiers: enrollment / KRI / QTL feeds and the finance-AR / CRM / sponsor-comms signals into cloud Claude.</a:t>
            </a:r>
            <a:endParaRPr lang="en-US" sz="11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Study and Client RAG panels behind a human-review queue. De-identified / non-sensitive only.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33756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37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30998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on-device participant tier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502152"/>
            <a:ext cx="9555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local LLM in the validated environment; connect safety DB / central-lab / ECG; encode the DLT, Hy's-Law/eDISH, QTcF and PK-exposure logic.</a:t>
            </a:r>
            <a:endParaRPr lang="en-US" sz="11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every participant-level signal on-device, zero egress; wire alerting to the medical monitor / SRC and the disposition log.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1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754880"/>
            <a:ext cx="603504" cy="6035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54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5171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Scoring, escalation &amp; audit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919472"/>
            <a:ext cx="9555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roll-up to tier RAG, the escalation routing, the Part-11 audit trail and human-acknowledgement, the cross-study safety view.</a:t>
            </a:r>
            <a:endParaRPr lang="en-US" sz="11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layer in the advanced engine — validated and frozen before it informs any regulated decision.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value on its own; the participant tier is the one that needs the on-prem environment.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termination risk before the meeting —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let humans make every call.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212080" cy="13716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34640"/>
            <a:ext cx="82296" cy="1371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3814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and surprise rise before a line is crossed; a Hy's-Law signal on day 9, not day 21.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834640"/>
            <a:ext cx="5212080" cy="13716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834640"/>
            <a:ext cx="82296" cy="1371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one screen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43814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safety, study stopping-rules, and client/commercial — the earliest mover is visible.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5212080" cy="13716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480560"/>
            <a:ext cx="82296" cy="1371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45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by design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08406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for sensitive data; validated tools own the numbers; the SRC / DSMB / PM decide.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480560"/>
            <a:ext cx="5212080" cy="13716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480560"/>
            <a:ext cx="82296" cy="1371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645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Fits the program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508406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Phase-1 green-pilot deliverable on the same hybrid stack — no new principle, new target.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flags; the SRC / DSMB / medical monitor, the PM, and the account lead decide.  ·  Illustrative throughout.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Trial-Termination Early-Warning — Walkthrough</dc:title>
  <dc:subject>PptxGenJS Presentation</dc:subject>
  <dc:creator>Lead Biostatistician</dc:creator>
  <cp:lastModifiedBy>Lead Biostatistician</cp:lastModifiedBy>
  <cp:revision>1</cp:revision>
  <dcterms:created xsi:type="dcterms:W3CDTF">2026-06-26T22:40:23Z</dcterms:created>
  <dcterms:modified xsi:type="dcterms:W3CDTF">2026-06-26T22:40:23Z</dcterms:modified>
</cp:coreProperties>
</file>