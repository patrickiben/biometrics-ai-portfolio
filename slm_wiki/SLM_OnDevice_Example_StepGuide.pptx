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66160" cy="6858000"/>
          </a:xfrm>
          <a:prstGeom prst="rect">
            <a:avLst/>
          </a:prstGeom>
          <a:solidFill>
            <a:srgbClr val="112834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3566160" cy="6858000"/>
          </a:xfrm>
          <a:prstGeom prst="rect">
            <a:avLst/>
          </a:prstGeom>
          <a:solidFill>
            <a:srgbClr val="12303B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0"/>
            <a:ext cx="73152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Shape 3"/>
          <p:cNvSpPr/>
          <p:nvPr/>
        </p:nvSpPr>
        <p:spPr>
          <a:xfrm>
            <a:off x="9006840" y="960120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163A47"/>
          </a:solidFill>
          <a:ln w="12700">
            <a:solidFill>
              <a:srgbClr val="2C55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0" y="10149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
</a:t>
            </a:r>
            <a:pPr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49840" y="15910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006840" y="1746504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163A47"/>
          </a:solidFill>
          <a:ln w="12700">
            <a:solidFill>
              <a:srgbClr val="2C55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0" y="18013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/ R + Pinnacle 21
</a:t>
            </a:r>
            <a:pPr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&amp; count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49840" y="23774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06840" y="2532888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163A47"/>
          </a:solidFill>
          <a:ln w="12700">
            <a:solidFill>
              <a:srgbClr val="2C5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0" y="258775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SLM (offline)
</a:t>
            </a:r>
            <a:pPr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· route · draft — words only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49840" y="316382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06840" y="3319272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163A47"/>
          </a:solidFill>
          <a:ln w="12700">
            <a:solidFill>
              <a:srgbClr val="2C55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37413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+ human
</a:t>
            </a:r>
            <a:pPr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· approve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49840" y="39502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4105656"/>
            <a:ext cx="2788920" cy="640080"/>
          </a:xfrm>
          <a:prstGeom prst="roundRect">
            <a:avLst>
              <a:gd name="adj" fmla="val 8571"/>
            </a:avLst>
          </a:prstGeom>
          <a:solidFill>
            <a:srgbClr val="163A47"/>
          </a:solidFill>
          <a:ln w="12700">
            <a:solidFill>
              <a:srgbClr val="2C55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41605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Part 11 audit
</a:t>
            </a:r>
            <a:pPr indent="0" marL="0">
              <a:lnSpc>
                <a:spcPct val="92000"/>
              </a:lnSpc>
              <a:buNone/>
            </a:pPr>
            <a:r>
              <a:rPr lang="en-US" sz="850" dirty="0">
                <a:solidFill>
                  <a:srgbClr val="9F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digest pinned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SLM × SAS/R · STUDY CP-101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1783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morning of on-device triage</a:t>
            </a:r>
            <a:endParaRPr lang="en-US" sz="3500" dirty="0"/>
          </a:p>
        </p:txBody>
      </p:sp>
      <p:sp>
        <p:nvSpPr>
          <p:cNvPr id="21" name="Text 19"/>
          <p:cNvSpPr/>
          <p:nvPr/>
        </p:nvSpPr>
        <p:spPr>
          <a:xfrm>
            <a:off x="64008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from SAS/R, words from a small local model.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SAS/R job runs the deterministic checks and Pinnacle 21 produces the conformance findings — exactly as today. A small open-weight model, running offline on the workstation, only labels each finding, sorts it into a queue, and drafts a candidate query. SAS/R owns every number; the model just helps with words; a human approves before anything is written.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mockups. The model never computes or changes a number; validated tools and SAS/R own every value.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2 · THE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ordinary workstation, Ollama, one pinned model — offline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675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1123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675120" cy="365760"/>
          </a:xfrm>
          <a:prstGeom prst="rect">
            <a:avLst/>
          </a:prstGeom>
          <a:solidFill>
            <a:srgbClr val="0E2330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234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 · terminal (offline)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1737360"/>
            <a:ext cx="62179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ollama serve    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bound to 127.0.0.1:11434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ollama pull qwen2.5:7b-instruct-q8_0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pulled · sha256 a1f3…9c  (Apache-2.0)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PINNED: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   qwen2.5:7b-instruct-q8_0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digest  sha256:a1f3…9c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decode  temperature 0 · seed 42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ctx     8192 · batch 1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127.0.0.1:11434/api/version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200 OK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1234440"/>
            <a:ext cx="4297680" cy="2194560"/>
          </a:xfrm>
          <a:prstGeom prst="roundRect">
            <a:avLst>
              <a:gd name="adj" fmla="val 2500"/>
            </a:avLst>
          </a:prstGeom>
          <a:solidFill>
            <a:srgbClr val="E2F1F2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5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◇  No GPU farm. No cloud account. No telemetry.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35240" y="19202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7B model at Q8 runs on the workstation you already own. The same input gives the same output every run — the model, quantization, digest, and decoding are pinned.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3657600"/>
            <a:ext cx="4297680" cy="2148840"/>
          </a:xfrm>
          <a:prstGeom prst="roundRect">
            <a:avLst>
              <a:gd name="adj" fmla="val 2553"/>
            </a:avLst>
          </a:prstGeom>
          <a:solidFill>
            <a:srgbClr val="0E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E3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⏚  OFFLINE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35240" y="43434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cable is unplugged. SAS/R only ever calls 127.0.0.1 — and asserts the loopback before every run. The data-egress story is simply: nothing can leave.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2F1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boring: one offline box, one pinned quantized model on the loopback address. The hardest part of an on-device AI deployment is choosing scope — not securing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3B5BA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3 · THE NUMBERS ARE SAS/R'S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Overnight, SAS/R + Pinnacle 21 run every deterministic check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1123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212080" cy="365760"/>
          </a:xfrm>
          <a:prstGeom prst="rect">
            <a:avLst/>
          </a:prstGeom>
          <a:solidFill>
            <a:srgbClr val="0E2330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234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log · validated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1737360"/>
            <a:ext cx="47548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[02:00] Pinnacle 21 CDISC conformance …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[02:14] SDTM edit-checks (cross-form) …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[02:21] PK timing / BLQ rules …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[02:28] lab / IXRS reconciliation …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FINDINGS:  214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 38 · Warning 121 · Notice 55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small model has NOT been called.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count came from validated code.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234440"/>
            <a:ext cx="5852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1123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234440"/>
            <a:ext cx="5852160" cy="36576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20" name="Shape 18"/>
          <p:cNvSpPr/>
          <p:nvPr/>
        </p:nvSpPr>
        <p:spPr>
          <a:xfrm>
            <a:off x="5998464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062472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98464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062472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98464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062472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(a sample) — owned by SAS/R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1783080"/>
            <a:ext cx="5577840" cy="36576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3232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96112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(short)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21488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SD0064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3232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date order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6112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AESTDTC after AEENDTC ×3 (AE)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2606040"/>
            <a:ext cx="5577840" cy="457200"/>
          </a:xfrm>
          <a:prstGeom prst="rect">
            <a:avLst/>
          </a:prstGeom>
          <a:solidFill>
            <a:srgbClr val="F6FAFA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26060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SD0011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32320" y="2606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var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96112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LBSTRESN missing ×12 (num)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26480" y="3063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PK0003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32320" y="30632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dev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961120" y="3063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ADPC 4h actual &gt;10% off nominal ×2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3520440"/>
            <a:ext cx="5577840" cy="457200"/>
          </a:xfrm>
          <a:prstGeom prst="rect">
            <a:avLst/>
          </a:prstGeom>
          <a:solidFill>
            <a:srgbClr val="F6FAFA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0" y="35204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SD0204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32320" y="3520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term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961120" y="3520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Non-CT value in AEACN ×1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2648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RC0007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32320" y="3977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recon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96112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LB records unmatched to transfer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35040" y="4983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rules, comparisons, reconciliation — all from validated, double-programmed code.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2F1F2"/>
          </a:solidFill>
          <a:ln/>
        </p:spPr>
      </p:sp>
      <p:sp>
        <p:nvSpPr>
          <p:cNvPr id="53" name="Shape 51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54" name="Text 52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produces a number. Every count and rule evaluation is SAS/R's and Pinnacle 21's — the language layer hasn't even started yet.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4 · ASK THE LOCAL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SAS/R sends each short finding for three narrow calls — JSON only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760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1123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760720" cy="365760"/>
          </a:xfrm>
          <a:prstGeom prst="rect">
            <a:avLst/>
          </a:prstGeom>
          <a:solidFill>
            <a:srgbClr val="0E2330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234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· PROC HTTP → 127.0.0.1/api/chat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1737360"/>
            <a:ext cx="53035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%slm_init(model=&amp;CFG_MODEL,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base=http://127.0.0.1:11434);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↳ loopback asserted · model pinned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%slm_classify(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usr=%nrstr(AESTDTC is after AEENDTC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3 records in AE),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field=owner, allow=&amp;CFG_OWNERS);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 = JSON SCHEMA (enum-constrained)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options: temperature 0 · seed 42 · stream off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12344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1123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47104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611112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5120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47104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611112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0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547104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1112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0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1234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reply — schema-constrained JSON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17830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"novelty":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C5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"NEW",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"owner":  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C5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"PROGRAMMING",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"severity":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C5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"MAJOR",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3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B5B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0.86,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7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"rationale": "start after end
              date — likely keying"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75120" y="4572000"/>
            <a:ext cx="4754880" cy="1005840"/>
          </a:xfrm>
          <a:prstGeom prst="rect">
            <a:avLst/>
          </a:prstGeom>
          <a:solidFill>
            <a:srgbClr val="E2F1F2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4617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Short-text classification + routing into a fixed vocabulary — squarely what a small quantized model does reliably. No prose, no numbers.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2F1F2"/>
          </a:solidFill>
          <a:ln/>
        </p:spPr>
      </p:sp>
      <p:sp>
        <p:nvSpPr>
          <p:cNvPr id="34" name="Shape 32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narrow, in-envelope questions per finding — new-vs-known, owner, severity — returned as JSON constrained to allowed values only. The grammar makes an off-list answer impossible to even sample.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C2891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5 · THE SAFETY NET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SAS/R validates every field, then drafts a grounded query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1123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394960" cy="365760"/>
          </a:xfrm>
          <a:prstGeom prst="rect">
            <a:avLst/>
          </a:prstGeom>
          <a:solidFill>
            <a:srgbClr val="0E2330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234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· %slm_validate (the trust boundary)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173736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JSON  ……………  ok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  in CFG_OWNERS  ……  ok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in CFG_SEVERITY  …  ok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0–1  …………  ok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any off-allowlist value →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B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 + log, never coerce.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211 valid · 3 rejected (re-queued)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query: grounded by RAG over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study's own spec + edit-check defs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56692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1123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234440"/>
            <a:ext cx="5669280" cy="36576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1344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45352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181344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245352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181344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245352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1234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query — grounded, marked DRAFT, unsent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1783080"/>
            <a:ext cx="5212080" cy="411480"/>
          </a:xfrm>
          <a:prstGeom prst="rect">
            <a:avLst/>
          </a:prstGeom>
          <a:solidFill>
            <a:srgbClr val="FBF1D8"/>
          </a:solidFill>
          <a:ln w="12700">
            <a:solidFill>
              <a:srgbClr val="C289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not sent — SD0064 · AE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2377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verify the AE onset/resolution dates: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AESTDTC (start) is recorded after AEENDTC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(end) for 3 records. Per the edit-check spec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(EC-AE-07), confirm and correct the dates 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B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event sequence.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4846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stays anchored to the study's real spec text — not the model's priors.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2F1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C2891C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Schema-constrain at the server AND allowlist-validate at the client: belt and suspenders. SAS/R drops anything malformed, then assembles the survivors into one ranked worklist.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1F9D5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6 · THE HUMAN GATE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biostatistician works a ranked worklist — facts beside suggestions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1123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29844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36245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2646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worklist — SAS/R facts · model suggestion · your decision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1783080"/>
            <a:ext cx="10424160" cy="36576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783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0020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SAS/R facts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49240" y="1783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66560" y="17830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2668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query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829800" y="1783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SD0064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00200" y="2148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AESTDTC&gt;AEENDTC ×3 (AE)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16552" y="2249424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E7ECF7"/>
          </a:solidFill>
          <a:ln/>
        </p:spPr>
      </p:sp>
      <p:sp>
        <p:nvSpPr>
          <p:cNvPr id="28" name="Text 26"/>
          <p:cNvSpPr/>
          <p:nvPr/>
        </p:nvSpPr>
        <p:spPr>
          <a:xfrm>
            <a:off x="4416552" y="22494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4924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48272" y="2249424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FBF1D8"/>
          </a:solidFill>
          <a:ln/>
        </p:spPr>
      </p:sp>
      <p:sp>
        <p:nvSpPr>
          <p:cNvPr id="31" name="Text 29"/>
          <p:cNvSpPr/>
          <p:nvPr/>
        </p:nvSpPr>
        <p:spPr>
          <a:xfrm>
            <a:off x="6748272" y="22494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2668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AE dates…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811512" y="2249424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34" name="Text 32"/>
          <p:cNvSpPr/>
          <p:nvPr/>
        </p:nvSpPr>
        <p:spPr>
          <a:xfrm>
            <a:off x="9811512" y="22494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2606040"/>
            <a:ext cx="10424160" cy="457200"/>
          </a:xfrm>
          <a:prstGeom prst="rect">
            <a:avLst/>
          </a:prstGeom>
          <a:solidFill>
            <a:srgbClr val="F6FAF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RC0007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600200" y="2606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LB unmatched to transfer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16552" y="2706624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E7ECF7"/>
          </a:solidFill>
          <a:ln/>
        </p:spPr>
      </p:sp>
      <p:sp>
        <p:nvSpPr>
          <p:cNvPr id="39" name="Text 37"/>
          <p:cNvSpPr/>
          <p:nvPr/>
        </p:nvSpPr>
        <p:spPr>
          <a:xfrm>
            <a:off x="4416552" y="27066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49240" y="2606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48272" y="2706624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FBF1D8"/>
          </a:solidFill>
          <a:ln/>
        </p:spPr>
      </p:sp>
      <p:sp>
        <p:nvSpPr>
          <p:cNvPr id="42" name="Text 40"/>
          <p:cNvSpPr/>
          <p:nvPr/>
        </p:nvSpPr>
        <p:spPr>
          <a:xfrm>
            <a:off x="6748272" y="27066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72668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LB…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811512" y="2706624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45" name="Text 43"/>
          <p:cNvSpPr/>
          <p:nvPr/>
        </p:nvSpPr>
        <p:spPr>
          <a:xfrm>
            <a:off x="9811512" y="2706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152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PK0003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600200" y="3063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ADPC 4h &gt;10% off ×2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16552" y="3163824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ECEFF1"/>
          </a:solidFill>
          <a:ln/>
        </p:spPr>
      </p:sp>
      <p:sp>
        <p:nvSpPr>
          <p:cNvPr id="49" name="Text 47"/>
          <p:cNvSpPr/>
          <p:nvPr/>
        </p:nvSpPr>
        <p:spPr>
          <a:xfrm>
            <a:off x="4416552" y="31638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34924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48272" y="3163824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52" name="Text 50"/>
          <p:cNvSpPr/>
          <p:nvPr/>
        </p:nvSpPr>
        <p:spPr>
          <a:xfrm>
            <a:off x="6748272" y="31638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726680" y="3063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timing dev…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811512" y="3163824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FBF1D8"/>
          </a:solidFill>
          <a:ln/>
        </p:spPr>
      </p:sp>
      <p:sp>
        <p:nvSpPr>
          <p:cNvPr id="55" name="Text 53"/>
          <p:cNvSpPr/>
          <p:nvPr/>
        </p:nvSpPr>
        <p:spPr>
          <a:xfrm>
            <a:off x="9811512" y="31638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Edit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0080" y="3520440"/>
            <a:ext cx="10424160" cy="457200"/>
          </a:xfrm>
          <a:prstGeom prst="rect">
            <a:avLst/>
          </a:prstGeom>
          <a:solidFill>
            <a:srgbClr val="F6FAFA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" y="3520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SD0011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600200" y="3520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LBSTRESN missing ×12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416552" y="3621024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E7ECF7"/>
          </a:solidFill>
          <a:ln/>
        </p:spPr>
      </p:sp>
      <p:sp>
        <p:nvSpPr>
          <p:cNvPr id="60" name="Text 58"/>
          <p:cNvSpPr/>
          <p:nvPr/>
        </p:nvSpPr>
        <p:spPr>
          <a:xfrm>
            <a:off x="4416552" y="36210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49240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748272" y="3621024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FBF1D8"/>
          </a:solidFill>
          <a:ln/>
        </p:spPr>
      </p:sp>
      <p:sp>
        <p:nvSpPr>
          <p:cNvPr id="63" name="Text 61"/>
          <p:cNvSpPr/>
          <p:nvPr/>
        </p:nvSpPr>
        <p:spPr>
          <a:xfrm>
            <a:off x="6748272" y="36210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8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72668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missing num…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811512" y="3621024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66" name="Text 64"/>
          <p:cNvSpPr/>
          <p:nvPr/>
        </p:nvSpPr>
        <p:spPr>
          <a:xfrm>
            <a:off x="9811512" y="36210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31520" y="3977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SD0204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60020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Non-CT value AEACN ×1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416552" y="4078224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ECEFF1"/>
          </a:solidFill>
          <a:ln/>
        </p:spPr>
      </p:sp>
      <p:sp>
        <p:nvSpPr>
          <p:cNvPr id="70" name="Text 68"/>
          <p:cNvSpPr/>
          <p:nvPr/>
        </p:nvSpPr>
        <p:spPr>
          <a:xfrm>
            <a:off x="4416552" y="40782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349240" y="3977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CODING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748272" y="4078224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E6F6EC"/>
          </a:solidFill>
          <a:ln/>
        </p:spPr>
      </p:sp>
      <p:sp>
        <p:nvSpPr>
          <p:cNvPr id="73" name="Text 71"/>
          <p:cNvSpPr/>
          <p:nvPr/>
        </p:nvSpPr>
        <p:spPr>
          <a:xfrm>
            <a:off x="6748272" y="40782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726680" y="3977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2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(expected — explained)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811512" y="4078224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FBECEA"/>
          </a:solidFill>
          <a:ln/>
        </p:spPr>
      </p:sp>
      <p:sp>
        <p:nvSpPr>
          <p:cNvPr id="76" name="Text 74"/>
          <p:cNvSpPr/>
          <p:nvPr/>
        </p:nvSpPr>
        <p:spPr>
          <a:xfrm>
            <a:off x="9811512" y="4078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Reject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shows the deterministic facts from SAS/R next to the model's label and draft. A wrong label is a two-second fix — nothing becomes real until a qualified human signs off.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2F1F2"/>
          </a:solidFill>
          <a:ln/>
        </p:spPr>
      </p:sp>
      <p:sp>
        <p:nvSpPr>
          <p:cNvPr id="79" name="Shape 77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80" name="Text 78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triaged; the biostatistician decides. Approve, edit, or reject each one — the human gate is the point at which a suggestion can become an action.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3B5BA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66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7 · WRITE + PART 11 AUDIT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029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items are written — with the model digest pinned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949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1123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949440" cy="365760"/>
          </a:xfrm>
          <a:prstGeom prst="rect">
            <a:avLst/>
          </a:prstGeom>
          <a:solidFill>
            <a:srgbClr val="0E2330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344168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1472184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234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audit/triage_audit.txt — one line per approved item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1737360"/>
            <a:ext cx="64922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2026-06-16T07:42  SD0064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owner=PROGRAMMING novelty=NEW sev=MAJOR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model=qwen2.5:7b-instruct-q8_0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digest=sha256:a1f3…9c seed=42 temp=0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D2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draft="verify AE dates…"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reviewer=pkiben  decision=APPROVED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query_id=Q-10421  (issued to EDC)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F2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2026-06-16T07:43  RC0007  …APPROVED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6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2026-06-16T07:44  SD0204  …REJECTED (no write)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80960" y="1234440"/>
            <a:ext cx="4023360" cy="2240280"/>
          </a:xfrm>
          <a:prstGeom prst="roundRect">
            <a:avLst>
              <a:gd name="adj" fmla="val 2449"/>
            </a:avLst>
          </a:prstGeom>
          <a:solidFill>
            <a:srgbClr val="E6F6EC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82128" y="1444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Re-runnable for an inspector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82128" y="1874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3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model is frozen and decoding is fixed, the audit line is a reproducible artifact: same input, same model digest, same output.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80960" y="370332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0E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7882128" y="3913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⏚  Offline — proven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82128" y="4343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cable is unplugged. The only thing that ever left the box was a query you approved — into your own EDC.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6236208"/>
            <a:ext cx="11247120" cy="457200"/>
          </a:xfrm>
          <a:prstGeom prst="rect">
            <a:avLst/>
          </a:prstGeom>
          <a:solidFill>
            <a:srgbClr val="E2F1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03504" y="6309360"/>
            <a:ext cx="310896" cy="310896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6309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60704" y="62362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items are written, each with a 21 CFR Part 11 audit line: prompt, pinned model + digest, draft, and who approved it. The SLM is never the record — SAS/R is.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310896"/>
          </a:xfrm>
          <a:prstGeom prst="roundRect">
            <a:avLst>
              <a:gd name="adj" fmla="val 25000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shape of an on-device win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44240" cy="3291840"/>
          </a:xfrm>
          <a:prstGeom prst="rect">
            <a:avLst/>
          </a:prstGeom>
          <a:solidFill>
            <a:srgbClr val="12303B"/>
          </a:solidFill>
          <a:ln w="12700">
            <a:solidFill>
              <a:srgbClr val="2C55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3444240" cy="54864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 / R + Pinnacle 21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560320"/>
            <a:ext cx="298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access &amp; computation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check, count &amp; reconciliation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validator (allowlist)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+ the Part 11 audit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41520" y="1828800"/>
            <a:ext cx="3444240" cy="3291840"/>
          </a:xfrm>
          <a:prstGeom prst="rect">
            <a:avLst/>
          </a:prstGeom>
          <a:solidFill>
            <a:srgbClr val="12303B"/>
          </a:solidFill>
          <a:ln w="12700">
            <a:solidFill>
              <a:srgbClr val="2C55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1520" y="1828800"/>
            <a:ext cx="3444240" cy="548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724400" y="18288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local small model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97552" y="2560320"/>
            <a:ext cx="298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new-vs-known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owner &amp; severity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a grounded candidate query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nothing else; no numbers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42960" y="1828800"/>
            <a:ext cx="3444240" cy="3291840"/>
          </a:xfrm>
          <a:prstGeom prst="rect">
            <a:avLst/>
          </a:prstGeom>
          <a:solidFill>
            <a:srgbClr val="12303B"/>
          </a:solidFill>
          <a:ln w="12700">
            <a:solidFill>
              <a:srgbClr val="2C55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42960" y="1828800"/>
            <a:ext cx="3444240" cy="548640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5" name="Text 13"/>
          <p:cNvSpPr/>
          <p:nvPr/>
        </p:nvSpPr>
        <p:spPr>
          <a:xfrm>
            <a:off x="8625840" y="182880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biostatistician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698992" y="2560320"/>
            <a:ext cx="298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ranked worklist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 edited, or rejected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every decision that mattered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7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off before any write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saved triage time on a narrow, validated task — and the truth stayed exactly where it always was: with SAS/R, the validated engines, and a qualified human.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On-device, offline, no number ever produced by the model.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On-device SLM × SAS/R — a morning of triage (CP-101)</dc:title>
  <dc:subject>PptxGenJS Presentation</dc:subject>
  <dc:creator>PptxGenJS</dc:creator>
  <cp:lastModifiedBy>PptxGenJS</cp:lastModifiedBy>
  <cp:revision>1</cp:revision>
  <dcterms:created xsi:type="dcterms:W3CDTF">2026-06-11T00:30:57Z</dcterms:created>
  <dcterms:modified xsi:type="dcterms:W3CDTF">2026-06-11T00:30:57Z</dcterms:modified>
</cp:coreProperties>
</file>