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TRIAL-OPS WORKED EXAMPLE · STUDY CP-101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day on the hybrid</a:t>
            </a:r>
            <a:endParaRPr lang="en-US" sz="3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trial-ops platform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automations fire across one day — recurrent QC, SOP knowledge, eTMF filing, timeline cascade, and risk-based monitoring. Each one follows the same shape: a trigger, an AI-drafted proposal, and a human who approves. Nothing reaches a validated system of record without that approval.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Illustrative. Sensitive data stays on the LOCAL model; validated systems (EDC / eTMF / CTMS) own every record; a human approves every action.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&amp; THE RULE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automation: trigger → AI drafts → a human approves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868680"/>
          </a:xfrm>
          <a:prstGeom prst="rect">
            <a:avLst/>
          </a:prstGeom>
          <a:solidFill>
            <a:srgbClr val="F4F5FB"/>
          </a:solidFill>
          <a:ln w="12700">
            <a:solidFill>
              <a:srgbClr val="DDE1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91440" cy="86868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8016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(every one of the 75 automations):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 proposal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a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human-approval queue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nothing is filed, sent, or changed in a validated system until a human approves. Sensitive data → LOCAL; non-sensitive → cloud.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206654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468880"/>
            <a:ext cx="2066544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Shape 8"/>
          <p:cNvSpPr/>
          <p:nvPr/>
        </p:nvSpPr>
        <p:spPr>
          <a:xfrm>
            <a:off x="1033272" y="274320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1033272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324612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Nightly QC triage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3977640"/>
            <a:ext cx="184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discrepancy → a drafted query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52344" y="2468880"/>
            <a:ext cx="206654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52344" y="2468880"/>
            <a:ext cx="2066544" cy="73152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16" name="Shape 14"/>
          <p:cNvSpPr/>
          <p:nvPr/>
        </p:nvSpPr>
        <p:spPr>
          <a:xfrm>
            <a:off x="3328416" y="274320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2F6DB5"/>
          </a:solidFill>
          <a:ln/>
        </p:spPr>
      </p:sp>
      <p:sp>
        <p:nvSpPr>
          <p:cNvPr id="17" name="Text 15"/>
          <p:cNvSpPr/>
          <p:nvPr/>
        </p:nvSpPr>
        <p:spPr>
          <a:xfrm>
            <a:off x="3328416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62072" y="324612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SOP knowledge (RAG)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62072" y="3977640"/>
            <a:ext cx="184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CRA's procedure question → a cited answer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47488" y="2468880"/>
            <a:ext cx="206654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47488" y="2468880"/>
            <a:ext cx="2066544" cy="73152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22" name="Shape 20"/>
          <p:cNvSpPr/>
          <p:nvPr/>
        </p:nvSpPr>
        <p:spPr>
          <a:xfrm>
            <a:off x="5623560" y="274320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2F6DB5"/>
          </a:solidFill>
          <a:ln/>
        </p:spPr>
      </p:sp>
      <p:sp>
        <p:nvSpPr>
          <p:cNvPr id="23" name="Text 21"/>
          <p:cNvSpPr/>
          <p:nvPr/>
        </p:nvSpPr>
        <p:spPr>
          <a:xfrm>
            <a:off x="562356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57216" y="324612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eTMF filing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57216" y="3977640"/>
            <a:ext cx="184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visit report arrives → a filing proposal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42632" y="2468880"/>
            <a:ext cx="206654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42632" y="2468880"/>
            <a:ext cx="2066544" cy="73152"/>
          </a:xfrm>
          <a:prstGeom prst="rect">
            <a:avLst/>
          </a:prstGeom>
          <a:solidFill>
            <a:srgbClr val="C2891C"/>
          </a:solidFill>
          <a:ln/>
        </p:spPr>
      </p:sp>
      <p:sp>
        <p:nvSpPr>
          <p:cNvPr id="28" name="Shape 26"/>
          <p:cNvSpPr/>
          <p:nvPr/>
        </p:nvSpPr>
        <p:spPr>
          <a:xfrm>
            <a:off x="7918704" y="274320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C2891C"/>
          </a:solidFill>
          <a:ln/>
        </p:spPr>
      </p:sp>
      <p:sp>
        <p:nvSpPr>
          <p:cNvPr id="29" name="Text 27"/>
          <p:cNvSpPr/>
          <p:nvPr/>
        </p:nvSpPr>
        <p:spPr>
          <a:xfrm>
            <a:off x="7918704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52360" y="324612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cascade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52360" y="3977640"/>
            <a:ext cx="184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milestone slips → a Smartsheet update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637776" y="2468880"/>
            <a:ext cx="206654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637776" y="2468880"/>
            <a:ext cx="2066544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4" name="Shape 32"/>
          <p:cNvSpPr/>
          <p:nvPr/>
        </p:nvSpPr>
        <p:spPr>
          <a:xfrm>
            <a:off x="10213848" y="274320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/>
        </p:spPr>
      </p:sp>
      <p:sp>
        <p:nvSpPr>
          <p:cNvPr id="35" name="Text 33"/>
          <p:cNvSpPr/>
          <p:nvPr/>
        </p:nvSpPr>
        <p:spPr>
          <a:xfrm>
            <a:off x="10213848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747504" y="324612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RBQM / KRI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747504" y="3977640"/>
            <a:ext cx="184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KRI breaches → a flag to the PM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CECFB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6236208"/>
            <a:ext cx="91440" cy="4572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6236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automations, one day, one shape — the agent does the drafting; a human owns every approval and every validated record.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 · RECURRENT QC TRIAGE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nightly check catches a data discrepancy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566160" cy="3657600"/>
          </a:xfrm>
          <a:prstGeom prst="rect">
            <a:avLst/>
          </a:prstGeom>
          <a:solidFill>
            <a:srgbClr val="EEF1F6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3566160" cy="5120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75688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Nightly QC run flags it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8368" y="2834640"/>
            <a:ext cx="31638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 onset date is after the resolution date for participant 0188 — a logic check fires on the new EDC extract.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41648" y="306324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97680" y="1417320"/>
            <a:ext cx="3566160" cy="3657600"/>
          </a:xfrm>
          <a:prstGeom prst="rect">
            <a:avLst/>
          </a:prstGeom>
          <a:solidFill>
            <a:srgbClr val="E2F1F2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417320"/>
            <a:ext cx="3566160" cy="51206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 — DRAFT ONLY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0" y="1536192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0A4F57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15361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98848" y="2075688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drafts the data query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98848" y="2834640"/>
            <a:ext cx="31638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participant-level data — LOCAL, zero egress. Drafts a clear, specific query citing the fields and the rule, ready for the data manager.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82128" y="306324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138160" y="1417320"/>
            <a:ext cx="3566160" cy="3657600"/>
          </a:xfrm>
          <a:prstGeom prst="rect">
            <a:avLst/>
          </a:prstGeom>
          <a:solidFill>
            <a:srgbClr val="E7F6F0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1417320"/>
            <a:ext cx="3566160" cy="512064"/>
          </a:xfrm>
          <a:prstGeom prst="rect">
            <a:avLst/>
          </a:prstGeom>
          <a:solidFill>
            <a:srgbClr val="0F9D6E"/>
          </a:solidFill>
          <a:ln/>
        </p:spPr>
      </p:sp>
      <p:sp>
        <p:nvSpPr>
          <p:cNvPr id="21" name="Text 19"/>
          <p:cNvSpPr/>
          <p:nvPr/>
        </p:nvSpPr>
        <p:spPr>
          <a:xfrm>
            <a:off x="830275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 — the gate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39328" y="2075688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manager approves &amp; issues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39328" y="2834640"/>
            <a:ext cx="31638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B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drafted query, edits if needed, and issues it in the validated EDC. The agent never writes to the EDC itself.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CEC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6236208"/>
            <a:ext cx="9144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6236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Participant-level → LOCAL, zero egress. The agent drafts the query; the data manager approves and issues it in the validated EDC.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2F6DB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 · SOP KNOWLEDGE (RAG)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CRA asks a procedure question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566160" cy="3657600"/>
          </a:xfrm>
          <a:prstGeom prst="rect">
            <a:avLst/>
          </a:prstGeom>
          <a:solidFill>
            <a:srgbClr val="EEF1F6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3566160" cy="5120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75688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“What's our process for a missed PK sample?”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8368" y="2834640"/>
            <a:ext cx="31638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 asks the ops assistant, grounded on the SOPs / work-instructions library (non-sensitive).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41648" y="306324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97680" y="1417320"/>
            <a:ext cx="3566160" cy="3657600"/>
          </a:xfrm>
          <a:prstGeom prst="rect">
            <a:avLst/>
          </a:prstGeom>
          <a:solidFill>
            <a:srgbClr val="E5EEF8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417320"/>
            <a:ext cx="3566160" cy="512064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 — DRAFT ONLY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0" y="1536192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1E4C82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15361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98848" y="2075688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answers with citations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98848" y="2834640"/>
            <a:ext cx="31638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E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the relevant SOP section and answers in plain language, with a citation to the exact SOP + version — de-identified, so cloud.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82128" y="306324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138160" y="1417320"/>
            <a:ext cx="3566160" cy="3657600"/>
          </a:xfrm>
          <a:prstGeom prst="rect">
            <a:avLst/>
          </a:prstGeom>
          <a:solidFill>
            <a:srgbClr val="E7F6F0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1417320"/>
            <a:ext cx="3566160" cy="512064"/>
          </a:xfrm>
          <a:prstGeom prst="rect">
            <a:avLst/>
          </a:prstGeom>
          <a:solidFill>
            <a:srgbClr val="0F9D6E"/>
          </a:solidFill>
          <a:ln/>
        </p:spPr>
      </p:sp>
      <p:sp>
        <p:nvSpPr>
          <p:cNvPr id="21" name="Text 19"/>
          <p:cNvSpPr/>
          <p:nvPr/>
        </p:nvSpPr>
        <p:spPr>
          <a:xfrm>
            <a:off x="830275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 — the gate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39328" y="2075688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human verifies the citation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39328" y="2834640"/>
            <a:ext cx="31638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B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CRA checks the cited SOP before acting; the SOP remains the source of truth, not the model's paraphrase.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CEC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6236208"/>
            <a:ext cx="91440" cy="457200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6236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Non-sensitive SOP retrieval → cloud, with citations. The answer points to the controlled SOP; a human verifies before acting.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2F6DB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 · eTMF FILING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monitoring visit report arrives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566160" cy="3657600"/>
          </a:xfrm>
          <a:prstGeom prst="rect">
            <a:avLst/>
          </a:prstGeom>
          <a:solidFill>
            <a:srgbClr val="EEF1F6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3566160" cy="5120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75688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new MVR lands in the shared drive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8368" y="2834640"/>
            <a:ext cx="31638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detects a document to be filed in the eTMF.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41648" y="306324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97680" y="1417320"/>
            <a:ext cx="3566160" cy="3657600"/>
          </a:xfrm>
          <a:prstGeom prst="rect">
            <a:avLst/>
          </a:prstGeom>
          <a:solidFill>
            <a:srgbClr val="E5EEF8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417320"/>
            <a:ext cx="3566160" cy="512064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 — DRAFT ONLY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0" y="1536192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1E4C82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15361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98848" y="2075688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proposes the filing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98848" y="2834640"/>
            <a:ext cx="31638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E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it (TMF Reference Model zone/section), proposes the location, and pre-fills metadata — on the non-sensitive document. Nothing is filed yet.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82128" y="306324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138160" y="1417320"/>
            <a:ext cx="3566160" cy="3657600"/>
          </a:xfrm>
          <a:prstGeom prst="rect">
            <a:avLst/>
          </a:prstGeom>
          <a:solidFill>
            <a:srgbClr val="E7F6F0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1417320"/>
            <a:ext cx="3566160" cy="512064"/>
          </a:xfrm>
          <a:prstGeom prst="rect">
            <a:avLst/>
          </a:prstGeom>
          <a:solidFill>
            <a:srgbClr val="0F9D6E"/>
          </a:solidFill>
          <a:ln/>
        </p:spPr>
      </p:sp>
      <p:sp>
        <p:nvSpPr>
          <p:cNvPr id="21" name="Text 19"/>
          <p:cNvSpPr/>
          <p:nvPr/>
        </p:nvSpPr>
        <p:spPr>
          <a:xfrm>
            <a:off x="830275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 — the gate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39328" y="2075688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TMF specialist approves the filing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39328" y="2834640"/>
            <a:ext cx="31638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B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classification and files it in the validated eTMF; the proposal is a draft in the approval queue.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CEC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6236208"/>
            <a:ext cx="91440" cy="457200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6236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proposes the eTMF zone, location, and metadata; the TMF specialist approves and files in the validated eTMF.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C2891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 · TIMELINE CASCADE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milestone slips — the schedule must follow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566160" cy="3657600"/>
          </a:xfrm>
          <a:prstGeom prst="rect">
            <a:avLst/>
          </a:prstGeom>
          <a:solidFill>
            <a:srgbClr val="EEF1F6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3566160" cy="5120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75688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Data-cut moves 17 → 19 Jun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8368" y="2834640"/>
            <a:ext cx="31638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confirmed change (from the email-wiki / PM) means downstream dates shift.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41648" y="306324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97680" y="1417320"/>
            <a:ext cx="3566160" cy="3657600"/>
          </a:xfrm>
          <a:prstGeom prst="rect">
            <a:avLst/>
          </a:prstGeom>
          <a:solidFill>
            <a:srgbClr val="E5EEF8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417320"/>
            <a:ext cx="3566160" cy="512064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 — DRAFT ONLY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0" y="1536192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1E4C82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15361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98848" y="2075688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drafts the Smartsheet cascade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98848" y="2834640"/>
            <a:ext cx="31638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E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the dependent date shifts (soft-lock, dry-run TLFs, DSMB pack) and drafts the Smartsheet update + a notification — non-sensitive ops data.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82128" y="306324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138160" y="1417320"/>
            <a:ext cx="3566160" cy="3657600"/>
          </a:xfrm>
          <a:prstGeom prst="rect">
            <a:avLst/>
          </a:prstGeom>
          <a:solidFill>
            <a:srgbClr val="E7F6F0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1417320"/>
            <a:ext cx="3566160" cy="512064"/>
          </a:xfrm>
          <a:prstGeom prst="rect">
            <a:avLst/>
          </a:prstGeom>
          <a:solidFill>
            <a:srgbClr val="0F9D6E"/>
          </a:solidFill>
          <a:ln/>
        </p:spPr>
      </p:sp>
      <p:sp>
        <p:nvSpPr>
          <p:cNvPr id="21" name="Text 19"/>
          <p:cNvSpPr/>
          <p:nvPr/>
        </p:nvSpPr>
        <p:spPr>
          <a:xfrm>
            <a:off x="830275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 — the gate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39328" y="2075688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PM reviews &amp; applies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39328" y="2834640"/>
            <a:ext cx="31638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B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cascade, adjusts, and applies it; stakeholders are notified. The PM owns the timeline.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CEC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6236208"/>
            <a:ext cx="91440" cy="457200"/>
          </a:xfrm>
          <a:prstGeom prst="rect">
            <a:avLst/>
          </a:prstGeom>
          <a:solidFill>
            <a:srgbClr val="C2891C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6236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Non-sensitive timeline logic → cloud draft. The agent computes the cascade; the PM reviews and applies the change.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16:30 · RBQM / KRI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risk indicator breaches its tolerance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566160" cy="3657600"/>
          </a:xfrm>
          <a:prstGeom prst="rect">
            <a:avLst/>
          </a:prstGeom>
          <a:solidFill>
            <a:srgbClr val="EEF1F6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3566160" cy="5120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75688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 02 query rate exceeds its KRI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8368" y="2834640"/>
            <a:ext cx="31638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risk-based-monitoring KRI crosses its quality tolerance limit on the latest data.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41648" y="306324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97680" y="1417320"/>
            <a:ext cx="3566160" cy="3657600"/>
          </a:xfrm>
          <a:prstGeom prst="rect">
            <a:avLst/>
          </a:prstGeom>
          <a:solidFill>
            <a:srgbClr val="E2F1F2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417320"/>
            <a:ext cx="3566160" cy="51206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 — DRAFT ONLY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0" y="1536192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0A4F57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15361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98848" y="2075688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packages the signal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98848" y="2834640"/>
            <a:ext cx="31638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the breach with the trend and the contributing records — on the aggregate/site data — and drafts the RBM action note.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82128" y="306324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138160" y="1417320"/>
            <a:ext cx="3566160" cy="3657600"/>
          </a:xfrm>
          <a:prstGeom prst="rect">
            <a:avLst/>
          </a:prstGeom>
          <a:solidFill>
            <a:srgbClr val="E7F6F0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1417320"/>
            <a:ext cx="3566160" cy="512064"/>
          </a:xfrm>
          <a:prstGeom prst="rect">
            <a:avLst/>
          </a:prstGeom>
          <a:solidFill>
            <a:srgbClr val="0F9D6E"/>
          </a:solidFill>
          <a:ln/>
        </p:spPr>
      </p:sp>
      <p:sp>
        <p:nvSpPr>
          <p:cNvPr id="21" name="Text 19"/>
          <p:cNvSpPr/>
          <p:nvPr/>
        </p:nvSpPr>
        <p:spPr>
          <a:xfrm>
            <a:off x="8302752" y="14173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 — the gate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39328" y="2075688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PM / central monitor decides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39328" y="2834640"/>
            <a:ext cx="31638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B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packaged signal and decides the monitoring response (e.g. a targeted visit). The system flags; the human decides.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CEC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6236208"/>
            <a:ext cx="9144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6236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packages the KRI breach with its evidence; the PM / central monitor decides the response. The AI flags, never acts.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DAY SHOWS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platform drafts; the humans approve; the validated systems own the records.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94960" cy="1600200"/>
          </a:xfrm>
          <a:prstGeom prst="rect">
            <a:avLst/>
          </a:prstGeom>
          <a:solidFill>
            <a:srgbClr val="1E2350"/>
          </a:solidFill>
          <a:ln w="12700">
            <a:solidFill>
              <a:srgbClr val="343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82296" cy="16002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122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shape, every automation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569464"/>
            <a:ext cx="4892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→ AI draft → human approval. The drafting is automated; the approval and the record are not.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92240" y="1965960"/>
            <a:ext cx="5394960" cy="1600200"/>
          </a:xfrm>
          <a:prstGeom prst="rect">
            <a:avLst/>
          </a:prstGeom>
          <a:solidFill>
            <a:srgbClr val="1E2350"/>
          </a:solidFill>
          <a:ln w="12700">
            <a:solidFill>
              <a:srgbClr val="343A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965960"/>
            <a:ext cx="82296" cy="1600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1122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 routed the engine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66560" y="2569464"/>
            <a:ext cx="4892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Participant-level QC and the RBM signal stayed LOCAL (zero egress); de-identified SOP / filing / timeline work went to CLOUD.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5394960" cy="1600200"/>
          </a:xfrm>
          <a:prstGeom prst="rect">
            <a:avLst/>
          </a:prstGeom>
          <a:solidFill>
            <a:srgbClr val="1E2350"/>
          </a:solidFill>
          <a:ln w="12700">
            <a:solidFill>
              <a:srgbClr val="343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794760"/>
            <a:ext cx="82296" cy="1600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9410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 systems stayed authoritative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398264"/>
            <a:ext cx="4892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EDC issued the query, the eTMF filed the document, Smartsheet held the timeline — the agent wrote to none of them directly.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92240" y="3794760"/>
            <a:ext cx="5394960" cy="1600200"/>
          </a:xfrm>
          <a:prstGeom prst="rect">
            <a:avLst/>
          </a:prstGeom>
          <a:solidFill>
            <a:srgbClr val="1E2350"/>
          </a:solidFill>
          <a:ln w="12700">
            <a:solidFill>
              <a:srgbClr val="343A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3794760"/>
            <a:ext cx="82296" cy="1600200"/>
          </a:xfrm>
          <a:prstGeom prst="rect">
            <a:avLst/>
          </a:prstGeom>
          <a:solidFill>
            <a:srgbClr val="0F9D6E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9410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payoff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66560" y="4398264"/>
            <a:ext cx="4892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busywork — drafting queries, classifying docs, computing cascades, packaging signals — is automated; judgment and accountability stay human.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Illustrative. The full 75-automation platform is in the hybrid trial-ops wiki; every automation runs behind a human-approval queue.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Trial-ops worked example — a day on the platform</dc:title>
  <dc:subject>PptxGenJS Presentation</dc:subject>
  <dc:creator>PptxGenJS</dc:creator>
  <cp:lastModifiedBy>PptxGenJS</cp:lastModifiedBy>
  <cp:revision>1</cp:revision>
  <dcterms:created xsi:type="dcterms:W3CDTF">2026-06-10T22:35:05Z</dcterms:created>
  <dcterms:modified xsi:type="dcterms:W3CDTF">2026-06-10T22:35:05Z</dcterms:modified>
</cp:coreProperties>
</file>