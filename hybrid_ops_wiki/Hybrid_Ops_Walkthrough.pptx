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walks through a hybrid AI trial-operations layer — an agentic system, built on the Claude-plus-local stack, that handles the project management, trial management, and monitoring work across a study. Seventy-five automations: recurrent QC checks, document and SOP ingestion, eTMF filing, Smartsheet timeline updates, and risk-based monitoring. And one principle holds throughout: the AI drafts, triages, and routes; validated tools and humans own every regulated number and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Trial operations are fragmented. The knowledge and the work are spread across the EDC, the eTMF, Smartsheet, Pinnacle 21, email, and a dozen SOPs — and the team spends its time on manual QC triage, document filing, status decks, and chasing action items. It is exactly the kind of repetitive, cross-system busywork that an AI layer can absorb — if, and only if, it is governed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point the hybrid stack at operations. Seventy-five governed agents, each one routed by data sensitivity, tiered by risk, and gated by a human. The AI reads your systems, reasons over de-identified text on Claude or sensitive data on the local model, and proposes a change — but nothing regulated moves until a person approves it, with a full Part 11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is wired. An orchestrator fires agents on a schedule or on study events. Every agent calls one gateway, which routes by data classification, runs the Presidio guardrail that blocks patient data from the cloud, and logs everything. Behind it sit three things: the local model for sensitive data, the Claude API for de-identified reasoning, and a RAG knowledge base of your SOPs and study docs. Connectors expose your systems as tools. And every regulated change lands in a human-approval queue before it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is the whole point. Three tiers: green for drafts and cited answers; amber for triage and proposed changes with a human verify; red for anything touching a reported number, a record of truth, or unblinded data — where a validated tool and a human decide, and the model is out of the path. Three hard rules: patient data never leaves the local model; every reported number comes from a validated tool; and a human approves every change to a regulated record or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project management. When a data cut is declared, an agent recomputes the critical path in Smartsheet, sees what is now driving the finish date, drafts the you-are-now-blocked notifications, and posts the recomputed plan to the approval queue. Smartsheet's engine does the math; the AI explains and proposes; the project manager approves before any committed date is written. And the weekly status report drafts itself from the plan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documents: agents auto-classify incoming files to the TMF Reference Model, flag missing or expiring documents, and propose filings, which the document controller approves. And every approved SOP and work instruction is ingested into the knowledge base — so anyone can ask, what does our SOP require for a derived-variable spec, and get the exact clause,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marquee one — recurrent data-validity QC at every stage. Each night, after a new dataset build, Pinnacle 21 produces the authoritative conformance findings. The local agent then clusters them, diffs against the last clean run to surface only what is genuinely new, drafts a disposition grounded in the reviewer guides, and routes each one to the right programmer. It never changes a verdict. A four-hour manual triage becomes a clean, pre-explained queue at eight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monitoring, under ICH E6(R3) risk-based quality management: agents watch the key risk indicators and quality tolerance limits, detect breaches and central-monitoring signals like site outliers or enrollment anomalies, surveil protocol deviations, and assemble the DSMB packet. Unblinded signals run on the local model; the reported safety numbers come from validated tools with medical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follows the same loop, and it is worth seeing once. A trigger fires; the agent gathers context from your systems and the cited knowledge base; it classifies the data and routes to local or cloud; it drafts, triages, or summarizes; it proposes the change to the human queue with its rationale and sources; and only on approval is anything written to the system of record — all of it logged. That loop is what makes seventy-five different automations safe and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build it in stages, and you start small. Phase zero is the stack — gateway, local model, Claude under a BAA, the guardrail and the approval queue. Phase one is the knowledge base — ingest the SOPs and ship the compliance Q&amp;A agent first; it is pure green, cited, and instantly useful. Phase two adds read-only connectors and the nightly QC-triage and weekly status agents. Phase three turns on the event-driven automations and the monitoring signals. Each agent earns lighter review as it builds a track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day in the layer: at two a.m. the QC agent surfaces three genuinely new findings among two hundred forty and pre-triages the rest. At ten-thirty a data cut fires and the timeline cascade updates in minutes. At one p.m. a key risk indicator breaches and the signal is drafted for the monitor. At three, a programmer gets an SOP answer, cited, in seconds, and three documents are filed to the eTMF on approval. At four, the weekly status report drafts itself. Every regulated number came from a validated system; no patient data left the building; a human approved every committed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is the operations layer. Seventy-five governed automations on the hybrid stack, absorbing the cross-system busywork while validated tools and humans keep ownership of everything that is regulated. Start with the knowledge base and the SOP agent, keep everything behind the approval queue, and expand as trust grows. The full catalog — every automation, its engine, its integration, and its human checkpoint — is in the operating wiki alongside this.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3A"/>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4338CA"/>
          </a:solidFill>
          <a:ln/>
        </p:spPr>
      </p:sp>
      <p:sp>
        <p:nvSpPr>
          <p:cNvPr id="3" name="Text 1"/>
          <p:cNvSpPr/>
          <p:nvPr/>
        </p:nvSpPr>
        <p:spPr>
          <a:xfrm>
            <a:off x="640080" y="1554480"/>
            <a:ext cx="10058400" cy="274320"/>
          </a:xfrm>
          <a:prstGeom prst="rect">
            <a:avLst/>
          </a:prstGeom>
          <a:noFill/>
          <a:ln/>
        </p:spPr>
        <p:txBody>
          <a:bodyPr wrap="square" lIns="0" tIns="0" rIns="0" bIns="0" rtlCol="0" anchor="ctr"/>
          <a:lstStyle/>
          <a:p>
            <a:pPr indent="0" marL="0">
              <a:buNone/>
            </a:pPr>
            <a:r>
              <a:rPr lang="en-US" sz="1200" b="1" spc="200" kern="0" dirty="0">
                <a:solidFill>
                  <a:srgbClr val="D5DAF5"/>
                </a:solidFill>
                <a:latin typeface="Calibri" pitchFamily="34" charset="0"/>
                <a:ea typeface="Calibri" pitchFamily="34" charset="-122"/>
                <a:cs typeface="Calibri" pitchFamily="34" charset="-120"/>
              </a:rPr>
              <a:t>WALKTHROUGH  ·  AGENTIC TRIAL OPERATIONS ON THE HYBRID STACK</a:t>
            </a:r>
            <a:endParaRPr lang="en-US" sz="1200" dirty="0"/>
          </a:p>
        </p:txBody>
      </p:sp>
      <p:sp>
        <p:nvSpPr>
          <p:cNvPr id="4" name="Text 2"/>
          <p:cNvSpPr/>
          <p:nvPr/>
        </p:nvSpPr>
        <p:spPr>
          <a:xfrm>
            <a:off x="640080" y="1920240"/>
            <a:ext cx="10972800" cy="1554480"/>
          </a:xfrm>
          <a:prstGeom prst="rect">
            <a:avLst/>
          </a:prstGeom>
          <a:noFill/>
          <a:ln/>
        </p:spPr>
        <p:txBody>
          <a:bodyPr wrap="square" lIns="0" tIns="0" rIns="0" bIns="0" rtlCol="0" anchor="ctr"/>
          <a:lstStyle/>
          <a:p>
            <a:pPr indent="0" marL="0">
              <a:lnSpc>
                <a:spcPct val="98000"/>
              </a:lnSpc>
              <a:buNone/>
            </a:pPr>
            <a:r>
              <a:rPr lang="en-US" sz="4200" b="1" dirty="0">
                <a:solidFill>
                  <a:srgbClr val="FFFFFF"/>
                </a:solidFill>
                <a:latin typeface="Georgia" pitchFamily="34" charset="0"/>
                <a:ea typeface="Georgia" pitchFamily="34" charset="-122"/>
                <a:cs typeface="Georgia" pitchFamily="34" charset="-120"/>
              </a:rPr>
              <a:t>The Hybrid AI</a:t>
            </a:r>
            <a:endParaRPr lang="en-US" sz="4200" dirty="0"/>
          </a:p>
          <a:p>
            <a:pPr indent="0" marL="0">
              <a:lnSpc>
                <a:spcPct val="98000"/>
              </a:lnSpc>
              <a:buNone/>
            </a:pPr>
            <a:r>
              <a:rPr lang="en-US" sz="4200" b="1" dirty="0">
                <a:solidFill>
                  <a:srgbClr val="FFFFFF"/>
                </a:solidFill>
                <a:latin typeface="Georgia" pitchFamily="34" charset="0"/>
                <a:ea typeface="Georgia" pitchFamily="34" charset="-122"/>
                <a:cs typeface="Georgia" pitchFamily="34" charset="-120"/>
              </a:rPr>
              <a:t>Trial-Operations Layer</a:t>
            </a:r>
            <a:endParaRPr lang="en-US" sz="4200" dirty="0"/>
          </a:p>
        </p:txBody>
      </p:sp>
      <p:sp>
        <p:nvSpPr>
          <p:cNvPr id="5" name="Text 3"/>
          <p:cNvSpPr/>
          <p:nvPr/>
        </p:nvSpPr>
        <p:spPr>
          <a:xfrm>
            <a:off x="640080" y="3794760"/>
            <a:ext cx="10058400" cy="640080"/>
          </a:xfrm>
          <a:prstGeom prst="rect">
            <a:avLst/>
          </a:prstGeom>
          <a:noFill/>
          <a:ln/>
        </p:spPr>
        <p:txBody>
          <a:bodyPr wrap="square" lIns="0" tIns="0" rIns="0" bIns="0" rtlCol="0" anchor="ctr"/>
          <a:lstStyle/>
          <a:p>
            <a:pPr indent="0" marL="0">
              <a:buNone/>
            </a:pPr>
            <a:r>
              <a:rPr lang="en-US" sz="1600" dirty="0">
                <a:solidFill>
                  <a:srgbClr val="D5DAF5"/>
                </a:solidFill>
                <a:latin typeface="Calibri" pitchFamily="34" charset="0"/>
                <a:ea typeface="Calibri" pitchFamily="34" charset="-122"/>
                <a:cs typeface="Calibri" pitchFamily="34" charset="-120"/>
              </a:rPr>
              <a:t>75 governed automations across project management, trial management, and monitoring — on Claude + local.</a:t>
            </a:r>
            <a:endParaRPr lang="en-US" sz="1600" dirty="0"/>
          </a:p>
        </p:txBody>
      </p:sp>
      <p:sp>
        <p:nvSpPr>
          <p:cNvPr id="6" name="Text 4"/>
          <p:cNvSpPr/>
          <p:nvPr/>
        </p:nvSpPr>
        <p:spPr>
          <a:xfrm>
            <a:off x="640080" y="5212080"/>
            <a:ext cx="10515600" cy="365760"/>
          </a:xfrm>
          <a:prstGeom prst="rect">
            <a:avLst/>
          </a:prstGeom>
          <a:noFill/>
          <a:ln/>
        </p:spPr>
        <p:txBody>
          <a:bodyPr wrap="square" lIns="0" tIns="0" rIns="0" bIns="0" rtlCol="0" anchor="ctr"/>
          <a:lstStyle/>
          <a:p>
            <a:pPr indent="0" marL="0">
              <a:buNone/>
            </a:pPr>
            <a:r>
              <a:rPr lang="en-US" sz="1300" b="1" i="1" dirty="0">
                <a:solidFill>
                  <a:srgbClr val="8B92D8"/>
                </a:solidFill>
                <a:latin typeface="Calibri" pitchFamily="34" charset="0"/>
                <a:ea typeface="Calibri" pitchFamily="34" charset="-122"/>
                <a:cs typeface="Calibri" pitchFamily="34" charset="-120"/>
              </a:rPr>
              <a:t>AI drafts · triages · routes.   Validated tools + humans own every regulated number and record.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B5564B"/>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Trial operations are fragmented</a:t>
            </a:r>
            <a:endParaRPr lang="en-US" sz="2600" dirty="0"/>
          </a:p>
        </p:txBody>
      </p:sp>
      <p:sp>
        <p:nvSpPr>
          <p:cNvPr id="5" name="Shape 3"/>
          <p:cNvSpPr/>
          <p:nvPr/>
        </p:nvSpPr>
        <p:spPr>
          <a:xfrm>
            <a:off x="640080" y="1691640"/>
            <a:ext cx="3413760" cy="2697480"/>
          </a:xfrm>
          <a:prstGeom prst="rect">
            <a:avLst/>
          </a:prstGeom>
          <a:solidFill>
            <a:srgbClr val="F4F5FB"/>
          </a:solidFill>
          <a:ln w="12700">
            <a:solidFill>
              <a:srgbClr val="E0E3F1"/>
            </a:solidFill>
            <a:prstDash val="solid"/>
          </a:ln>
          <a:effectLst>
            <a:outerShdw sx="100000" sy="100000" kx="0" ky="0" algn="bl" rotWithShape="0" blurRad="114300" dist="38100" dir="8100000">
              <a:srgbClr val="1A1E33">
                <a:alpha val="12000"/>
              </a:srgbClr>
            </a:outerShdw>
          </a:effectLst>
        </p:spPr>
      </p:sp>
      <p:sp>
        <p:nvSpPr>
          <p:cNvPr id="6" name="Shape 4"/>
          <p:cNvSpPr/>
          <p:nvPr/>
        </p:nvSpPr>
        <p:spPr>
          <a:xfrm>
            <a:off x="640080" y="1691640"/>
            <a:ext cx="3413760" cy="91440"/>
          </a:xfrm>
          <a:prstGeom prst="rect">
            <a:avLst/>
          </a:prstGeom>
          <a:solidFill>
            <a:srgbClr val="B5564B"/>
          </a:solidFill>
          <a:ln/>
        </p:spPr>
      </p:sp>
      <p:sp>
        <p:nvSpPr>
          <p:cNvPr id="7" name="Text 5"/>
          <p:cNvSpPr/>
          <p:nvPr/>
        </p:nvSpPr>
        <p:spPr>
          <a:xfrm>
            <a:off x="914400" y="2011680"/>
            <a:ext cx="2865120" cy="548640"/>
          </a:xfrm>
          <a:prstGeom prst="rect">
            <a:avLst/>
          </a:prstGeom>
          <a:noFill/>
          <a:ln/>
        </p:spPr>
        <p:txBody>
          <a:bodyPr wrap="square" lIns="0" tIns="0" rIns="0" bIns="0" rtlCol="0" anchor="ctr"/>
          <a:lstStyle/>
          <a:p>
            <a:pPr indent="0" marL="0">
              <a:buNone/>
            </a:pPr>
            <a:r>
              <a:rPr lang="en-US" sz="1800" b="1" dirty="0">
                <a:solidFill>
                  <a:srgbClr val="1A1E33"/>
                </a:solidFill>
                <a:latin typeface="Georgia" pitchFamily="34" charset="0"/>
                <a:ea typeface="Georgia" pitchFamily="34" charset="-122"/>
                <a:cs typeface="Georgia" pitchFamily="34" charset="-120"/>
              </a:rPr>
              <a:t>Spread across systems</a:t>
            </a:r>
            <a:endParaRPr lang="en-US" sz="1800" dirty="0"/>
          </a:p>
        </p:txBody>
      </p:sp>
      <p:sp>
        <p:nvSpPr>
          <p:cNvPr id="8" name="Text 6"/>
          <p:cNvSpPr/>
          <p:nvPr/>
        </p:nvSpPr>
        <p:spPr>
          <a:xfrm>
            <a:off x="914400" y="2697480"/>
            <a:ext cx="2865120" cy="1508760"/>
          </a:xfrm>
          <a:prstGeom prst="rect">
            <a:avLst/>
          </a:prstGeom>
          <a:noFill/>
          <a:ln/>
        </p:spPr>
        <p:txBody>
          <a:bodyPr wrap="square" lIns="0" tIns="0" rIns="0" bIns="0" rtlCol="0" anchor="ctr"/>
          <a:lstStyle/>
          <a:p>
            <a:pPr indent="0" marL="0">
              <a:lnSpc>
                <a:spcPct val="105000"/>
              </a:lnSpc>
              <a:buNone/>
            </a:pPr>
            <a:r>
              <a:rPr lang="en-US" sz="1300" dirty="0">
                <a:solidFill>
                  <a:srgbClr val="5A607E"/>
                </a:solidFill>
                <a:latin typeface="Calibri" pitchFamily="34" charset="0"/>
                <a:ea typeface="Calibri" pitchFamily="34" charset="-122"/>
                <a:cs typeface="Calibri" pitchFamily="34" charset="-120"/>
              </a:rPr>
              <a:t>Knowledge and work live in the EDC, eTMF, Smartsheet, Pinnacle 21, email, and a dozen SOPs — none of it joined up.</a:t>
            </a:r>
            <a:endParaRPr lang="en-US" sz="1300" dirty="0"/>
          </a:p>
        </p:txBody>
      </p:sp>
      <p:sp>
        <p:nvSpPr>
          <p:cNvPr id="9" name="Shape 7"/>
          <p:cNvSpPr/>
          <p:nvPr/>
        </p:nvSpPr>
        <p:spPr>
          <a:xfrm>
            <a:off x="4373880" y="1691640"/>
            <a:ext cx="3413760" cy="2697480"/>
          </a:xfrm>
          <a:prstGeom prst="rect">
            <a:avLst/>
          </a:prstGeom>
          <a:solidFill>
            <a:srgbClr val="F4F5FB"/>
          </a:solidFill>
          <a:ln w="12700">
            <a:solidFill>
              <a:srgbClr val="E0E3F1"/>
            </a:solidFill>
            <a:prstDash val="solid"/>
          </a:ln>
          <a:effectLst>
            <a:outerShdw sx="100000" sy="100000" kx="0" ky="0" algn="bl" rotWithShape="0" blurRad="114300" dist="38100" dir="8100000">
              <a:srgbClr val="1A1E33">
                <a:alpha val="12000"/>
              </a:srgbClr>
            </a:outerShdw>
          </a:effectLst>
        </p:spPr>
      </p:sp>
      <p:sp>
        <p:nvSpPr>
          <p:cNvPr id="10" name="Shape 8"/>
          <p:cNvSpPr/>
          <p:nvPr/>
        </p:nvSpPr>
        <p:spPr>
          <a:xfrm>
            <a:off x="4373880" y="1691640"/>
            <a:ext cx="3413760" cy="91440"/>
          </a:xfrm>
          <a:prstGeom prst="rect">
            <a:avLst/>
          </a:prstGeom>
          <a:solidFill>
            <a:srgbClr val="B5564B"/>
          </a:solidFill>
          <a:ln/>
        </p:spPr>
      </p:sp>
      <p:sp>
        <p:nvSpPr>
          <p:cNvPr id="11" name="Text 9"/>
          <p:cNvSpPr/>
          <p:nvPr/>
        </p:nvSpPr>
        <p:spPr>
          <a:xfrm>
            <a:off x="4648200" y="2011680"/>
            <a:ext cx="2865120" cy="548640"/>
          </a:xfrm>
          <a:prstGeom prst="rect">
            <a:avLst/>
          </a:prstGeom>
          <a:noFill/>
          <a:ln/>
        </p:spPr>
        <p:txBody>
          <a:bodyPr wrap="square" lIns="0" tIns="0" rIns="0" bIns="0" rtlCol="0" anchor="ctr"/>
          <a:lstStyle/>
          <a:p>
            <a:pPr indent="0" marL="0">
              <a:buNone/>
            </a:pPr>
            <a:r>
              <a:rPr lang="en-US" sz="1800" b="1" dirty="0">
                <a:solidFill>
                  <a:srgbClr val="1A1E33"/>
                </a:solidFill>
                <a:latin typeface="Georgia" pitchFamily="34" charset="0"/>
                <a:ea typeface="Georgia" pitchFamily="34" charset="-122"/>
                <a:cs typeface="Georgia" pitchFamily="34" charset="-120"/>
              </a:rPr>
              <a:t>Manual busywork</a:t>
            </a:r>
            <a:endParaRPr lang="en-US" sz="1800" dirty="0"/>
          </a:p>
        </p:txBody>
      </p:sp>
      <p:sp>
        <p:nvSpPr>
          <p:cNvPr id="12" name="Text 10"/>
          <p:cNvSpPr/>
          <p:nvPr/>
        </p:nvSpPr>
        <p:spPr>
          <a:xfrm>
            <a:off x="4648200" y="2697480"/>
            <a:ext cx="2865120" cy="1508760"/>
          </a:xfrm>
          <a:prstGeom prst="rect">
            <a:avLst/>
          </a:prstGeom>
          <a:noFill/>
          <a:ln/>
        </p:spPr>
        <p:txBody>
          <a:bodyPr wrap="square" lIns="0" tIns="0" rIns="0" bIns="0" rtlCol="0" anchor="ctr"/>
          <a:lstStyle/>
          <a:p>
            <a:pPr indent="0" marL="0">
              <a:lnSpc>
                <a:spcPct val="105000"/>
              </a:lnSpc>
              <a:buNone/>
            </a:pPr>
            <a:r>
              <a:rPr lang="en-US" sz="1300" dirty="0">
                <a:solidFill>
                  <a:srgbClr val="5A607E"/>
                </a:solidFill>
                <a:latin typeface="Calibri" pitchFamily="34" charset="0"/>
                <a:ea typeface="Calibri" pitchFamily="34" charset="-122"/>
                <a:cs typeface="Calibri" pitchFamily="34" charset="-120"/>
              </a:rPr>
              <a:t>QC triage, document filing, status decks, action-item chasing — repetitive, cross-system, and endless.</a:t>
            </a:r>
            <a:endParaRPr lang="en-US" sz="1300" dirty="0"/>
          </a:p>
        </p:txBody>
      </p:sp>
      <p:sp>
        <p:nvSpPr>
          <p:cNvPr id="13" name="Shape 11"/>
          <p:cNvSpPr/>
          <p:nvPr/>
        </p:nvSpPr>
        <p:spPr>
          <a:xfrm>
            <a:off x="8107680" y="1691640"/>
            <a:ext cx="3413760" cy="2697480"/>
          </a:xfrm>
          <a:prstGeom prst="rect">
            <a:avLst/>
          </a:prstGeom>
          <a:solidFill>
            <a:srgbClr val="F4F5FB"/>
          </a:solidFill>
          <a:ln w="12700">
            <a:solidFill>
              <a:srgbClr val="E0E3F1"/>
            </a:solidFill>
            <a:prstDash val="solid"/>
          </a:ln>
          <a:effectLst>
            <a:outerShdw sx="100000" sy="100000" kx="0" ky="0" algn="bl" rotWithShape="0" blurRad="114300" dist="38100" dir="8100000">
              <a:srgbClr val="1A1E33">
                <a:alpha val="12000"/>
              </a:srgbClr>
            </a:outerShdw>
          </a:effectLst>
        </p:spPr>
      </p:sp>
      <p:sp>
        <p:nvSpPr>
          <p:cNvPr id="14" name="Shape 12"/>
          <p:cNvSpPr/>
          <p:nvPr/>
        </p:nvSpPr>
        <p:spPr>
          <a:xfrm>
            <a:off x="8107680" y="1691640"/>
            <a:ext cx="3413760" cy="91440"/>
          </a:xfrm>
          <a:prstGeom prst="rect">
            <a:avLst/>
          </a:prstGeom>
          <a:solidFill>
            <a:srgbClr val="B5564B"/>
          </a:solidFill>
          <a:ln/>
        </p:spPr>
      </p:sp>
      <p:sp>
        <p:nvSpPr>
          <p:cNvPr id="15" name="Text 13"/>
          <p:cNvSpPr/>
          <p:nvPr/>
        </p:nvSpPr>
        <p:spPr>
          <a:xfrm>
            <a:off x="8382000" y="2011680"/>
            <a:ext cx="2865120" cy="548640"/>
          </a:xfrm>
          <a:prstGeom prst="rect">
            <a:avLst/>
          </a:prstGeom>
          <a:noFill/>
          <a:ln/>
        </p:spPr>
        <p:txBody>
          <a:bodyPr wrap="square" lIns="0" tIns="0" rIns="0" bIns="0" rtlCol="0" anchor="ctr"/>
          <a:lstStyle/>
          <a:p>
            <a:pPr indent="0" marL="0">
              <a:buNone/>
            </a:pPr>
            <a:r>
              <a:rPr lang="en-US" sz="1800" b="1" dirty="0">
                <a:solidFill>
                  <a:srgbClr val="1A1E33"/>
                </a:solidFill>
                <a:latin typeface="Georgia" pitchFamily="34" charset="0"/>
                <a:ea typeface="Georgia" pitchFamily="34" charset="-122"/>
                <a:cs typeface="Georgia" pitchFamily="34" charset="-120"/>
              </a:rPr>
              <a:t>High stakes</a:t>
            </a:r>
            <a:endParaRPr lang="en-US" sz="1800" dirty="0"/>
          </a:p>
        </p:txBody>
      </p:sp>
      <p:sp>
        <p:nvSpPr>
          <p:cNvPr id="16" name="Text 14"/>
          <p:cNvSpPr/>
          <p:nvPr/>
        </p:nvSpPr>
        <p:spPr>
          <a:xfrm>
            <a:off x="8382000" y="2697480"/>
            <a:ext cx="2865120" cy="1508760"/>
          </a:xfrm>
          <a:prstGeom prst="rect">
            <a:avLst/>
          </a:prstGeom>
          <a:noFill/>
          <a:ln/>
        </p:spPr>
        <p:txBody>
          <a:bodyPr wrap="square" lIns="0" tIns="0" rIns="0" bIns="0" rtlCol="0" anchor="ctr"/>
          <a:lstStyle/>
          <a:p>
            <a:pPr indent="0" marL="0">
              <a:lnSpc>
                <a:spcPct val="105000"/>
              </a:lnSpc>
              <a:buNone/>
            </a:pPr>
            <a:r>
              <a:rPr lang="en-US" sz="1300" dirty="0">
                <a:solidFill>
                  <a:srgbClr val="5A607E"/>
                </a:solidFill>
                <a:latin typeface="Calibri" pitchFamily="34" charset="0"/>
                <a:ea typeface="Calibri" pitchFamily="34" charset="-122"/>
                <a:cs typeface="Calibri" pitchFamily="34" charset="-120"/>
              </a:rPr>
              <a:t>It's regulated work — so any automation has to be governed, not a free-for-all chatbot.</a:t>
            </a:r>
            <a:endParaRPr lang="en-US" sz="1300" dirty="0"/>
          </a:p>
        </p:txBody>
      </p:sp>
      <p:sp>
        <p:nvSpPr>
          <p:cNvPr id="17" name="Text 15"/>
          <p:cNvSpPr/>
          <p:nvPr/>
        </p:nvSpPr>
        <p:spPr>
          <a:xfrm>
            <a:off x="640080" y="4800600"/>
            <a:ext cx="10881360" cy="365760"/>
          </a:xfrm>
          <a:prstGeom prst="rect">
            <a:avLst/>
          </a:prstGeom>
          <a:noFill/>
          <a:ln/>
        </p:spPr>
        <p:txBody>
          <a:bodyPr wrap="square" lIns="0" tIns="0" rIns="0" bIns="0" rtlCol="0" anchor="ctr"/>
          <a:lstStyle/>
          <a:p>
            <a:pPr algn="ctr" indent="0" marL="0">
              <a:buNone/>
            </a:pPr>
            <a:r>
              <a:rPr lang="en-US" sz="1400" b="1" i="1" dirty="0">
                <a:solidFill>
                  <a:srgbClr val="312C8A"/>
                </a:solidFill>
                <a:latin typeface="Calibri" pitchFamily="34" charset="0"/>
                <a:ea typeface="Calibri" pitchFamily="34" charset="-122"/>
                <a:cs typeface="Calibri" pitchFamily="34" charset="-120"/>
              </a:rPr>
              <a:t>Exactly the work an AI layer can absorb — if, and only if, it's governed properly.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4338CA"/>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THE IDEA</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Point the hybrid stack at operations</a:t>
            </a:r>
            <a:endParaRPr lang="en-US" sz="2600" dirty="0"/>
          </a:p>
        </p:txBody>
      </p:sp>
      <p:sp>
        <p:nvSpPr>
          <p:cNvPr id="5" name="Shape 3"/>
          <p:cNvSpPr/>
          <p:nvPr/>
        </p:nvSpPr>
        <p:spPr>
          <a:xfrm>
            <a:off x="640080" y="1600200"/>
            <a:ext cx="5212080" cy="1554480"/>
          </a:xfrm>
          <a:prstGeom prst="rect">
            <a:avLst/>
          </a:prstGeom>
          <a:solidFill>
            <a:srgbClr val="ECECFB"/>
          </a:solidFill>
          <a:ln w="12700">
            <a:solidFill>
              <a:srgbClr val="D6D6F5"/>
            </a:solidFill>
            <a:prstDash val="solid"/>
          </a:ln>
        </p:spPr>
      </p:sp>
      <p:sp>
        <p:nvSpPr>
          <p:cNvPr id="6" name="Shape 4"/>
          <p:cNvSpPr/>
          <p:nvPr/>
        </p:nvSpPr>
        <p:spPr>
          <a:xfrm>
            <a:off x="640080" y="1600200"/>
            <a:ext cx="91440" cy="1554480"/>
          </a:xfrm>
          <a:prstGeom prst="rect">
            <a:avLst/>
          </a:prstGeom>
          <a:solidFill>
            <a:srgbClr val="4338CA"/>
          </a:solidFill>
          <a:ln/>
        </p:spPr>
      </p:sp>
      <p:sp>
        <p:nvSpPr>
          <p:cNvPr id="7" name="Text 5"/>
          <p:cNvSpPr/>
          <p:nvPr/>
        </p:nvSpPr>
        <p:spPr>
          <a:xfrm>
            <a:off x="960120" y="1801368"/>
            <a:ext cx="4663440" cy="411480"/>
          </a:xfrm>
          <a:prstGeom prst="rect">
            <a:avLst/>
          </a:prstGeom>
          <a:noFill/>
          <a:ln/>
        </p:spPr>
        <p:txBody>
          <a:bodyPr wrap="square" lIns="0" tIns="0" rIns="0" bIns="0" rtlCol="0" anchor="ctr"/>
          <a:lstStyle/>
          <a:p>
            <a:pPr indent="0" marL="0">
              <a:buNone/>
            </a:pPr>
            <a:r>
              <a:rPr lang="en-US" sz="1700" b="1" dirty="0">
                <a:solidFill>
                  <a:srgbClr val="312C8A"/>
                </a:solidFill>
                <a:latin typeface="Georgia" pitchFamily="34" charset="0"/>
                <a:ea typeface="Georgia" pitchFamily="34" charset="-122"/>
                <a:cs typeface="Georgia" pitchFamily="34" charset="-120"/>
              </a:rPr>
              <a:t>75 governed agents</a:t>
            </a:r>
            <a:endParaRPr lang="en-US" sz="1700" dirty="0"/>
          </a:p>
        </p:txBody>
      </p:sp>
      <p:sp>
        <p:nvSpPr>
          <p:cNvPr id="8" name="Text 6"/>
          <p:cNvSpPr/>
          <p:nvPr/>
        </p:nvSpPr>
        <p:spPr>
          <a:xfrm>
            <a:off x="960120" y="2258568"/>
            <a:ext cx="4617720" cy="777240"/>
          </a:xfrm>
          <a:prstGeom prst="rect">
            <a:avLst/>
          </a:prstGeom>
          <a:noFill/>
          <a:ln/>
        </p:spPr>
        <p:txBody>
          <a:bodyPr wrap="square" lIns="0" tIns="0" rIns="0" bIns="0" rtlCol="0" anchor="ctr"/>
          <a:lstStyle/>
          <a:p>
            <a:pPr indent="0" marL="0">
              <a:lnSpc>
                <a:spcPct val="102000"/>
              </a:lnSpc>
              <a:buNone/>
            </a:pPr>
            <a:r>
              <a:rPr lang="en-US" sz="1250" dirty="0">
                <a:solidFill>
                  <a:srgbClr val="5A607E"/>
                </a:solidFill>
                <a:latin typeface="Calibri" pitchFamily="34" charset="0"/>
                <a:ea typeface="Calibri" pitchFamily="34" charset="-122"/>
                <a:cs typeface="Calibri" pitchFamily="34" charset="-120"/>
              </a:rPr>
              <a:t>Across PM, trial management, document control, data QC, and risk-based monitoring.</a:t>
            </a:r>
            <a:endParaRPr lang="en-US" sz="1250" dirty="0"/>
          </a:p>
        </p:txBody>
      </p:sp>
      <p:sp>
        <p:nvSpPr>
          <p:cNvPr id="9" name="Shape 7"/>
          <p:cNvSpPr/>
          <p:nvPr/>
        </p:nvSpPr>
        <p:spPr>
          <a:xfrm>
            <a:off x="6309360" y="1600200"/>
            <a:ext cx="5212080" cy="1554480"/>
          </a:xfrm>
          <a:prstGeom prst="rect">
            <a:avLst/>
          </a:prstGeom>
          <a:solidFill>
            <a:srgbClr val="ECECFB"/>
          </a:solidFill>
          <a:ln w="12700">
            <a:solidFill>
              <a:srgbClr val="D6D6F5"/>
            </a:solidFill>
            <a:prstDash val="solid"/>
          </a:ln>
        </p:spPr>
      </p:sp>
      <p:sp>
        <p:nvSpPr>
          <p:cNvPr id="10" name="Shape 8"/>
          <p:cNvSpPr/>
          <p:nvPr/>
        </p:nvSpPr>
        <p:spPr>
          <a:xfrm>
            <a:off x="6309360" y="1600200"/>
            <a:ext cx="91440" cy="1554480"/>
          </a:xfrm>
          <a:prstGeom prst="rect">
            <a:avLst/>
          </a:prstGeom>
          <a:solidFill>
            <a:srgbClr val="4338CA"/>
          </a:solidFill>
          <a:ln/>
        </p:spPr>
      </p:sp>
      <p:sp>
        <p:nvSpPr>
          <p:cNvPr id="11" name="Text 9"/>
          <p:cNvSpPr/>
          <p:nvPr/>
        </p:nvSpPr>
        <p:spPr>
          <a:xfrm>
            <a:off x="6629400" y="1801368"/>
            <a:ext cx="4663440" cy="411480"/>
          </a:xfrm>
          <a:prstGeom prst="rect">
            <a:avLst/>
          </a:prstGeom>
          <a:noFill/>
          <a:ln/>
        </p:spPr>
        <p:txBody>
          <a:bodyPr wrap="square" lIns="0" tIns="0" rIns="0" bIns="0" rtlCol="0" anchor="ctr"/>
          <a:lstStyle/>
          <a:p>
            <a:pPr indent="0" marL="0">
              <a:buNone/>
            </a:pPr>
            <a:r>
              <a:rPr lang="en-US" sz="1700" b="1" dirty="0">
                <a:solidFill>
                  <a:srgbClr val="312C8A"/>
                </a:solidFill>
                <a:latin typeface="Georgia" pitchFamily="34" charset="0"/>
                <a:ea typeface="Georgia" pitchFamily="34" charset="-122"/>
                <a:cs typeface="Georgia" pitchFamily="34" charset="-120"/>
              </a:rPr>
              <a:t>Routed by sensitivity</a:t>
            </a:r>
            <a:endParaRPr lang="en-US" sz="1700" dirty="0"/>
          </a:p>
        </p:txBody>
      </p:sp>
      <p:sp>
        <p:nvSpPr>
          <p:cNvPr id="12" name="Text 10"/>
          <p:cNvSpPr/>
          <p:nvPr/>
        </p:nvSpPr>
        <p:spPr>
          <a:xfrm>
            <a:off x="6629400" y="2258568"/>
            <a:ext cx="4617720" cy="777240"/>
          </a:xfrm>
          <a:prstGeom prst="rect">
            <a:avLst/>
          </a:prstGeom>
          <a:noFill/>
          <a:ln/>
        </p:spPr>
        <p:txBody>
          <a:bodyPr wrap="square" lIns="0" tIns="0" rIns="0" bIns="0" rtlCol="0" anchor="ctr"/>
          <a:lstStyle/>
          <a:p>
            <a:pPr indent="0" marL="0">
              <a:lnSpc>
                <a:spcPct val="102000"/>
              </a:lnSpc>
              <a:buNone/>
            </a:pPr>
            <a:r>
              <a:rPr lang="en-US" sz="1250" dirty="0">
                <a:solidFill>
                  <a:srgbClr val="5A607E"/>
                </a:solidFill>
                <a:latin typeface="Calibri" pitchFamily="34" charset="0"/>
                <a:ea typeface="Calibri" pitchFamily="34" charset="-122"/>
                <a:cs typeface="Calibri" pitchFamily="34" charset="-120"/>
              </a:rPr>
              <a:t>PHI / unblinded → local model; de-identified reasoning → Claude. The gateway decides.</a:t>
            </a:r>
            <a:endParaRPr lang="en-US" sz="1250" dirty="0"/>
          </a:p>
        </p:txBody>
      </p:sp>
      <p:sp>
        <p:nvSpPr>
          <p:cNvPr id="13" name="Shape 11"/>
          <p:cNvSpPr/>
          <p:nvPr/>
        </p:nvSpPr>
        <p:spPr>
          <a:xfrm>
            <a:off x="640080" y="3429000"/>
            <a:ext cx="5212080" cy="1554480"/>
          </a:xfrm>
          <a:prstGeom prst="rect">
            <a:avLst/>
          </a:prstGeom>
          <a:solidFill>
            <a:srgbClr val="ECECFB"/>
          </a:solidFill>
          <a:ln w="12700">
            <a:solidFill>
              <a:srgbClr val="D6D6F5"/>
            </a:solidFill>
            <a:prstDash val="solid"/>
          </a:ln>
        </p:spPr>
      </p:sp>
      <p:sp>
        <p:nvSpPr>
          <p:cNvPr id="14" name="Shape 12"/>
          <p:cNvSpPr/>
          <p:nvPr/>
        </p:nvSpPr>
        <p:spPr>
          <a:xfrm>
            <a:off x="640080" y="3429000"/>
            <a:ext cx="91440" cy="1554480"/>
          </a:xfrm>
          <a:prstGeom prst="rect">
            <a:avLst/>
          </a:prstGeom>
          <a:solidFill>
            <a:srgbClr val="4338CA"/>
          </a:solidFill>
          <a:ln/>
        </p:spPr>
      </p:sp>
      <p:sp>
        <p:nvSpPr>
          <p:cNvPr id="15" name="Text 13"/>
          <p:cNvSpPr/>
          <p:nvPr/>
        </p:nvSpPr>
        <p:spPr>
          <a:xfrm>
            <a:off x="960120" y="3630168"/>
            <a:ext cx="4663440" cy="411480"/>
          </a:xfrm>
          <a:prstGeom prst="rect">
            <a:avLst/>
          </a:prstGeom>
          <a:noFill/>
          <a:ln/>
        </p:spPr>
        <p:txBody>
          <a:bodyPr wrap="square" lIns="0" tIns="0" rIns="0" bIns="0" rtlCol="0" anchor="ctr"/>
          <a:lstStyle/>
          <a:p>
            <a:pPr indent="0" marL="0">
              <a:buNone/>
            </a:pPr>
            <a:r>
              <a:rPr lang="en-US" sz="1700" b="1" dirty="0">
                <a:solidFill>
                  <a:srgbClr val="312C8A"/>
                </a:solidFill>
                <a:latin typeface="Georgia" pitchFamily="34" charset="0"/>
                <a:ea typeface="Georgia" pitchFamily="34" charset="-122"/>
                <a:cs typeface="Georgia" pitchFamily="34" charset="-120"/>
              </a:rPr>
              <a:t>Tiered by risk</a:t>
            </a:r>
            <a:endParaRPr lang="en-US" sz="1700" dirty="0"/>
          </a:p>
        </p:txBody>
      </p:sp>
      <p:sp>
        <p:nvSpPr>
          <p:cNvPr id="16" name="Text 14"/>
          <p:cNvSpPr/>
          <p:nvPr/>
        </p:nvSpPr>
        <p:spPr>
          <a:xfrm>
            <a:off x="960120" y="4087368"/>
            <a:ext cx="4617720" cy="777240"/>
          </a:xfrm>
          <a:prstGeom prst="rect">
            <a:avLst/>
          </a:prstGeom>
          <a:noFill/>
          <a:ln/>
        </p:spPr>
        <p:txBody>
          <a:bodyPr wrap="square" lIns="0" tIns="0" rIns="0" bIns="0" rtlCol="0" anchor="ctr"/>
          <a:lstStyle/>
          <a:p>
            <a:pPr indent="0" marL="0">
              <a:lnSpc>
                <a:spcPct val="102000"/>
              </a:lnSpc>
              <a:buNone/>
            </a:pPr>
            <a:r>
              <a:rPr lang="en-US" sz="1250" dirty="0">
                <a:solidFill>
                  <a:srgbClr val="5A607E"/>
                </a:solidFill>
                <a:latin typeface="Calibri" pitchFamily="34" charset="0"/>
                <a:ea typeface="Calibri" pitchFamily="34" charset="-122"/>
                <a:cs typeface="Calibri" pitchFamily="34" charset="-120"/>
              </a:rPr>
              <a:t>Green drafts · amber triage with verify · red stays with validated tools + humans.</a:t>
            </a:r>
            <a:endParaRPr lang="en-US" sz="1250" dirty="0"/>
          </a:p>
        </p:txBody>
      </p:sp>
      <p:sp>
        <p:nvSpPr>
          <p:cNvPr id="17" name="Shape 15"/>
          <p:cNvSpPr/>
          <p:nvPr/>
        </p:nvSpPr>
        <p:spPr>
          <a:xfrm>
            <a:off x="6309360" y="3429000"/>
            <a:ext cx="5212080" cy="1554480"/>
          </a:xfrm>
          <a:prstGeom prst="rect">
            <a:avLst/>
          </a:prstGeom>
          <a:solidFill>
            <a:srgbClr val="ECECFB"/>
          </a:solidFill>
          <a:ln w="12700">
            <a:solidFill>
              <a:srgbClr val="D6D6F5"/>
            </a:solidFill>
            <a:prstDash val="solid"/>
          </a:ln>
        </p:spPr>
      </p:sp>
      <p:sp>
        <p:nvSpPr>
          <p:cNvPr id="18" name="Shape 16"/>
          <p:cNvSpPr/>
          <p:nvPr/>
        </p:nvSpPr>
        <p:spPr>
          <a:xfrm>
            <a:off x="6309360" y="3429000"/>
            <a:ext cx="91440" cy="1554480"/>
          </a:xfrm>
          <a:prstGeom prst="rect">
            <a:avLst/>
          </a:prstGeom>
          <a:solidFill>
            <a:srgbClr val="4338CA"/>
          </a:solidFill>
          <a:ln/>
        </p:spPr>
      </p:sp>
      <p:sp>
        <p:nvSpPr>
          <p:cNvPr id="19" name="Text 17"/>
          <p:cNvSpPr/>
          <p:nvPr/>
        </p:nvSpPr>
        <p:spPr>
          <a:xfrm>
            <a:off x="6629400" y="3630168"/>
            <a:ext cx="4663440" cy="411480"/>
          </a:xfrm>
          <a:prstGeom prst="rect">
            <a:avLst/>
          </a:prstGeom>
          <a:noFill/>
          <a:ln/>
        </p:spPr>
        <p:txBody>
          <a:bodyPr wrap="square" lIns="0" tIns="0" rIns="0" bIns="0" rtlCol="0" anchor="ctr"/>
          <a:lstStyle/>
          <a:p>
            <a:pPr indent="0" marL="0">
              <a:buNone/>
            </a:pPr>
            <a:r>
              <a:rPr lang="en-US" sz="1700" b="1" dirty="0">
                <a:solidFill>
                  <a:srgbClr val="312C8A"/>
                </a:solidFill>
                <a:latin typeface="Georgia" pitchFamily="34" charset="0"/>
                <a:ea typeface="Georgia" pitchFamily="34" charset="-122"/>
                <a:cs typeface="Georgia" pitchFamily="34" charset="-120"/>
              </a:rPr>
              <a:t>Gated by a human</a:t>
            </a:r>
            <a:endParaRPr lang="en-US" sz="1700" dirty="0"/>
          </a:p>
        </p:txBody>
      </p:sp>
      <p:sp>
        <p:nvSpPr>
          <p:cNvPr id="20" name="Text 18"/>
          <p:cNvSpPr/>
          <p:nvPr/>
        </p:nvSpPr>
        <p:spPr>
          <a:xfrm>
            <a:off x="6629400" y="4087368"/>
            <a:ext cx="4617720" cy="777240"/>
          </a:xfrm>
          <a:prstGeom prst="rect">
            <a:avLst/>
          </a:prstGeom>
          <a:noFill/>
          <a:ln/>
        </p:spPr>
        <p:txBody>
          <a:bodyPr wrap="square" lIns="0" tIns="0" rIns="0" bIns="0" rtlCol="0" anchor="ctr"/>
          <a:lstStyle/>
          <a:p>
            <a:pPr indent="0" marL="0">
              <a:lnSpc>
                <a:spcPct val="102000"/>
              </a:lnSpc>
              <a:buNone/>
            </a:pPr>
            <a:r>
              <a:rPr lang="en-US" sz="1250" dirty="0">
                <a:solidFill>
                  <a:srgbClr val="5A607E"/>
                </a:solidFill>
                <a:latin typeface="Calibri" pitchFamily="34" charset="0"/>
                <a:ea typeface="Calibri" pitchFamily="34" charset="-122"/>
                <a:cs typeface="Calibri" pitchFamily="34" charset="-120"/>
              </a:rPr>
              <a:t>Every regulated change is proposed to an approval queue, with a Part 11 audit trail.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4338CA"/>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THE PLATFORM</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One gateway, many agents</a:t>
            </a:r>
            <a:endParaRPr lang="en-US" sz="2600" dirty="0"/>
          </a:p>
        </p:txBody>
      </p:sp>
      <p:sp>
        <p:nvSpPr>
          <p:cNvPr id="5" name="Shape 3"/>
          <p:cNvSpPr/>
          <p:nvPr/>
        </p:nvSpPr>
        <p:spPr>
          <a:xfrm>
            <a:off x="640080" y="1371600"/>
            <a:ext cx="10881360" cy="512064"/>
          </a:xfrm>
          <a:prstGeom prst="rect">
            <a:avLst/>
          </a:prstGeom>
          <a:solidFill>
            <a:srgbClr val="F4F5FB"/>
          </a:solidFill>
          <a:ln w="12700">
            <a:solidFill>
              <a:srgbClr val="E0E3F1"/>
            </a:solidFill>
            <a:prstDash val="solid"/>
          </a:ln>
        </p:spPr>
      </p:sp>
      <p:sp>
        <p:nvSpPr>
          <p:cNvPr id="6" name="Shape 4"/>
          <p:cNvSpPr/>
          <p:nvPr/>
        </p:nvSpPr>
        <p:spPr>
          <a:xfrm>
            <a:off x="640080" y="1371600"/>
            <a:ext cx="82296" cy="512064"/>
          </a:xfrm>
          <a:prstGeom prst="rect">
            <a:avLst/>
          </a:prstGeom>
          <a:solidFill>
            <a:srgbClr val="64748B"/>
          </a:solidFill>
          <a:ln/>
        </p:spPr>
      </p:sp>
      <p:sp>
        <p:nvSpPr>
          <p:cNvPr id="7" name="Text 5"/>
          <p:cNvSpPr/>
          <p:nvPr/>
        </p:nvSpPr>
        <p:spPr>
          <a:xfrm>
            <a:off x="896112" y="1371600"/>
            <a:ext cx="10469880" cy="512064"/>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Orchestration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scheduler + agent framework — fires agents on schedule or study events</a:t>
            </a:r>
            <a:endParaRPr lang="en-US" sz="1250" dirty="0"/>
          </a:p>
        </p:txBody>
      </p:sp>
      <p:sp>
        <p:nvSpPr>
          <p:cNvPr id="8" name="Text 6"/>
          <p:cNvSpPr/>
          <p:nvPr/>
        </p:nvSpPr>
        <p:spPr>
          <a:xfrm>
            <a:off x="5897880" y="1920240"/>
            <a:ext cx="365760" cy="182880"/>
          </a:xfrm>
          <a:prstGeom prst="rect">
            <a:avLst/>
          </a:prstGeom>
          <a:noFill/>
          <a:ln/>
        </p:spPr>
        <p:txBody>
          <a:bodyPr wrap="square" lIns="0" tIns="0" rIns="0" bIns="0" rtlCol="0" anchor="ctr"/>
          <a:lstStyle/>
          <a:p>
            <a:pPr algn="ctr" indent="0" marL="0">
              <a:buNone/>
            </a:pPr>
            <a:r>
              <a:rPr lang="en-US" sz="1200" dirty="0">
                <a:solidFill>
                  <a:srgbClr val="4338C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640080" y="2139696"/>
            <a:ext cx="10881360" cy="621792"/>
          </a:xfrm>
          <a:prstGeom prst="rect">
            <a:avLst/>
          </a:prstGeom>
          <a:solidFill>
            <a:srgbClr val="ECECFB"/>
          </a:solidFill>
          <a:ln w="12700">
            <a:solidFill>
              <a:srgbClr val="E0E3F1"/>
            </a:solidFill>
            <a:prstDash val="solid"/>
          </a:ln>
        </p:spPr>
      </p:sp>
      <p:sp>
        <p:nvSpPr>
          <p:cNvPr id="10" name="Shape 8"/>
          <p:cNvSpPr/>
          <p:nvPr/>
        </p:nvSpPr>
        <p:spPr>
          <a:xfrm>
            <a:off x="640080" y="2139696"/>
            <a:ext cx="82296" cy="621792"/>
          </a:xfrm>
          <a:prstGeom prst="rect">
            <a:avLst/>
          </a:prstGeom>
          <a:solidFill>
            <a:srgbClr val="4338CA"/>
          </a:solidFill>
          <a:ln/>
        </p:spPr>
      </p:sp>
      <p:sp>
        <p:nvSpPr>
          <p:cNvPr id="11" name="Text 9"/>
          <p:cNvSpPr/>
          <p:nvPr/>
        </p:nvSpPr>
        <p:spPr>
          <a:xfrm>
            <a:off x="896112" y="2139696"/>
            <a:ext cx="10469880" cy="621792"/>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The Gateway (LiteLLM-class)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data-classification router · Presidio PHI egress firewall · cost/audit · caching · one Part 11 trail</a:t>
            </a:r>
            <a:endParaRPr lang="en-US" sz="1250" dirty="0"/>
          </a:p>
        </p:txBody>
      </p:sp>
      <p:sp>
        <p:nvSpPr>
          <p:cNvPr id="12" name="Text 10"/>
          <p:cNvSpPr/>
          <p:nvPr/>
        </p:nvSpPr>
        <p:spPr>
          <a:xfrm>
            <a:off x="4343400" y="2816352"/>
            <a:ext cx="3474720" cy="182880"/>
          </a:xfrm>
          <a:prstGeom prst="rect">
            <a:avLst/>
          </a:prstGeom>
          <a:noFill/>
          <a:ln/>
        </p:spPr>
        <p:txBody>
          <a:bodyPr wrap="square" lIns="0" tIns="0" rIns="0" bIns="0" rtlCol="0" anchor="ctr"/>
          <a:lstStyle/>
          <a:p>
            <a:pPr algn="ctr" indent="0" marL="0">
              <a:buNone/>
            </a:pPr>
            <a:r>
              <a:rPr lang="en-US" sz="1200" dirty="0">
                <a:solidFill>
                  <a:srgbClr val="4338CA"/>
                </a:solidFill>
                <a:latin typeface="Calibri" pitchFamily="34" charset="0"/>
                <a:ea typeface="Calibri" pitchFamily="34" charset="-122"/>
                <a:cs typeface="Calibri" pitchFamily="34" charset="-120"/>
              </a:rPr>
              <a:t>▼            ▼            ▼</a:t>
            </a:r>
            <a:endParaRPr lang="en-US" sz="1200" dirty="0"/>
          </a:p>
        </p:txBody>
      </p:sp>
      <p:sp>
        <p:nvSpPr>
          <p:cNvPr id="13" name="Shape 11"/>
          <p:cNvSpPr/>
          <p:nvPr/>
        </p:nvSpPr>
        <p:spPr>
          <a:xfrm>
            <a:off x="640080" y="3035808"/>
            <a:ext cx="3444240" cy="640080"/>
          </a:xfrm>
          <a:prstGeom prst="rect">
            <a:avLst/>
          </a:prstGeom>
          <a:solidFill>
            <a:srgbClr val="E2F1F2"/>
          </a:solidFill>
          <a:ln w="12700">
            <a:solidFill>
              <a:srgbClr val="E0E3F1"/>
            </a:solidFill>
            <a:prstDash val="solid"/>
          </a:ln>
        </p:spPr>
      </p:sp>
      <p:sp>
        <p:nvSpPr>
          <p:cNvPr id="14" name="Shape 12"/>
          <p:cNvSpPr/>
          <p:nvPr/>
        </p:nvSpPr>
        <p:spPr>
          <a:xfrm>
            <a:off x="640080" y="3035808"/>
            <a:ext cx="82296" cy="640080"/>
          </a:xfrm>
          <a:prstGeom prst="rect">
            <a:avLst/>
          </a:prstGeom>
          <a:solidFill>
            <a:srgbClr val="0E7C86"/>
          </a:solidFill>
          <a:ln/>
        </p:spPr>
      </p:sp>
      <p:sp>
        <p:nvSpPr>
          <p:cNvPr id="15" name="Text 13"/>
          <p:cNvSpPr/>
          <p:nvPr/>
        </p:nvSpPr>
        <p:spPr>
          <a:xfrm>
            <a:off x="896112" y="3035808"/>
            <a:ext cx="3032760" cy="640080"/>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Local model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sensitive / PHI / unblinded</a:t>
            </a:r>
            <a:endParaRPr lang="en-US" sz="1250" dirty="0"/>
          </a:p>
        </p:txBody>
      </p:sp>
      <p:sp>
        <p:nvSpPr>
          <p:cNvPr id="16" name="Shape 14"/>
          <p:cNvSpPr/>
          <p:nvPr/>
        </p:nvSpPr>
        <p:spPr>
          <a:xfrm>
            <a:off x="4358640" y="3035808"/>
            <a:ext cx="3444240" cy="640080"/>
          </a:xfrm>
          <a:prstGeom prst="rect">
            <a:avLst/>
          </a:prstGeom>
          <a:solidFill>
            <a:srgbClr val="E5EEF8"/>
          </a:solidFill>
          <a:ln w="12700">
            <a:solidFill>
              <a:srgbClr val="E0E3F1"/>
            </a:solidFill>
            <a:prstDash val="solid"/>
          </a:ln>
        </p:spPr>
      </p:sp>
      <p:sp>
        <p:nvSpPr>
          <p:cNvPr id="17" name="Shape 15"/>
          <p:cNvSpPr/>
          <p:nvPr/>
        </p:nvSpPr>
        <p:spPr>
          <a:xfrm>
            <a:off x="4358640" y="3035808"/>
            <a:ext cx="82296" cy="640080"/>
          </a:xfrm>
          <a:prstGeom prst="rect">
            <a:avLst/>
          </a:prstGeom>
          <a:solidFill>
            <a:srgbClr val="2F6DB5"/>
          </a:solidFill>
          <a:ln/>
        </p:spPr>
      </p:sp>
      <p:sp>
        <p:nvSpPr>
          <p:cNvPr id="18" name="Text 16"/>
          <p:cNvSpPr/>
          <p:nvPr/>
        </p:nvSpPr>
        <p:spPr>
          <a:xfrm>
            <a:off x="4614672" y="3035808"/>
            <a:ext cx="3032760" cy="640080"/>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Claude API (BAA)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de-identified reasoning</a:t>
            </a:r>
            <a:endParaRPr lang="en-US" sz="1250" dirty="0"/>
          </a:p>
        </p:txBody>
      </p:sp>
      <p:sp>
        <p:nvSpPr>
          <p:cNvPr id="19" name="Shape 17"/>
          <p:cNvSpPr/>
          <p:nvPr/>
        </p:nvSpPr>
        <p:spPr>
          <a:xfrm>
            <a:off x="8077200" y="3035808"/>
            <a:ext cx="3444240" cy="640080"/>
          </a:xfrm>
          <a:prstGeom prst="rect">
            <a:avLst/>
          </a:prstGeom>
          <a:solidFill>
            <a:srgbClr val="FAF0D8"/>
          </a:solidFill>
          <a:ln w="12700">
            <a:solidFill>
              <a:srgbClr val="E0E3F1"/>
            </a:solidFill>
            <a:prstDash val="solid"/>
          </a:ln>
        </p:spPr>
      </p:sp>
      <p:sp>
        <p:nvSpPr>
          <p:cNvPr id="20" name="Shape 18"/>
          <p:cNvSpPr/>
          <p:nvPr/>
        </p:nvSpPr>
        <p:spPr>
          <a:xfrm>
            <a:off x="8077200" y="3035808"/>
            <a:ext cx="82296" cy="640080"/>
          </a:xfrm>
          <a:prstGeom prst="rect">
            <a:avLst/>
          </a:prstGeom>
          <a:solidFill>
            <a:srgbClr val="C2891C"/>
          </a:solidFill>
          <a:ln/>
        </p:spPr>
      </p:sp>
      <p:sp>
        <p:nvSpPr>
          <p:cNvPr id="21" name="Text 19"/>
          <p:cNvSpPr/>
          <p:nvPr/>
        </p:nvSpPr>
        <p:spPr>
          <a:xfrm>
            <a:off x="8333232" y="3035808"/>
            <a:ext cx="3032760" cy="640080"/>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RAG knowledge base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SOPs / WIs / study docs</a:t>
            </a:r>
            <a:endParaRPr lang="en-US" sz="1250" dirty="0"/>
          </a:p>
        </p:txBody>
      </p:sp>
      <p:sp>
        <p:nvSpPr>
          <p:cNvPr id="22" name="Text 20"/>
          <p:cNvSpPr/>
          <p:nvPr/>
        </p:nvSpPr>
        <p:spPr>
          <a:xfrm>
            <a:off x="4709160" y="3749040"/>
            <a:ext cx="2743200" cy="182880"/>
          </a:xfrm>
          <a:prstGeom prst="rect">
            <a:avLst/>
          </a:prstGeom>
          <a:noFill/>
          <a:ln/>
        </p:spPr>
        <p:txBody>
          <a:bodyPr wrap="square" lIns="0" tIns="0" rIns="0" bIns="0" rtlCol="0" anchor="ctr"/>
          <a:lstStyle/>
          <a:p>
            <a:pPr algn="ctr" indent="0" marL="0">
              <a:buNone/>
            </a:pPr>
            <a:r>
              <a:rPr lang="en-US" sz="1100" dirty="0">
                <a:solidFill>
                  <a:srgbClr val="4338CA"/>
                </a:solidFill>
                <a:latin typeface="Calibri" pitchFamily="34" charset="0"/>
                <a:ea typeface="Calibri" pitchFamily="34" charset="-122"/>
                <a:cs typeface="Calibri" pitchFamily="34" charset="-120"/>
              </a:rPr>
              <a:t>▼   connectors (MCP)   ▼</a:t>
            </a:r>
            <a:endParaRPr lang="en-US" sz="1100" dirty="0"/>
          </a:p>
        </p:txBody>
      </p:sp>
      <p:sp>
        <p:nvSpPr>
          <p:cNvPr id="23" name="Shape 21"/>
          <p:cNvSpPr/>
          <p:nvPr/>
        </p:nvSpPr>
        <p:spPr>
          <a:xfrm>
            <a:off x="640080" y="3968496"/>
            <a:ext cx="10881360" cy="566928"/>
          </a:xfrm>
          <a:prstGeom prst="rect">
            <a:avLst/>
          </a:prstGeom>
          <a:solidFill>
            <a:srgbClr val="F1ECFA"/>
          </a:solidFill>
          <a:ln w="12700">
            <a:solidFill>
              <a:srgbClr val="E0E3F1"/>
            </a:solidFill>
            <a:prstDash val="solid"/>
          </a:ln>
        </p:spPr>
      </p:sp>
      <p:sp>
        <p:nvSpPr>
          <p:cNvPr id="24" name="Shape 22"/>
          <p:cNvSpPr/>
          <p:nvPr/>
        </p:nvSpPr>
        <p:spPr>
          <a:xfrm>
            <a:off x="640080" y="3968496"/>
            <a:ext cx="82296" cy="566928"/>
          </a:xfrm>
          <a:prstGeom prst="rect">
            <a:avLst/>
          </a:prstGeom>
          <a:solidFill>
            <a:srgbClr val="7C5CBF"/>
          </a:solidFill>
          <a:ln/>
        </p:spPr>
      </p:sp>
      <p:sp>
        <p:nvSpPr>
          <p:cNvPr id="25" name="Text 23"/>
          <p:cNvSpPr/>
          <p:nvPr/>
        </p:nvSpPr>
        <p:spPr>
          <a:xfrm>
            <a:off x="896112" y="3968496"/>
            <a:ext cx="10469880" cy="566928"/>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Systems of record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eTMF · Smartsheet · EDC · CTMS · SharePoint · Outlook · Pinnacle 21  (read-mostly; writes gated)</a:t>
            </a:r>
            <a:endParaRPr lang="en-US" sz="1250" dirty="0"/>
          </a:p>
        </p:txBody>
      </p:sp>
      <p:sp>
        <p:nvSpPr>
          <p:cNvPr id="26" name="Text 24"/>
          <p:cNvSpPr/>
          <p:nvPr/>
        </p:nvSpPr>
        <p:spPr>
          <a:xfrm>
            <a:off x="5897880" y="4572000"/>
            <a:ext cx="365760" cy="182880"/>
          </a:xfrm>
          <a:prstGeom prst="rect">
            <a:avLst/>
          </a:prstGeom>
          <a:noFill/>
          <a:ln/>
        </p:spPr>
        <p:txBody>
          <a:bodyPr wrap="square" lIns="0" tIns="0" rIns="0" bIns="0" rtlCol="0" anchor="ctr"/>
          <a:lstStyle/>
          <a:p>
            <a:pPr algn="ctr" indent="0" marL="0">
              <a:buNone/>
            </a:pPr>
            <a:r>
              <a:rPr lang="en-US" sz="1200" dirty="0">
                <a:solidFill>
                  <a:srgbClr val="4338CA"/>
                </a:solidFill>
                <a:latin typeface="Calibri" pitchFamily="34" charset="0"/>
                <a:ea typeface="Calibri" pitchFamily="34" charset="-122"/>
                <a:cs typeface="Calibri" pitchFamily="34" charset="-120"/>
              </a:rPr>
              <a:t>▼</a:t>
            </a:r>
            <a:endParaRPr lang="en-US" sz="1200" dirty="0"/>
          </a:p>
        </p:txBody>
      </p:sp>
      <p:sp>
        <p:nvSpPr>
          <p:cNvPr id="27" name="Shape 25"/>
          <p:cNvSpPr/>
          <p:nvPr/>
        </p:nvSpPr>
        <p:spPr>
          <a:xfrm>
            <a:off x="640080" y="4773168"/>
            <a:ext cx="10881360" cy="585216"/>
          </a:xfrm>
          <a:prstGeom prst="rect">
            <a:avLst/>
          </a:prstGeom>
          <a:solidFill>
            <a:srgbClr val="E7F6F0"/>
          </a:solidFill>
          <a:ln w="12700">
            <a:solidFill>
              <a:srgbClr val="E0E3F1"/>
            </a:solidFill>
            <a:prstDash val="solid"/>
          </a:ln>
        </p:spPr>
      </p:sp>
      <p:sp>
        <p:nvSpPr>
          <p:cNvPr id="28" name="Shape 26"/>
          <p:cNvSpPr/>
          <p:nvPr/>
        </p:nvSpPr>
        <p:spPr>
          <a:xfrm>
            <a:off x="640080" y="4773168"/>
            <a:ext cx="82296" cy="585216"/>
          </a:xfrm>
          <a:prstGeom prst="rect">
            <a:avLst/>
          </a:prstGeom>
          <a:solidFill>
            <a:srgbClr val="0F9D6E"/>
          </a:solidFill>
          <a:ln/>
        </p:spPr>
      </p:sp>
      <p:sp>
        <p:nvSpPr>
          <p:cNvPr id="29" name="Text 27"/>
          <p:cNvSpPr/>
          <p:nvPr/>
        </p:nvSpPr>
        <p:spPr>
          <a:xfrm>
            <a:off x="896112" y="4773168"/>
            <a:ext cx="10469880" cy="585216"/>
          </a:xfrm>
          <a:prstGeom prst="rect">
            <a:avLst/>
          </a:prstGeom>
          <a:noFill/>
          <a:ln/>
        </p:spPr>
        <p:txBody>
          <a:bodyPr wrap="square" lIns="0" tIns="0" rIns="0" bIns="0" rtlCol="0" anchor="ctr"/>
          <a:lstStyle/>
          <a:p>
            <a:pPr indent="0" marL="0">
              <a:lnSpc>
                <a:spcPct val="95000"/>
              </a:lnSpc>
              <a:buNone/>
            </a:pPr>
            <a:r>
              <a:rPr lang="en-US" sz="1250" b="1" dirty="0">
                <a:solidFill>
                  <a:srgbClr val="1A1E33"/>
                </a:solidFill>
                <a:latin typeface="Calibri" pitchFamily="34" charset="0"/>
                <a:ea typeface="Calibri" pitchFamily="34" charset="-122"/>
                <a:cs typeface="Calibri" pitchFamily="34" charset="-120"/>
              </a:rPr>
              <a:t>Human-in-the-loop approval queue  </a:t>
            </a:r>
            <a:pPr indent="0" marL="0">
              <a:lnSpc>
                <a:spcPct val="95000"/>
              </a:lnSpc>
              <a:buNone/>
            </a:pPr>
            <a:r>
              <a:rPr lang="en-US" sz="1050" dirty="0">
                <a:solidFill>
                  <a:srgbClr val="5A607E"/>
                </a:solidFill>
                <a:latin typeface="Calibri" pitchFamily="34" charset="0"/>
                <a:ea typeface="Calibri" pitchFamily="34" charset="-122"/>
                <a:cs typeface="Calibri" pitchFamily="34" charset="-120"/>
              </a:rPr>
              <a:t>every regulated change proposed here — AI rationale + sources — for a human to approve / edit / reject</a:t>
            </a:r>
            <a:endParaRPr lang="en-US" sz="1250" dirty="0"/>
          </a:p>
        </p:txBody>
      </p:sp>
      <p:sp>
        <p:nvSpPr>
          <p:cNvPr id="30" name="Text 28"/>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Same hybrid architecture as the AI strategy — here, pointed at operations.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0F9D6E"/>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GOVERNANCE</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Why this is safe to run</a:t>
            </a:r>
            <a:endParaRPr lang="en-US" sz="2600" dirty="0"/>
          </a:p>
        </p:txBody>
      </p:sp>
      <p:sp>
        <p:nvSpPr>
          <p:cNvPr id="5" name="Shape 3"/>
          <p:cNvSpPr/>
          <p:nvPr/>
        </p:nvSpPr>
        <p:spPr>
          <a:xfrm>
            <a:off x="640080" y="1554480"/>
            <a:ext cx="3413760" cy="1828800"/>
          </a:xfrm>
          <a:prstGeom prst="rect">
            <a:avLst/>
          </a:prstGeom>
          <a:solidFill>
            <a:srgbClr val="E7F6F0"/>
          </a:solidFill>
          <a:ln w="12700">
            <a:solidFill>
              <a:srgbClr val="E0E3F1"/>
            </a:solidFill>
            <a:prstDash val="solid"/>
          </a:ln>
        </p:spPr>
      </p:sp>
      <p:sp>
        <p:nvSpPr>
          <p:cNvPr id="6" name="Shape 4"/>
          <p:cNvSpPr/>
          <p:nvPr/>
        </p:nvSpPr>
        <p:spPr>
          <a:xfrm>
            <a:off x="640080" y="1554480"/>
            <a:ext cx="3413760" cy="502920"/>
          </a:xfrm>
          <a:prstGeom prst="rect">
            <a:avLst/>
          </a:prstGeom>
          <a:solidFill>
            <a:srgbClr val="0F9D6E"/>
          </a:solidFill>
          <a:ln/>
        </p:spPr>
      </p:sp>
      <p:sp>
        <p:nvSpPr>
          <p:cNvPr id="7" name="Text 5"/>
          <p:cNvSpPr/>
          <p:nvPr/>
        </p:nvSpPr>
        <p:spPr>
          <a:xfrm>
            <a:off x="822960" y="1627632"/>
            <a:ext cx="3048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GREEN · 14</a:t>
            </a:r>
            <a:endParaRPr lang="en-US" sz="1600" dirty="0"/>
          </a:p>
        </p:txBody>
      </p:sp>
      <p:sp>
        <p:nvSpPr>
          <p:cNvPr id="8" name="Text 6"/>
          <p:cNvSpPr/>
          <p:nvPr/>
        </p:nvSpPr>
        <p:spPr>
          <a:xfrm>
            <a:off x="868680" y="2194560"/>
            <a:ext cx="2956560" cy="1051560"/>
          </a:xfrm>
          <a:prstGeom prst="rect">
            <a:avLst/>
          </a:prstGeom>
          <a:noFill/>
          <a:ln/>
        </p:spPr>
        <p:txBody>
          <a:bodyPr wrap="square" lIns="0" tIns="0" rIns="0" bIns="0" rtlCol="0" anchor="ctr"/>
          <a:lstStyle/>
          <a:p>
            <a:pPr indent="0" marL="0">
              <a:lnSpc>
                <a:spcPct val="103000"/>
              </a:lnSpc>
              <a:buNone/>
            </a:pPr>
            <a:r>
              <a:rPr lang="en-US" sz="1200" dirty="0">
                <a:solidFill>
                  <a:srgbClr val="0B5C42"/>
                </a:solidFill>
                <a:latin typeface="Calibri" pitchFamily="34" charset="0"/>
                <a:ea typeface="Calibri" pitchFamily="34" charset="-122"/>
                <a:cs typeface="Calibri" pitchFamily="34" charset="-120"/>
              </a:rPr>
              <a:t>Drafts, summaries, cited RAG answers — advisory only.</a:t>
            </a:r>
            <a:endParaRPr lang="en-US" sz="1200" dirty="0"/>
          </a:p>
        </p:txBody>
      </p:sp>
      <p:sp>
        <p:nvSpPr>
          <p:cNvPr id="9" name="Shape 7"/>
          <p:cNvSpPr/>
          <p:nvPr/>
        </p:nvSpPr>
        <p:spPr>
          <a:xfrm>
            <a:off x="4373880" y="1554480"/>
            <a:ext cx="3413760" cy="1828800"/>
          </a:xfrm>
          <a:prstGeom prst="rect">
            <a:avLst/>
          </a:prstGeom>
          <a:solidFill>
            <a:srgbClr val="FAF0D8"/>
          </a:solidFill>
          <a:ln w="12700">
            <a:solidFill>
              <a:srgbClr val="E0E3F1"/>
            </a:solidFill>
            <a:prstDash val="solid"/>
          </a:ln>
        </p:spPr>
      </p:sp>
      <p:sp>
        <p:nvSpPr>
          <p:cNvPr id="10" name="Shape 8"/>
          <p:cNvSpPr/>
          <p:nvPr/>
        </p:nvSpPr>
        <p:spPr>
          <a:xfrm>
            <a:off x="4373880" y="1554480"/>
            <a:ext cx="3413760" cy="502920"/>
          </a:xfrm>
          <a:prstGeom prst="rect">
            <a:avLst/>
          </a:prstGeom>
          <a:solidFill>
            <a:srgbClr val="C2891C"/>
          </a:solidFill>
          <a:ln/>
        </p:spPr>
      </p:sp>
      <p:sp>
        <p:nvSpPr>
          <p:cNvPr id="11" name="Text 9"/>
          <p:cNvSpPr/>
          <p:nvPr/>
        </p:nvSpPr>
        <p:spPr>
          <a:xfrm>
            <a:off x="4556760" y="1627632"/>
            <a:ext cx="3048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AMBER · 43</a:t>
            </a:r>
            <a:endParaRPr lang="en-US" sz="1600" dirty="0"/>
          </a:p>
        </p:txBody>
      </p:sp>
      <p:sp>
        <p:nvSpPr>
          <p:cNvPr id="12" name="Text 10"/>
          <p:cNvSpPr/>
          <p:nvPr/>
        </p:nvSpPr>
        <p:spPr>
          <a:xfrm>
            <a:off x="4602480" y="2194560"/>
            <a:ext cx="2956560" cy="1051560"/>
          </a:xfrm>
          <a:prstGeom prst="rect">
            <a:avLst/>
          </a:prstGeom>
          <a:noFill/>
          <a:ln/>
        </p:spPr>
        <p:txBody>
          <a:bodyPr wrap="square" lIns="0" tIns="0" rIns="0" bIns="0" rtlCol="0" anchor="ctr"/>
          <a:lstStyle/>
          <a:p>
            <a:pPr indent="0" marL="0">
              <a:lnSpc>
                <a:spcPct val="103000"/>
              </a:lnSpc>
              <a:buNone/>
            </a:pPr>
            <a:r>
              <a:rPr lang="en-US" sz="1200" dirty="0">
                <a:solidFill>
                  <a:srgbClr val="6B4E12"/>
                </a:solidFill>
                <a:latin typeface="Calibri" pitchFamily="34" charset="0"/>
                <a:ea typeface="Calibri" pitchFamily="34" charset="-122"/>
                <a:cs typeface="Calibri" pitchFamily="34" charset="-120"/>
              </a:rPr>
              <a:t>Classification, triage, code, proposed changes — with a human verify before commit.</a:t>
            </a:r>
            <a:endParaRPr lang="en-US" sz="1200" dirty="0"/>
          </a:p>
        </p:txBody>
      </p:sp>
      <p:sp>
        <p:nvSpPr>
          <p:cNvPr id="13" name="Shape 11"/>
          <p:cNvSpPr/>
          <p:nvPr/>
        </p:nvSpPr>
        <p:spPr>
          <a:xfrm>
            <a:off x="8107680" y="1554480"/>
            <a:ext cx="3413760" cy="1828800"/>
          </a:xfrm>
          <a:prstGeom prst="rect">
            <a:avLst/>
          </a:prstGeom>
          <a:solidFill>
            <a:srgbClr val="F7EAE8"/>
          </a:solidFill>
          <a:ln w="12700">
            <a:solidFill>
              <a:srgbClr val="E0E3F1"/>
            </a:solidFill>
            <a:prstDash val="solid"/>
          </a:ln>
        </p:spPr>
      </p:sp>
      <p:sp>
        <p:nvSpPr>
          <p:cNvPr id="14" name="Shape 12"/>
          <p:cNvSpPr/>
          <p:nvPr/>
        </p:nvSpPr>
        <p:spPr>
          <a:xfrm>
            <a:off x="8107680" y="1554480"/>
            <a:ext cx="3413760" cy="502920"/>
          </a:xfrm>
          <a:prstGeom prst="rect">
            <a:avLst/>
          </a:prstGeom>
          <a:solidFill>
            <a:srgbClr val="B5564B"/>
          </a:solidFill>
          <a:ln/>
        </p:spPr>
      </p:sp>
      <p:sp>
        <p:nvSpPr>
          <p:cNvPr id="15" name="Text 13"/>
          <p:cNvSpPr/>
          <p:nvPr/>
        </p:nvSpPr>
        <p:spPr>
          <a:xfrm>
            <a:off x="8290560" y="1627632"/>
            <a:ext cx="3048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RED · 18</a:t>
            </a:r>
            <a:endParaRPr lang="en-US" sz="1600" dirty="0"/>
          </a:p>
        </p:txBody>
      </p:sp>
      <p:sp>
        <p:nvSpPr>
          <p:cNvPr id="16" name="Text 14"/>
          <p:cNvSpPr/>
          <p:nvPr/>
        </p:nvSpPr>
        <p:spPr>
          <a:xfrm>
            <a:off x="8336280" y="2194560"/>
            <a:ext cx="2956560" cy="1051560"/>
          </a:xfrm>
          <a:prstGeom prst="rect">
            <a:avLst/>
          </a:prstGeom>
          <a:noFill/>
          <a:ln/>
        </p:spPr>
        <p:txBody>
          <a:bodyPr wrap="square" lIns="0" tIns="0" rIns="0" bIns="0" rtlCol="0" anchor="ctr"/>
          <a:lstStyle/>
          <a:p>
            <a:pPr indent="0" marL="0">
              <a:lnSpc>
                <a:spcPct val="103000"/>
              </a:lnSpc>
              <a:buNone/>
            </a:pPr>
            <a:r>
              <a:rPr lang="en-US" sz="1200" dirty="0">
                <a:solidFill>
                  <a:srgbClr val="6E3A33"/>
                </a:solidFill>
                <a:latin typeface="Calibri" pitchFamily="34" charset="0"/>
                <a:ea typeface="Calibri" pitchFamily="34" charset="-122"/>
                <a:cs typeface="Calibri" pitchFamily="34" charset="-120"/>
              </a:rPr>
              <a:t>Reported numbers, records of truth, unblinded data — validated tool + human; LLM out of the path.</a:t>
            </a:r>
            <a:endParaRPr lang="en-US" sz="1200" dirty="0"/>
          </a:p>
        </p:txBody>
      </p:sp>
      <p:sp>
        <p:nvSpPr>
          <p:cNvPr id="17" name="Shape 15"/>
          <p:cNvSpPr/>
          <p:nvPr/>
        </p:nvSpPr>
        <p:spPr>
          <a:xfrm>
            <a:off x="640080" y="3566160"/>
            <a:ext cx="10881360" cy="2148840"/>
          </a:xfrm>
          <a:prstGeom prst="rect">
            <a:avLst/>
          </a:prstGeom>
          <a:solidFill>
            <a:srgbClr val="23264F"/>
          </a:solidFill>
          <a:ln/>
        </p:spPr>
      </p:sp>
      <p:sp>
        <p:nvSpPr>
          <p:cNvPr id="18" name="Text 16"/>
          <p:cNvSpPr/>
          <p:nvPr/>
        </p:nvSpPr>
        <p:spPr>
          <a:xfrm>
            <a:off x="960120" y="3675888"/>
            <a:ext cx="100584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The three hard rules</a:t>
            </a:r>
            <a:endParaRPr lang="en-US" sz="1600" dirty="0"/>
          </a:p>
        </p:txBody>
      </p:sp>
      <p:sp>
        <p:nvSpPr>
          <p:cNvPr id="19" name="Text 17"/>
          <p:cNvSpPr/>
          <p:nvPr/>
        </p:nvSpPr>
        <p:spPr>
          <a:xfrm>
            <a:off x="960120" y="4133088"/>
            <a:ext cx="10607040" cy="1508760"/>
          </a:xfrm>
          <a:prstGeom prst="rect">
            <a:avLst/>
          </a:prstGeom>
          <a:noFill/>
          <a:ln/>
        </p:spPr>
        <p:txBody>
          <a:bodyPr wrap="square" lIns="0" tIns="0" rIns="0" bIns="0" rtlCol="0" anchor="ctr"/>
          <a:lstStyle/>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PHI / unblinded / randomization data never leaves</a:t>
            </a:r>
            <a:endParaRPr lang="en-US" sz="1150" dirty="0"/>
          </a:p>
          <a:p>
            <a:pPr indent="0" marL="0">
              <a:lnSpc>
                <a:spcPct val="100000"/>
              </a:lnSpc>
              <a:spcAft>
                <a:spcPts val="600"/>
              </a:spcAft>
              <a:buNone/>
            </a:pPr>
            <a:r>
              <a:rPr lang="en-US" sz="1150" dirty="0">
                <a:solidFill>
                  <a:srgbClr val="D5DAF5"/>
                </a:solidFill>
                <a:latin typeface="Calibri" pitchFamily="34" charset="0"/>
                <a:ea typeface="Calibri" pitchFamily="34" charset="-122"/>
                <a:cs typeface="Calibri" pitchFamily="34" charset="-120"/>
              </a:rPr>
              <a:t>       always the local frozen model (zero egress); de-identified text may use Claude.</a:t>
            </a:r>
            <a:endParaRPr lang="en-US" sz="1150" dirty="0"/>
          </a:p>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2.  Every reported number &amp; record of truth comes from a validated tool</a:t>
            </a:r>
            <a:endParaRPr lang="en-US" sz="1150" dirty="0"/>
          </a:p>
          <a:p>
            <a:pPr indent="0" marL="0">
              <a:lnSpc>
                <a:spcPct val="100000"/>
              </a:lnSpc>
              <a:spcAft>
                <a:spcPts val="600"/>
              </a:spcAft>
              <a:buNone/>
            </a:pPr>
            <a:r>
              <a:rPr lang="en-US" sz="1150" dirty="0">
                <a:solidFill>
                  <a:srgbClr val="D5DAF5"/>
                </a:solidFill>
                <a:latin typeface="Calibri" pitchFamily="34" charset="0"/>
                <a:ea typeface="Calibri" pitchFamily="34" charset="-122"/>
                <a:cs typeface="Calibri" pitchFamily="34" charset="-120"/>
              </a:rPr>
              <a:t>       Pinnacle 21 · Phoenix · the EDC / CTMS / eTMF — never an LLM.</a:t>
            </a:r>
            <a:endParaRPr lang="en-US" sz="1150" dirty="0"/>
          </a:p>
          <a:p>
            <a:pPr indent="0" marL="0">
              <a:lnSpc>
                <a:spcPct val="100000"/>
              </a:lnSpc>
              <a:buNone/>
            </a:pPr>
            <a:r>
              <a:rPr lang="en-US" sz="1150" b="1" dirty="0">
                <a:solidFill>
                  <a:srgbClr val="FFFFFF"/>
                </a:solidFill>
                <a:latin typeface="Calibri" pitchFamily="34" charset="0"/>
                <a:ea typeface="Calibri" pitchFamily="34" charset="-122"/>
                <a:cs typeface="Calibri" pitchFamily="34" charset="-120"/>
              </a:rPr>
              <a:t>3.  A human approves any change to a regulated record or timeline</a:t>
            </a:r>
            <a:endParaRPr lang="en-US" sz="1150" dirty="0"/>
          </a:p>
          <a:p>
            <a:pPr indent="0" marL="0">
              <a:lnSpc>
                <a:spcPct val="100000"/>
              </a:lnSpc>
              <a:buNone/>
            </a:pPr>
            <a:r>
              <a:rPr lang="en-US" sz="1150" dirty="0">
                <a:solidFill>
                  <a:srgbClr val="D5DAF5"/>
                </a:solidFill>
                <a:latin typeface="Calibri" pitchFamily="34" charset="0"/>
                <a:ea typeface="Calibri" pitchFamily="34" charset="-122"/>
                <a:cs typeface="Calibri" pitchFamily="34" charset="-120"/>
              </a:rPr>
              <a:t>       via the approval queue, with a 21 CFR Part 11 audit trail.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4338CA"/>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USE CASES · PROJECT &amp; TIMELINE</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Smartsheet runs the plan; the AI keeps it current</a:t>
            </a:r>
            <a:endParaRPr lang="en-US" sz="2600" dirty="0"/>
          </a:p>
        </p:txBody>
      </p:sp>
      <p:sp>
        <p:nvSpPr>
          <p:cNvPr id="5" name="Text 3"/>
          <p:cNvSpPr/>
          <p:nvPr/>
        </p:nvSpPr>
        <p:spPr>
          <a:xfrm>
            <a:off x="822960" y="1417320"/>
            <a:ext cx="10515600" cy="502920"/>
          </a:xfrm>
          <a:prstGeom prst="rect">
            <a:avLst/>
          </a:prstGeom>
          <a:noFill/>
          <a:ln/>
        </p:spPr>
        <p:txBody>
          <a:bodyPr wrap="square" lIns="0" tIns="0" rIns="0" bIns="0" rtlCol="0" anchor="ctr"/>
          <a:lstStyle/>
          <a:p>
            <a:pPr indent="0" marL="0">
              <a:lnSpc>
                <a:spcPct val="103000"/>
              </a:lnSpc>
              <a:buNone/>
            </a:pPr>
            <a:r>
              <a:rPr lang="en-US" sz="1300" i="1" dirty="0">
                <a:solidFill>
                  <a:srgbClr val="5A607E"/>
                </a:solidFill>
                <a:latin typeface="Calibri" pitchFamily="34" charset="0"/>
                <a:ea typeface="Calibri" pitchFamily="34" charset="-122"/>
                <a:cs typeface="Calibri" pitchFamily="34" charset="-120"/>
              </a:rPr>
              <a:t>12 automations. Smartsheet's engine computes the critical path; the AI explains, prioritizes, and proposes — the PM approves before any committed-date write.</a:t>
            </a:r>
            <a:endParaRPr lang="en-US" sz="1300" dirty="0"/>
          </a:p>
        </p:txBody>
      </p:sp>
      <p:sp>
        <p:nvSpPr>
          <p:cNvPr id="6" name="Shape 4"/>
          <p:cNvSpPr/>
          <p:nvPr/>
        </p:nvSpPr>
        <p:spPr>
          <a:xfrm>
            <a:off x="640080" y="2103120"/>
            <a:ext cx="10881360" cy="713232"/>
          </a:xfrm>
          <a:prstGeom prst="rect">
            <a:avLst/>
          </a:prstGeom>
          <a:solidFill>
            <a:srgbClr val="F4F5FB"/>
          </a:solidFill>
          <a:ln w="12700">
            <a:solidFill>
              <a:srgbClr val="E0E3F1"/>
            </a:solidFill>
            <a:prstDash val="solid"/>
          </a:ln>
        </p:spPr>
      </p:sp>
      <p:sp>
        <p:nvSpPr>
          <p:cNvPr id="7" name="Shape 5"/>
          <p:cNvSpPr/>
          <p:nvPr/>
        </p:nvSpPr>
        <p:spPr>
          <a:xfrm>
            <a:off x="640080" y="2103120"/>
            <a:ext cx="91440" cy="713232"/>
          </a:xfrm>
          <a:prstGeom prst="rect">
            <a:avLst/>
          </a:prstGeom>
          <a:solidFill>
            <a:srgbClr val="4338CA"/>
          </a:solidFill>
          <a:ln/>
        </p:spPr>
      </p:sp>
      <p:sp>
        <p:nvSpPr>
          <p:cNvPr id="8" name="Text 6"/>
          <p:cNvSpPr/>
          <p:nvPr/>
        </p:nvSpPr>
        <p:spPr>
          <a:xfrm>
            <a:off x="960120" y="2176272"/>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Critical-path tracking</a:t>
            </a:r>
            <a:endParaRPr lang="en-US" sz="1400" dirty="0"/>
          </a:p>
        </p:txBody>
      </p:sp>
      <p:sp>
        <p:nvSpPr>
          <p:cNvPr id="9" name="Text 7"/>
          <p:cNvSpPr/>
          <p:nvPr/>
        </p:nvSpPr>
        <p:spPr>
          <a:xfrm>
            <a:off x="4480560" y="2176272"/>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Nightly + on any change: recompute float, flag tasks now driving the finish, explain what moved.</a:t>
            </a:r>
            <a:endParaRPr lang="en-US" sz="1150" dirty="0"/>
          </a:p>
        </p:txBody>
      </p:sp>
      <p:sp>
        <p:nvSpPr>
          <p:cNvPr id="10" name="Shape 8"/>
          <p:cNvSpPr/>
          <p:nvPr/>
        </p:nvSpPr>
        <p:spPr>
          <a:xfrm>
            <a:off x="640080" y="2944368"/>
            <a:ext cx="10881360" cy="713232"/>
          </a:xfrm>
          <a:prstGeom prst="rect">
            <a:avLst/>
          </a:prstGeom>
          <a:solidFill>
            <a:srgbClr val="F4F5FB"/>
          </a:solidFill>
          <a:ln w="12700">
            <a:solidFill>
              <a:srgbClr val="E0E3F1"/>
            </a:solidFill>
            <a:prstDash val="solid"/>
          </a:ln>
        </p:spPr>
      </p:sp>
      <p:sp>
        <p:nvSpPr>
          <p:cNvPr id="11" name="Shape 9"/>
          <p:cNvSpPr/>
          <p:nvPr/>
        </p:nvSpPr>
        <p:spPr>
          <a:xfrm>
            <a:off x="640080" y="2944368"/>
            <a:ext cx="91440" cy="713232"/>
          </a:xfrm>
          <a:prstGeom prst="rect">
            <a:avLst/>
          </a:prstGeom>
          <a:solidFill>
            <a:srgbClr val="4338CA"/>
          </a:solidFill>
          <a:ln/>
        </p:spPr>
      </p:sp>
      <p:sp>
        <p:nvSpPr>
          <p:cNvPr id="12" name="Text 10"/>
          <p:cNvSpPr/>
          <p:nvPr/>
        </p:nvSpPr>
        <p:spPr>
          <a:xfrm>
            <a:off x="960120" y="3017520"/>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Data-cut / lock cascade</a:t>
            </a:r>
            <a:endParaRPr lang="en-US" sz="1400" dirty="0"/>
          </a:p>
        </p:txBody>
      </p:sp>
      <p:sp>
        <p:nvSpPr>
          <p:cNvPr id="13" name="Text 11"/>
          <p:cNvSpPr/>
          <p:nvPr/>
        </p:nvSpPr>
        <p:spPr>
          <a:xfrm>
            <a:off x="4480560" y="3017520"/>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On the event: recompute downstream dates, draft 'you're now blocked' alerts, post to the approval queue.</a:t>
            </a:r>
            <a:endParaRPr lang="en-US" sz="1150" dirty="0"/>
          </a:p>
        </p:txBody>
      </p:sp>
      <p:sp>
        <p:nvSpPr>
          <p:cNvPr id="14" name="Shape 12"/>
          <p:cNvSpPr/>
          <p:nvPr/>
        </p:nvSpPr>
        <p:spPr>
          <a:xfrm>
            <a:off x="640080" y="3785616"/>
            <a:ext cx="10881360" cy="713232"/>
          </a:xfrm>
          <a:prstGeom prst="rect">
            <a:avLst/>
          </a:prstGeom>
          <a:solidFill>
            <a:srgbClr val="F4F5FB"/>
          </a:solidFill>
          <a:ln w="12700">
            <a:solidFill>
              <a:srgbClr val="E0E3F1"/>
            </a:solidFill>
            <a:prstDash val="solid"/>
          </a:ln>
        </p:spPr>
      </p:sp>
      <p:sp>
        <p:nvSpPr>
          <p:cNvPr id="15" name="Shape 13"/>
          <p:cNvSpPr/>
          <p:nvPr/>
        </p:nvSpPr>
        <p:spPr>
          <a:xfrm>
            <a:off x="640080" y="3785616"/>
            <a:ext cx="91440" cy="713232"/>
          </a:xfrm>
          <a:prstGeom prst="rect">
            <a:avLst/>
          </a:prstGeom>
          <a:solidFill>
            <a:srgbClr val="4338CA"/>
          </a:solidFill>
          <a:ln/>
        </p:spPr>
      </p:sp>
      <p:sp>
        <p:nvSpPr>
          <p:cNvPr id="16" name="Text 14"/>
          <p:cNvSpPr/>
          <p:nvPr/>
        </p:nvSpPr>
        <p:spPr>
          <a:xfrm>
            <a:off x="960120" y="3858768"/>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Status reports</a:t>
            </a:r>
            <a:endParaRPr lang="en-US" sz="1400" dirty="0"/>
          </a:p>
        </p:txBody>
      </p:sp>
      <p:sp>
        <p:nvSpPr>
          <p:cNvPr id="17" name="Text 15"/>
          <p:cNvSpPr/>
          <p:nvPr/>
        </p:nvSpPr>
        <p:spPr>
          <a:xfrm>
            <a:off x="4480560" y="3858768"/>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Weekly/monthly: drafted in the house template from the plan-of-record — numbers from systems of record.</a:t>
            </a:r>
            <a:endParaRPr lang="en-US" sz="1150" dirty="0"/>
          </a:p>
        </p:txBody>
      </p:sp>
      <p:sp>
        <p:nvSpPr>
          <p:cNvPr id="18" name="Shape 16"/>
          <p:cNvSpPr/>
          <p:nvPr/>
        </p:nvSpPr>
        <p:spPr>
          <a:xfrm>
            <a:off x="640080" y="4626864"/>
            <a:ext cx="10881360" cy="713232"/>
          </a:xfrm>
          <a:prstGeom prst="rect">
            <a:avLst/>
          </a:prstGeom>
          <a:solidFill>
            <a:srgbClr val="F4F5FB"/>
          </a:solidFill>
          <a:ln w="12700">
            <a:solidFill>
              <a:srgbClr val="E0E3F1"/>
            </a:solidFill>
            <a:prstDash val="solid"/>
          </a:ln>
        </p:spPr>
      </p:sp>
      <p:sp>
        <p:nvSpPr>
          <p:cNvPr id="19" name="Shape 17"/>
          <p:cNvSpPr/>
          <p:nvPr/>
        </p:nvSpPr>
        <p:spPr>
          <a:xfrm>
            <a:off x="640080" y="4626864"/>
            <a:ext cx="91440" cy="713232"/>
          </a:xfrm>
          <a:prstGeom prst="rect">
            <a:avLst/>
          </a:prstGeom>
          <a:solidFill>
            <a:srgbClr val="4338CA"/>
          </a:solidFill>
          <a:ln/>
        </p:spPr>
      </p:sp>
      <p:sp>
        <p:nvSpPr>
          <p:cNvPr id="20" name="Text 18"/>
          <p:cNvSpPr/>
          <p:nvPr/>
        </p:nvSpPr>
        <p:spPr>
          <a:xfrm>
            <a:off x="960120" y="4700016"/>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Action &amp; decision capture</a:t>
            </a:r>
            <a:endParaRPr lang="en-US" sz="1400" dirty="0"/>
          </a:p>
        </p:txBody>
      </p:sp>
      <p:sp>
        <p:nvSpPr>
          <p:cNvPr id="21" name="Text 19"/>
          <p:cNvSpPr/>
          <p:nvPr/>
        </p:nvSpPr>
        <p:spPr>
          <a:xfrm>
            <a:off x="4480560" y="4700016"/>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From email/meetings (local model): extract owners, due dates, decisions; de-dupe against the log.</a:t>
            </a:r>
            <a:endParaRPr lang="en-US" sz="1150" dirty="0"/>
          </a:p>
        </p:txBody>
      </p:sp>
      <p:sp>
        <p:nvSpPr>
          <p:cNvPr id="22" name="Text 20"/>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Smartsheet API + webhooks · CTMS · Outlook/Teams · RAG (charter / plan-of-record). Tier: mostly AMBER — committed dates need PM approval.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0E7C86"/>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USE CASES · eTMF &amp; DOCUMENTS</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Filing, completeness, and SOP knowledge</a:t>
            </a:r>
            <a:endParaRPr lang="en-US" sz="2600" dirty="0"/>
          </a:p>
        </p:txBody>
      </p:sp>
      <p:sp>
        <p:nvSpPr>
          <p:cNvPr id="5" name="Text 3"/>
          <p:cNvSpPr/>
          <p:nvPr/>
        </p:nvSpPr>
        <p:spPr>
          <a:xfrm>
            <a:off x="822960" y="1417320"/>
            <a:ext cx="10515600" cy="502920"/>
          </a:xfrm>
          <a:prstGeom prst="rect">
            <a:avLst/>
          </a:prstGeom>
          <a:noFill/>
          <a:ln/>
        </p:spPr>
        <p:txBody>
          <a:bodyPr wrap="square" lIns="0" tIns="0" rIns="0" bIns="0" rtlCol="0" anchor="ctr"/>
          <a:lstStyle/>
          <a:p>
            <a:pPr indent="0" marL="0">
              <a:lnSpc>
                <a:spcPct val="103000"/>
              </a:lnSpc>
              <a:buNone/>
            </a:pPr>
            <a:r>
              <a:rPr lang="en-US" sz="1300" i="1" dirty="0">
                <a:solidFill>
                  <a:srgbClr val="5A607E"/>
                </a:solidFill>
                <a:latin typeface="Calibri" pitchFamily="34" charset="0"/>
                <a:ea typeface="Calibri" pitchFamily="34" charset="-122"/>
                <a:cs typeface="Calibri" pitchFamily="34" charset="-120"/>
              </a:rPr>
              <a:t>12 automations. Filing to the record-of-truth is human-approved; RAG answers over your SOPs are cited and advisory.</a:t>
            </a:r>
            <a:endParaRPr lang="en-US" sz="1300" dirty="0"/>
          </a:p>
        </p:txBody>
      </p:sp>
      <p:sp>
        <p:nvSpPr>
          <p:cNvPr id="6" name="Shape 4"/>
          <p:cNvSpPr/>
          <p:nvPr/>
        </p:nvSpPr>
        <p:spPr>
          <a:xfrm>
            <a:off x="640080" y="2103120"/>
            <a:ext cx="10881360" cy="713232"/>
          </a:xfrm>
          <a:prstGeom prst="rect">
            <a:avLst/>
          </a:prstGeom>
          <a:solidFill>
            <a:srgbClr val="F4F5FB"/>
          </a:solidFill>
          <a:ln w="12700">
            <a:solidFill>
              <a:srgbClr val="E0E3F1"/>
            </a:solidFill>
            <a:prstDash val="solid"/>
          </a:ln>
        </p:spPr>
      </p:sp>
      <p:sp>
        <p:nvSpPr>
          <p:cNvPr id="7" name="Shape 5"/>
          <p:cNvSpPr/>
          <p:nvPr/>
        </p:nvSpPr>
        <p:spPr>
          <a:xfrm>
            <a:off x="640080" y="2103120"/>
            <a:ext cx="91440" cy="713232"/>
          </a:xfrm>
          <a:prstGeom prst="rect">
            <a:avLst/>
          </a:prstGeom>
          <a:solidFill>
            <a:srgbClr val="0E7C86"/>
          </a:solidFill>
          <a:ln/>
        </p:spPr>
      </p:sp>
      <p:sp>
        <p:nvSpPr>
          <p:cNvPr id="8" name="Text 6"/>
          <p:cNvSpPr/>
          <p:nvPr/>
        </p:nvSpPr>
        <p:spPr>
          <a:xfrm>
            <a:off x="960120" y="2176272"/>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Auto-classify &amp; file</a:t>
            </a:r>
            <a:endParaRPr lang="en-US" sz="1400" dirty="0"/>
          </a:p>
        </p:txBody>
      </p:sp>
      <p:sp>
        <p:nvSpPr>
          <p:cNvPr id="9" name="Text 7"/>
          <p:cNvSpPr/>
          <p:nvPr/>
        </p:nvSpPr>
        <p:spPr>
          <a:xfrm>
            <a:off x="4480560" y="2176272"/>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Propose TMF Reference Model zone/artifact for each document; flag likely duplicates → controller approves.</a:t>
            </a:r>
            <a:endParaRPr lang="en-US" sz="1150" dirty="0"/>
          </a:p>
        </p:txBody>
      </p:sp>
      <p:sp>
        <p:nvSpPr>
          <p:cNvPr id="10" name="Shape 8"/>
          <p:cNvSpPr/>
          <p:nvPr/>
        </p:nvSpPr>
        <p:spPr>
          <a:xfrm>
            <a:off x="640080" y="2944368"/>
            <a:ext cx="10881360" cy="713232"/>
          </a:xfrm>
          <a:prstGeom prst="rect">
            <a:avLst/>
          </a:prstGeom>
          <a:solidFill>
            <a:srgbClr val="F4F5FB"/>
          </a:solidFill>
          <a:ln w="12700">
            <a:solidFill>
              <a:srgbClr val="E0E3F1"/>
            </a:solidFill>
            <a:prstDash val="solid"/>
          </a:ln>
        </p:spPr>
      </p:sp>
      <p:sp>
        <p:nvSpPr>
          <p:cNvPr id="11" name="Shape 9"/>
          <p:cNvSpPr/>
          <p:nvPr/>
        </p:nvSpPr>
        <p:spPr>
          <a:xfrm>
            <a:off x="640080" y="2944368"/>
            <a:ext cx="91440" cy="713232"/>
          </a:xfrm>
          <a:prstGeom prst="rect">
            <a:avLst/>
          </a:prstGeom>
          <a:solidFill>
            <a:srgbClr val="0E7C86"/>
          </a:solidFill>
          <a:ln/>
        </p:spPr>
      </p:sp>
      <p:sp>
        <p:nvSpPr>
          <p:cNvPr id="12" name="Text 10"/>
          <p:cNvSpPr/>
          <p:nvPr/>
        </p:nvSpPr>
        <p:spPr>
          <a:xfrm>
            <a:off x="960120" y="3017520"/>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Completeness &amp; expiry</a:t>
            </a:r>
            <a:endParaRPr lang="en-US" sz="1400" dirty="0"/>
          </a:p>
        </p:txBody>
      </p:sp>
      <p:sp>
        <p:nvSpPr>
          <p:cNvPr id="13" name="Text 11"/>
          <p:cNvSpPr/>
          <p:nvPr/>
        </p:nvSpPr>
        <p:spPr>
          <a:xfrm>
            <a:off x="4480560" y="3017520"/>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Detect missing TMF artifacts and expiring CVs / training / licenses; alert owners.</a:t>
            </a:r>
            <a:endParaRPr lang="en-US" sz="1150" dirty="0"/>
          </a:p>
        </p:txBody>
      </p:sp>
      <p:sp>
        <p:nvSpPr>
          <p:cNvPr id="14" name="Shape 12"/>
          <p:cNvSpPr/>
          <p:nvPr/>
        </p:nvSpPr>
        <p:spPr>
          <a:xfrm>
            <a:off x="640080" y="3785616"/>
            <a:ext cx="10881360" cy="713232"/>
          </a:xfrm>
          <a:prstGeom prst="rect">
            <a:avLst/>
          </a:prstGeom>
          <a:solidFill>
            <a:srgbClr val="F4F5FB"/>
          </a:solidFill>
          <a:ln w="12700">
            <a:solidFill>
              <a:srgbClr val="E0E3F1"/>
            </a:solidFill>
            <a:prstDash val="solid"/>
          </a:ln>
        </p:spPr>
      </p:sp>
      <p:sp>
        <p:nvSpPr>
          <p:cNvPr id="15" name="Shape 13"/>
          <p:cNvSpPr/>
          <p:nvPr/>
        </p:nvSpPr>
        <p:spPr>
          <a:xfrm>
            <a:off x="640080" y="3785616"/>
            <a:ext cx="91440" cy="713232"/>
          </a:xfrm>
          <a:prstGeom prst="rect">
            <a:avLst/>
          </a:prstGeom>
          <a:solidFill>
            <a:srgbClr val="0E7C86"/>
          </a:solidFill>
          <a:ln/>
        </p:spPr>
      </p:sp>
      <p:sp>
        <p:nvSpPr>
          <p:cNvPr id="16" name="Text 14"/>
          <p:cNvSpPr/>
          <p:nvPr/>
        </p:nvSpPr>
        <p:spPr>
          <a:xfrm>
            <a:off x="960120" y="3858768"/>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SOP / WI ingestion (RAG)</a:t>
            </a:r>
            <a:endParaRPr lang="en-US" sz="1400" dirty="0"/>
          </a:p>
        </p:txBody>
      </p:sp>
      <p:sp>
        <p:nvSpPr>
          <p:cNvPr id="17" name="Text 15"/>
          <p:cNvSpPr/>
          <p:nvPr/>
        </p:nvSpPr>
        <p:spPr>
          <a:xfrm>
            <a:off x="4480560" y="3858768"/>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Approved SOPs embedded into the local store for grounded, cited compliance Q&amp;A.</a:t>
            </a:r>
            <a:endParaRPr lang="en-US" sz="1150" dirty="0"/>
          </a:p>
        </p:txBody>
      </p:sp>
      <p:sp>
        <p:nvSpPr>
          <p:cNvPr id="18" name="Shape 16"/>
          <p:cNvSpPr/>
          <p:nvPr/>
        </p:nvSpPr>
        <p:spPr>
          <a:xfrm>
            <a:off x="640080" y="4626864"/>
            <a:ext cx="10881360" cy="713232"/>
          </a:xfrm>
          <a:prstGeom prst="rect">
            <a:avLst/>
          </a:prstGeom>
          <a:solidFill>
            <a:srgbClr val="F4F5FB"/>
          </a:solidFill>
          <a:ln w="12700">
            <a:solidFill>
              <a:srgbClr val="E0E3F1"/>
            </a:solidFill>
            <a:prstDash val="solid"/>
          </a:ln>
        </p:spPr>
      </p:sp>
      <p:sp>
        <p:nvSpPr>
          <p:cNvPr id="19" name="Shape 17"/>
          <p:cNvSpPr/>
          <p:nvPr/>
        </p:nvSpPr>
        <p:spPr>
          <a:xfrm>
            <a:off x="640080" y="4626864"/>
            <a:ext cx="91440" cy="713232"/>
          </a:xfrm>
          <a:prstGeom prst="rect">
            <a:avLst/>
          </a:prstGeom>
          <a:solidFill>
            <a:srgbClr val="0E7C86"/>
          </a:solidFill>
          <a:ln/>
        </p:spPr>
      </p:sp>
      <p:sp>
        <p:nvSpPr>
          <p:cNvPr id="20" name="Text 18"/>
          <p:cNvSpPr/>
          <p:nvPr/>
        </p:nvSpPr>
        <p:spPr>
          <a:xfrm>
            <a:off x="960120" y="4700016"/>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Inspection readiness</a:t>
            </a:r>
            <a:endParaRPr lang="en-US" sz="1400" dirty="0"/>
          </a:p>
        </p:txBody>
      </p:sp>
      <p:sp>
        <p:nvSpPr>
          <p:cNvPr id="21" name="Text 19"/>
          <p:cNvSpPr/>
          <p:nvPr/>
        </p:nvSpPr>
        <p:spPr>
          <a:xfrm>
            <a:off x="4480560" y="4700016"/>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Gap analysis against the TMF model; PII/redaction check before any cloud use.</a:t>
            </a:r>
            <a:endParaRPr lang="en-US" sz="1150" dirty="0"/>
          </a:p>
        </p:txBody>
      </p:sp>
      <p:sp>
        <p:nvSpPr>
          <p:cNvPr id="22" name="Text 20"/>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DIA TMF Reference Model · eTMF (e.g. Veeva) API · local vector store. Tier: GREEN (RAG Q&amp;A) → RED (filing of record, human-approved).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C2891C"/>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USE CASES · DATA-VALIDITY QC  (the marquee)</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Recurrent QC triage at every stage</a:t>
            </a:r>
            <a:endParaRPr lang="en-US" sz="2600" dirty="0"/>
          </a:p>
        </p:txBody>
      </p:sp>
      <p:sp>
        <p:nvSpPr>
          <p:cNvPr id="5" name="Text 3"/>
          <p:cNvSpPr/>
          <p:nvPr/>
        </p:nvSpPr>
        <p:spPr>
          <a:xfrm>
            <a:off x="822960" y="1417320"/>
            <a:ext cx="10515600" cy="320040"/>
          </a:xfrm>
          <a:prstGeom prst="rect">
            <a:avLst/>
          </a:prstGeom>
          <a:noFill/>
          <a:ln/>
        </p:spPr>
        <p:txBody>
          <a:bodyPr wrap="square" lIns="0" tIns="0" rIns="0" bIns="0" rtlCol="0" anchor="ctr"/>
          <a:lstStyle/>
          <a:p>
            <a:pPr indent="0" marL="0">
              <a:buNone/>
            </a:pPr>
            <a:r>
              <a:rPr lang="en-US" sz="1300" i="1" dirty="0">
                <a:solidFill>
                  <a:srgbClr val="5A607E"/>
                </a:solidFill>
                <a:latin typeface="Calibri" pitchFamily="34" charset="0"/>
                <a:ea typeface="Calibri" pitchFamily="34" charset="-122"/>
                <a:cs typeface="Calibri" pitchFamily="34" charset="-120"/>
              </a:rPr>
              <a:t>12 automations. The validated tool produces pass/fail; the AI makes it usable — surfacing only what's new.</a:t>
            </a:r>
            <a:endParaRPr lang="en-US" sz="1300" dirty="0"/>
          </a:p>
        </p:txBody>
      </p:sp>
      <p:sp>
        <p:nvSpPr>
          <p:cNvPr id="6" name="Shape 4"/>
          <p:cNvSpPr/>
          <p:nvPr/>
        </p:nvSpPr>
        <p:spPr>
          <a:xfrm>
            <a:off x="640080" y="1965960"/>
            <a:ext cx="502920" cy="502920"/>
          </a:xfrm>
          <a:prstGeom prst="ellipse">
            <a:avLst/>
          </a:prstGeom>
          <a:solidFill>
            <a:srgbClr val="64748B"/>
          </a:solidFill>
          <a:ln/>
        </p:spPr>
      </p:sp>
      <p:sp>
        <p:nvSpPr>
          <p:cNvPr id="7" name="Text 5"/>
          <p:cNvSpPr/>
          <p:nvPr/>
        </p:nvSpPr>
        <p:spPr>
          <a:xfrm>
            <a:off x="64008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1325880" y="1920240"/>
            <a:ext cx="10058400" cy="594360"/>
          </a:xfrm>
          <a:prstGeom prst="rect">
            <a:avLst/>
          </a:prstGeom>
          <a:noFill/>
          <a:ln/>
        </p:spPr>
        <p:txBody>
          <a:bodyPr wrap="square" lIns="0" tIns="0" rIns="0" bIns="0" rtlCol="0" anchor="ctr"/>
          <a:lstStyle/>
          <a:p>
            <a:pPr indent="0" marL="0">
              <a:lnSpc>
                <a:spcPct val="100000"/>
              </a:lnSpc>
              <a:buNone/>
            </a:pPr>
            <a:r>
              <a:rPr lang="en-US" sz="1400" b="1" dirty="0">
                <a:solidFill>
                  <a:srgbClr val="1A1E33"/>
                </a:solidFill>
                <a:latin typeface="Calibri" pitchFamily="34" charset="0"/>
                <a:ea typeface="Calibri" pitchFamily="34" charset="-122"/>
                <a:cs typeface="Calibri" pitchFamily="34" charset="-120"/>
              </a:rPr>
              <a:t>Nightly build  </a:t>
            </a:r>
            <a:pPr indent="0" marL="0">
              <a:lnSpc>
                <a:spcPct val="100000"/>
              </a:lnSpc>
              <a:buNone/>
            </a:pPr>
            <a:r>
              <a:rPr lang="en-US" sz="1250" dirty="0">
                <a:solidFill>
                  <a:srgbClr val="5A607E"/>
                </a:solidFill>
                <a:latin typeface="Calibri" pitchFamily="34" charset="0"/>
                <a:ea typeface="Calibri" pitchFamily="34" charset="-122"/>
                <a:cs typeface="Calibri" pitchFamily="34" charset="-120"/>
              </a:rPr>
              <a:t>— A new SDTM / ADaM dataset lands</a:t>
            </a:r>
            <a:endParaRPr lang="en-US" sz="1400" dirty="0"/>
          </a:p>
        </p:txBody>
      </p:sp>
      <p:sp>
        <p:nvSpPr>
          <p:cNvPr id="9" name="Shape 7"/>
          <p:cNvSpPr/>
          <p:nvPr/>
        </p:nvSpPr>
        <p:spPr>
          <a:xfrm>
            <a:off x="640080" y="2734056"/>
            <a:ext cx="502920" cy="502920"/>
          </a:xfrm>
          <a:prstGeom prst="ellipse">
            <a:avLst/>
          </a:prstGeom>
          <a:solidFill>
            <a:srgbClr val="B5564B"/>
          </a:solidFill>
          <a:ln/>
        </p:spPr>
      </p:sp>
      <p:sp>
        <p:nvSpPr>
          <p:cNvPr id="10" name="Text 8"/>
          <p:cNvSpPr/>
          <p:nvPr/>
        </p:nvSpPr>
        <p:spPr>
          <a:xfrm>
            <a:off x="640080" y="273405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1325880" y="2688336"/>
            <a:ext cx="10058400" cy="594360"/>
          </a:xfrm>
          <a:prstGeom prst="rect">
            <a:avLst/>
          </a:prstGeom>
          <a:noFill/>
          <a:ln/>
        </p:spPr>
        <p:txBody>
          <a:bodyPr wrap="square" lIns="0" tIns="0" rIns="0" bIns="0" rtlCol="0" anchor="ctr"/>
          <a:lstStyle/>
          <a:p>
            <a:pPr indent="0" marL="0">
              <a:lnSpc>
                <a:spcPct val="100000"/>
              </a:lnSpc>
              <a:buNone/>
            </a:pPr>
            <a:r>
              <a:rPr lang="en-US" sz="1400" b="1" dirty="0">
                <a:solidFill>
                  <a:srgbClr val="1A1E33"/>
                </a:solidFill>
                <a:latin typeface="Calibri" pitchFamily="34" charset="0"/>
                <a:ea typeface="Calibri" pitchFamily="34" charset="-122"/>
                <a:cs typeface="Calibri" pitchFamily="34" charset="-120"/>
              </a:rPr>
              <a:t>Pinnacle 21 runs  </a:t>
            </a:r>
            <a:pPr indent="0" marL="0">
              <a:lnSpc>
                <a:spcPct val="100000"/>
              </a:lnSpc>
              <a:buNone/>
            </a:pPr>
            <a:r>
              <a:rPr lang="en-US" sz="1250" dirty="0">
                <a:solidFill>
                  <a:srgbClr val="5A607E"/>
                </a:solidFill>
                <a:latin typeface="Calibri" pitchFamily="34" charset="0"/>
                <a:ea typeface="Calibri" pitchFamily="34" charset="-122"/>
                <a:cs typeface="Calibri" pitchFamily="34" charset="-120"/>
              </a:rPr>
              <a:t>— Validated tool → authoritative Error / Warning / Notice list</a:t>
            </a:r>
            <a:endParaRPr lang="en-US" sz="1400" dirty="0"/>
          </a:p>
        </p:txBody>
      </p:sp>
      <p:sp>
        <p:nvSpPr>
          <p:cNvPr id="12" name="Shape 10"/>
          <p:cNvSpPr/>
          <p:nvPr/>
        </p:nvSpPr>
        <p:spPr>
          <a:xfrm>
            <a:off x="640080" y="3502152"/>
            <a:ext cx="502920" cy="502920"/>
          </a:xfrm>
          <a:prstGeom prst="ellipse">
            <a:avLst/>
          </a:prstGeom>
          <a:solidFill>
            <a:srgbClr val="0E7C86"/>
          </a:solidFill>
          <a:ln/>
        </p:spPr>
      </p:sp>
      <p:sp>
        <p:nvSpPr>
          <p:cNvPr id="13" name="Text 11"/>
          <p:cNvSpPr/>
          <p:nvPr/>
        </p:nvSpPr>
        <p:spPr>
          <a:xfrm>
            <a:off x="640080" y="350215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325880" y="3456432"/>
            <a:ext cx="10058400" cy="594360"/>
          </a:xfrm>
          <a:prstGeom prst="rect">
            <a:avLst/>
          </a:prstGeom>
          <a:noFill/>
          <a:ln/>
        </p:spPr>
        <p:txBody>
          <a:bodyPr wrap="square" lIns="0" tIns="0" rIns="0" bIns="0" rtlCol="0" anchor="ctr"/>
          <a:lstStyle/>
          <a:p>
            <a:pPr indent="0" marL="0">
              <a:lnSpc>
                <a:spcPct val="100000"/>
              </a:lnSpc>
              <a:buNone/>
            </a:pPr>
            <a:r>
              <a:rPr lang="en-US" sz="1400" b="1" dirty="0">
                <a:solidFill>
                  <a:srgbClr val="1A1E33"/>
                </a:solidFill>
                <a:latin typeface="Calibri" pitchFamily="34" charset="0"/>
                <a:ea typeface="Calibri" pitchFamily="34" charset="-122"/>
                <a:cs typeface="Calibri" pitchFamily="34" charset="-120"/>
              </a:rPr>
              <a:t>Local agent triages  </a:t>
            </a:r>
            <a:pPr indent="0" marL="0">
              <a:lnSpc>
                <a:spcPct val="100000"/>
              </a:lnSpc>
              <a:buNone/>
            </a:pPr>
            <a:r>
              <a:rPr lang="en-US" sz="1250" dirty="0">
                <a:solidFill>
                  <a:srgbClr val="5A607E"/>
                </a:solidFill>
                <a:latin typeface="Calibri" pitchFamily="34" charset="0"/>
                <a:ea typeface="Calibri" pitchFamily="34" charset="-122"/>
                <a:cs typeface="Calibri" pitchFamily="34" charset="-120"/>
              </a:rPr>
              <a:t>— Clusters by rule, diffs vs last clean run → only NEW findings; drafts disposition from the cSDRG/ADRG</a:t>
            </a:r>
            <a:endParaRPr lang="en-US" sz="1400" dirty="0"/>
          </a:p>
        </p:txBody>
      </p:sp>
      <p:sp>
        <p:nvSpPr>
          <p:cNvPr id="15" name="Shape 13"/>
          <p:cNvSpPr/>
          <p:nvPr/>
        </p:nvSpPr>
        <p:spPr>
          <a:xfrm>
            <a:off x="640080" y="4270248"/>
            <a:ext cx="502920" cy="502920"/>
          </a:xfrm>
          <a:prstGeom prst="ellipse">
            <a:avLst/>
          </a:prstGeom>
          <a:solidFill>
            <a:srgbClr val="4338CA"/>
          </a:solidFill>
          <a:ln/>
        </p:spPr>
      </p:sp>
      <p:sp>
        <p:nvSpPr>
          <p:cNvPr id="16" name="Text 14"/>
          <p:cNvSpPr/>
          <p:nvPr/>
        </p:nvSpPr>
        <p:spPr>
          <a:xfrm>
            <a:off x="640080" y="427024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17" name="Text 15"/>
          <p:cNvSpPr/>
          <p:nvPr/>
        </p:nvSpPr>
        <p:spPr>
          <a:xfrm>
            <a:off x="1325880" y="4224528"/>
            <a:ext cx="10058400" cy="594360"/>
          </a:xfrm>
          <a:prstGeom prst="rect">
            <a:avLst/>
          </a:prstGeom>
          <a:noFill/>
          <a:ln/>
        </p:spPr>
        <p:txBody>
          <a:bodyPr wrap="square" lIns="0" tIns="0" rIns="0" bIns="0" rtlCol="0" anchor="ctr"/>
          <a:lstStyle/>
          <a:p>
            <a:pPr indent="0" marL="0">
              <a:lnSpc>
                <a:spcPct val="100000"/>
              </a:lnSpc>
              <a:buNone/>
            </a:pPr>
            <a:r>
              <a:rPr lang="en-US" sz="1400" b="1" dirty="0">
                <a:solidFill>
                  <a:srgbClr val="1A1E33"/>
                </a:solidFill>
                <a:latin typeface="Calibri" pitchFamily="34" charset="0"/>
                <a:ea typeface="Calibri" pitchFamily="34" charset="-122"/>
                <a:cs typeface="Calibri" pitchFamily="34" charset="-120"/>
              </a:rPr>
              <a:t>Routed + audited  </a:t>
            </a:r>
            <a:pPr indent="0" marL="0">
              <a:lnSpc>
                <a:spcPct val="100000"/>
              </a:lnSpc>
              <a:buNone/>
            </a:pPr>
            <a:r>
              <a:rPr lang="en-US" sz="1250" dirty="0">
                <a:solidFill>
                  <a:srgbClr val="5A607E"/>
                </a:solidFill>
                <a:latin typeface="Calibri" pitchFamily="34" charset="0"/>
                <a:ea typeface="Calibri" pitchFamily="34" charset="-122"/>
                <a:cs typeface="Calibri" pitchFamily="34" charset="-120"/>
              </a:rPr>
              <a:t>— Each cluster sent to the right programmer; disposition log ready for the reviewer guide</a:t>
            </a:r>
            <a:endParaRPr lang="en-US" sz="1400" dirty="0"/>
          </a:p>
        </p:txBody>
      </p:sp>
      <p:sp>
        <p:nvSpPr>
          <p:cNvPr id="18" name="Shape 16"/>
          <p:cNvSpPr/>
          <p:nvPr/>
        </p:nvSpPr>
        <p:spPr>
          <a:xfrm>
            <a:off x="640080" y="5212080"/>
            <a:ext cx="10881360" cy="658368"/>
          </a:xfrm>
          <a:prstGeom prst="rect">
            <a:avLst/>
          </a:prstGeom>
          <a:solidFill>
            <a:srgbClr val="E7F6F0"/>
          </a:solidFill>
          <a:ln w="12700">
            <a:solidFill>
              <a:srgbClr val="CBE9DD"/>
            </a:solidFill>
            <a:prstDash val="solid"/>
          </a:ln>
        </p:spPr>
      </p:sp>
      <p:sp>
        <p:nvSpPr>
          <p:cNvPr id="19" name="Text 17"/>
          <p:cNvSpPr/>
          <p:nvPr/>
        </p:nvSpPr>
        <p:spPr>
          <a:xfrm>
            <a:off x="914400" y="5212080"/>
            <a:ext cx="10332720" cy="658368"/>
          </a:xfrm>
          <a:prstGeom prst="rect">
            <a:avLst/>
          </a:prstGeom>
          <a:noFill/>
          <a:ln/>
        </p:spPr>
        <p:txBody>
          <a:bodyPr wrap="square" lIns="0" tIns="0" rIns="0" bIns="0" rtlCol="0" anchor="ctr"/>
          <a:lstStyle/>
          <a:p>
            <a:pPr indent="0" marL="0">
              <a:buNone/>
            </a:pPr>
            <a:r>
              <a:rPr lang="en-US" sz="1250" b="1" dirty="0">
                <a:solidFill>
                  <a:srgbClr val="0B5C42"/>
                </a:solidFill>
                <a:latin typeface="Calibri" pitchFamily="34" charset="0"/>
                <a:ea typeface="Calibri" pitchFamily="34" charset="-122"/>
                <a:cs typeface="Calibri" pitchFamily="34" charset="-120"/>
              </a:rPr>
              <a:t>It never changes a verdict.  </a:t>
            </a:r>
            <a:pPr indent="0" marL="0">
              <a:buNone/>
            </a:pPr>
            <a:r>
              <a:rPr lang="en-US" sz="1250" dirty="0">
                <a:solidFill>
                  <a:srgbClr val="1A1E33"/>
                </a:solidFill>
                <a:latin typeface="Calibri" pitchFamily="34" charset="0"/>
                <a:ea typeface="Calibri" pitchFamily="34" charset="-122"/>
                <a:cs typeface="Calibri" pitchFamily="34" charset="-120"/>
              </a:rPr>
              <a:t>A 4-hour manual triage becomes a clean, pre-explained queue at 8 a.m. — participant-level data stays on the local model.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2F6DB5"/>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USE CASES · MONITORING &amp; RBQM</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Risk-based quality management, signalled</a:t>
            </a:r>
            <a:endParaRPr lang="en-US" sz="2600" dirty="0"/>
          </a:p>
        </p:txBody>
      </p:sp>
      <p:sp>
        <p:nvSpPr>
          <p:cNvPr id="5" name="Text 3"/>
          <p:cNvSpPr/>
          <p:nvPr/>
        </p:nvSpPr>
        <p:spPr>
          <a:xfrm>
            <a:off x="822960" y="1417320"/>
            <a:ext cx="10515600" cy="502920"/>
          </a:xfrm>
          <a:prstGeom prst="rect">
            <a:avLst/>
          </a:prstGeom>
          <a:noFill/>
          <a:ln/>
        </p:spPr>
        <p:txBody>
          <a:bodyPr wrap="square" lIns="0" tIns="0" rIns="0" bIns="0" rtlCol="0" anchor="ctr"/>
          <a:lstStyle/>
          <a:p>
            <a:pPr indent="0" marL="0">
              <a:lnSpc>
                <a:spcPct val="103000"/>
              </a:lnSpc>
              <a:buNone/>
            </a:pPr>
            <a:r>
              <a:rPr lang="en-US" sz="1300" i="1" dirty="0">
                <a:solidFill>
                  <a:srgbClr val="5A607E"/>
                </a:solidFill>
                <a:latin typeface="Calibri" pitchFamily="34" charset="0"/>
                <a:ea typeface="Calibri" pitchFamily="34" charset="-122"/>
                <a:cs typeface="Calibri" pitchFamily="34" charset="-120"/>
              </a:rPr>
              <a:t>12 automations under ICH E6(R3). Unblinded signals run on the local model; reported safety numbers come from validated tools with medical review.</a:t>
            </a:r>
            <a:endParaRPr lang="en-US" sz="1300" dirty="0"/>
          </a:p>
        </p:txBody>
      </p:sp>
      <p:sp>
        <p:nvSpPr>
          <p:cNvPr id="6" name="Shape 4"/>
          <p:cNvSpPr/>
          <p:nvPr/>
        </p:nvSpPr>
        <p:spPr>
          <a:xfrm>
            <a:off x="640080" y="2103120"/>
            <a:ext cx="10881360" cy="713232"/>
          </a:xfrm>
          <a:prstGeom prst="rect">
            <a:avLst/>
          </a:prstGeom>
          <a:solidFill>
            <a:srgbClr val="F4F5FB"/>
          </a:solidFill>
          <a:ln w="12700">
            <a:solidFill>
              <a:srgbClr val="E0E3F1"/>
            </a:solidFill>
            <a:prstDash val="solid"/>
          </a:ln>
        </p:spPr>
      </p:sp>
      <p:sp>
        <p:nvSpPr>
          <p:cNvPr id="7" name="Shape 5"/>
          <p:cNvSpPr/>
          <p:nvPr/>
        </p:nvSpPr>
        <p:spPr>
          <a:xfrm>
            <a:off x="640080" y="2103120"/>
            <a:ext cx="91440" cy="713232"/>
          </a:xfrm>
          <a:prstGeom prst="rect">
            <a:avLst/>
          </a:prstGeom>
          <a:solidFill>
            <a:srgbClr val="2F6DB5"/>
          </a:solidFill>
          <a:ln/>
        </p:spPr>
      </p:sp>
      <p:sp>
        <p:nvSpPr>
          <p:cNvPr id="8" name="Text 6"/>
          <p:cNvSpPr/>
          <p:nvPr/>
        </p:nvSpPr>
        <p:spPr>
          <a:xfrm>
            <a:off x="960120" y="2176272"/>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KRI / QTL breach signals</a:t>
            </a:r>
            <a:endParaRPr lang="en-US" sz="1400" dirty="0"/>
          </a:p>
        </p:txBody>
      </p:sp>
      <p:sp>
        <p:nvSpPr>
          <p:cNvPr id="9" name="Text 7"/>
          <p:cNvSpPr/>
          <p:nvPr/>
        </p:nvSpPr>
        <p:spPr>
          <a:xfrm>
            <a:off x="4480560" y="2176272"/>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Watch key risk indicators &amp; quality tolerance limits; flag threshold breaches with context.</a:t>
            </a:r>
            <a:endParaRPr lang="en-US" sz="1150" dirty="0"/>
          </a:p>
        </p:txBody>
      </p:sp>
      <p:sp>
        <p:nvSpPr>
          <p:cNvPr id="10" name="Shape 8"/>
          <p:cNvSpPr/>
          <p:nvPr/>
        </p:nvSpPr>
        <p:spPr>
          <a:xfrm>
            <a:off x="640080" y="2944368"/>
            <a:ext cx="10881360" cy="713232"/>
          </a:xfrm>
          <a:prstGeom prst="rect">
            <a:avLst/>
          </a:prstGeom>
          <a:solidFill>
            <a:srgbClr val="F4F5FB"/>
          </a:solidFill>
          <a:ln w="12700">
            <a:solidFill>
              <a:srgbClr val="E0E3F1"/>
            </a:solidFill>
            <a:prstDash val="solid"/>
          </a:ln>
        </p:spPr>
      </p:sp>
      <p:sp>
        <p:nvSpPr>
          <p:cNvPr id="11" name="Shape 9"/>
          <p:cNvSpPr/>
          <p:nvPr/>
        </p:nvSpPr>
        <p:spPr>
          <a:xfrm>
            <a:off x="640080" y="2944368"/>
            <a:ext cx="91440" cy="713232"/>
          </a:xfrm>
          <a:prstGeom prst="rect">
            <a:avLst/>
          </a:prstGeom>
          <a:solidFill>
            <a:srgbClr val="2F6DB5"/>
          </a:solidFill>
          <a:ln/>
        </p:spPr>
      </p:sp>
      <p:sp>
        <p:nvSpPr>
          <p:cNvPr id="12" name="Text 10"/>
          <p:cNvSpPr/>
          <p:nvPr/>
        </p:nvSpPr>
        <p:spPr>
          <a:xfrm>
            <a:off x="960120" y="3017520"/>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Central / statistical monitoring</a:t>
            </a:r>
            <a:endParaRPr lang="en-US" sz="1400" dirty="0"/>
          </a:p>
        </p:txBody>
      </p:sp>
      <p:sp>
        <p:nvSpPr>
          <p:cNvPr id="13" name="Text 11"/>
          <p:cNvSpPr/>
          <p:nvPr/>
        </p:nvSpPr>
        <p:spPr>
          <a:xfrm>
            <a:off x="4480560" y="3017520"/>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Site outliers, digit preference, enrollment &amp; visit anomalies surfaced for review.</a:t>
            </a:r>
            <a:endParaRPr lang="en-US" sz="1150" dirty="0"/>
          </a:p>
        </p:txBody>
      </p:sp>
      <p:sp>
        <p:nvSpPr>
          <p:cNvPr id="14" name="Shape 12"/>
          <p:cNvSpPr/>
          <p:nvPr/>
        </p:nvSpPr>
        <p:spPr>
          <a:xfrm>
            <a:off x="640080" y="3785616"/>
            <a:ext cx="10881360" cy="713232"/>
          </a:xfrm>
          <a:prstGeom prst="rect">
            <a:avLst/>
          </a:prstGeom>
          <a:solidFill>
            <a:srgbClr val="F4F5FB"/>
          </a:solidFill>
          <a:ln w="12700">
            <a:solidFill>
              <a:srgbClr val="E0E3F1"/>
            </a:solidFill>
            <a:prstDash val="solid"/>
          </a:ln>
        </p:spPr>
      </p:sp>
      <p:sp>
        <p:nvSpPr>
          <p:cNvPr id="15" name="Shape 13"/>
          <p:cNvSpPr/>
          <p:nvPr/>
        </p:nvSpPr>
        <p:spPr>
          <a:xfrm>
            <a:off x="640080" y="3785616"/>
            <a:ext cx="91440" cy="713232"/>
          </a:xfrm>
          <a:prstGeom prst="rect">
            <a:avLst/>
          </a:prstGeom>
          <a:solidFill>
            <a:srgbClr val="2F6DB5"/>
          </a:solidFill>
          <a:ln/>
        </p:spPr>
      </p:sp>
      <p:sp>
        <p:nvSpPr>
          <p:cNvPr id="16" name="Text 14"/>
          <p:cNvSpPr/>
          <p:nvPr/>
        </p:nvSpPr>
        <p:spPr>
          <a:xfrm>
            <a:off x="960120" y="3858768"/>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Deviation surveillance</a:t>
            </a:r>
            <a:endParaRPr lang="en-US" sz="1400" dirty="0"/>
          </a:p>
        </p:txBody>
      </p:sp>
      <p:sp>
        <p:nvSpPr>
          <p:cNvPr id="17" name="Text 15"/>
          <p:cNvSpPr/>
          <p:nvPr/>
        </p:nvSpPr>
        <p:spPr>
          <a:xfrm>
            <a:off x="4480560" y="3858768"/>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Detect &amp; classify protocol deviations; route for adjudication; track to closure.</a:t>
            </a:r>
            <a:endParaRPr lang="en-US" sz="1150" dirty="0"/>
          </a:p>
        </p:txBody>
      </p:sp>
      <p:sp>
        <p:nvSpPr>
          <p:cNvPr id="18" name="Shape 16"/>
          <p:cNvSpPr/>
          <p:nvPr/>
        </p:nvSpPr>
        <p:spPr>
          <a:xfrm>
            <a:off x="640080" y="4626864"/>
            <a:ext cx="10881360" cy="713232"/>
          </a:xfrm>
          <a:prstGeom prst="rect">
            <a:avLst/>
          </a:prstGeom>
          <a:solidFill>
            <a:srgbClr val="F4F5FB"/>
          </a:solidFill>
          <a:ln w="12700">
            <a:solidFill>
              <a:srgbClr val="E0E3F1"/>
            </a:solidFill>
            <a:prstDash val="solid"/>
          </a:ln>
        </p:spPr>
      </p:sp>
      <p:sp>
        <p:nvSpPr>
          <p:cNvPr id="19" name="Shape 17"/>
          <p:cNvSpPr/>
          <p:nvPr/>
        </p:nvSpPr>
        <p:spPr>
          <a:xfrm>
            <a:off x="640080" y="4626864"/>
            <a:ext cx="91440" cy="713232"/>
          </a:xfrm>
          <a:prstGeom prst="rect">
            <a:avLst/>
          </a:prstGeom>
          <a:solidFill>
            <a:srgbClr val="2F6DB5"/>
          </a:solidFill>
          <a:ln/>
        </p:spPr>
      </p:sp>
      <p:sp>
        <p:nvSpPr>
          <p:cNvPr id="20" name="Text 18"/>
          <p:cNvSpPr/>
          <p:nvPr/>
        </p:nvSpPr>
        <p:spPr>
          <a:xfrm>
            <a:off x="960120" y="4700016"/>
            <a:ext cx="3383280" cy="585216"/>
          </a:xfrm>
          <a:prstGeom prst="rect">
            <a:avLst/>
          </a:prstGeom>
          <a:noFill/>
          <a:ln/>
        </p:spPr>
        <p:txBody>
          <a:bodyPr wrap="square" lIns="0" tIns="0" rIns="0" bIns="0" rtlCol="0" anchor="ctr"/>
          <a:lstStyle/>
          <a:p>
            <a:pPr indent="0" marL="0">
              <a:buNone/>
            </a:pPr>
            <a:r>
              <a:rPr lang="en-US" sz="1400" b="1" dirty="0">
                <a:solidFill>
                  <a:srgbClr val="1A1E33"/>
                </a:solidFill>
                <a:latin typeface="Georgia" pitchFamily="34" charset="0"/>
                <a:ea typeface="Georgia" pitchFamily="34" charset="-122"/>
                <a:cs typeface="Georgia" pitchFamily="34" charset="-120"/>
              </a:rPr>
              <a:t>DSMB / safety packet assembly</a:t>
            </a:r>
            <a:endParaRPr lang="en-US" sz="1400" dirty="0"/>
          </a:p>
        </p:txBody>
      </p:sp>
      <p:sp>
        <p:nvSpPr>
          <p:cNvPr id="21" name="Text 19"/>
          <p:cNvSpPr/>
          <p:nvPr/>
        </p:nvSpPr>
        <p:spPr>
          <a:xfrm>
            <a:off x="4480560" y="4700016"/>
            <a:ext cx="6766560" cy="585216"/>
          </a:xfrm>
          <a:prstGeom prst="rect">
            <a:avLst/>
          </a:prstGeom>
          <a:noFill/>
          <a:ln/>
        </p:spPr>
        <p:txBody>
          <a:bodyPr wrap="square" lIns="0" tIns="0" rIns="0" bIns="0" rtlCol="0" anchor="ctr"/>
          <a:lstStyle/>
          <a:p>
            <a:pPr indent="0" marL="0">
              <a:lnSpc>
                <a:spcPct val="100000"/>
              </a:lnSpc>
              <a:buNone/>
            </a:pPr>
            <a:r>
              <a:rPr lang="en-US" sz="1150" dirty="0">
                <a:solidFill>
                  <a:srgbClr val="5A607E"/>
                </a:solidFill>
                <a:latin typeface="Calibri" pitchFamily="34" charset="0"/>
                <a:ea typeface="Calibri" pitchFamily="34" charset="-122"/>
                <a:cs typeface="Calibri" pitchFamily="34" charset="-120"/>
              </a:rPr>
              <a:t>Assemble the review packet; summarize MVRs; track follow-ups — medical review owns the call.</a:t>
            </a:r>
            <a:endParaRPr lang="en-US" sz="1150" dirty="0"/>
          </a:p>
        </p:txBody>
      </p:sp>
      <p:sp>
        <p:nvSpPr>
          <p:cNvPr id="22" name="Text 20"/>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EDC / CTMS · RBQM platform · local model for unblinded signals. Tier: AMBER signals → RED reported safety numbers (validated + medical).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4338CA"/>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HOW AN AGENT WORKS</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One loop, 75 automations</a:t>
            </a:r>
            <a:endParaRPr lang="en-US" sz="2600" dirty="0"/>
          </a:p>
        </p:txBody>
      </p:sp>
      <p:sp>
        <p:nvSpPr>
          <p:cNvPr id="5" name="Shape 3"/>
          <p:cNvSpPr/>
          <p:nvPr/>
        </p:nvSpPr>
        <p:spPr>
          <a:xfrm>
            <a:off x="731520" y="1554480"/>
            <a:ext cx="420624" cy="420624"/>
          </a:xfrm>
          <a:prstGeom prst="ellipse">
            <a:avLst/>
          </a:prstGeom>
          <a:solidFill>
            <a:srgbClr val="4338CA"/>
          </a:solidFill>
          <a:ln/>
        </p:spPr>
      </p:sp>
      <p:sp>
        <p:nvSpPr>
          <p:cNvPr id="6" name="Text 4"/>
          <p:cNvSpPr/>
          <p:nvPr/>
        </p:nvSpPr>
        <p:spPr>
          <a:xfrm>
            <a:off x="731520" y="15544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325880" y="1508760"/>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Trigger   </a:t>
            </a:r>
            <a:pPr indent="0" marL="0">
              <a:buNone/>
            </a:pPr>
            <a:r>
              <a:rPr lang="en-US" sz="1300" dirty="0">
                <a:solidFill>
                  <a:srgbClr val="5A607E"/>
                </a:solidFill>
                <a:latin typeface="Calibri" pitchFamily="34" charset="0"/>
                <a:ea typeface="Calibri" pitchFamily="34" charset="-122"/>
                <a:cs typeface="Calibri" pitchFamily="34" charset="-120"/>
              </a:rPr>
              <a:t>schedule or study event</a:t>
            </a:r>
            <a:endParaRPr lang="en-US" sz="1500" dirty="0"/>
          </a:p>
        </p:txBody>
      </p:sp>
      <p:sp>
        <p:nvSpPr>
          <p:cNvPr id="8" name="Shape 6"/>
          <p:cNvSpPr/>
          <p:nvPr/>
        </p:nvSpPr>
        <p:spPr>
          <a:xfrm>
            <a:off x="941832" y="1975104"/>
            <a:ext cx="0" cy="182880"/>
          </a:xfrm>
          <a:prstGeom prst="line">
            <a:avLst/>
          </a:prstGeom>
          <a:noFill/>
          <a:ln w="19050">
            <a:solidFill>
              <a:srgbClr val="C7C9E8"/>
            </a:solidFill>
            <a:prstDash val="solid"/>
          </a:ln>
        </p:spPr>
      </p:sp>
      <p:sp>
        <p:nvSpPr>
          <p:cNvPr id="9" name="Shape 7"/>
          <p:cNvSpPr/>
          <p:nvPr/>
        </p:nvSpPr>
        <p:spPr>
          <a:xfrm>
            <a:off x="731520" y="2157984"/>
            <a:ext cx="420624" cy="420624"/>
          </a:xfrm>
          <a:prstGeom prst="ellipse">
            <a:avLst/>
          </a:prstGeom>
          <a:solidFill>
            <a:srgbClr val="4338CA"/>
          </a:solidFill>
          <a:ln/>
        </p:spPr>
      </p:sp>
      <p:sp>
        <p:nvSpPr>
          <p:cNvPr id="10" name="Text 8"/>
          <p:cNvSpPr/>
          <p:nvPr/>
        </p:nvSpPr>
        <p:spPr>
          <a:xfrm>
            <a:off x="731520" y="215798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325880" y="2112264"/>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Gather context   </a:t>
            </a:r>
            <a:pPr indent="0" marL="0">
              <a:buNone/>
            </a:pPr>
            <a:r>
              <a:rPr lang="en-US" sz="1300" dirty="0">
                <a:solidFill>
                  <a:srgbClr val="5A607E"/>
                </a:solidFill>
                <a:latin typeface="Calibri" pitchFamily="34" charset="0"/>
                <a:ea typeface="Calibri" pitchFamily="34" charset="-122"/>
                <a:cs typeface="Calibri" pitchFamily="34" charset="-120"/>
              </a:rPr>
              <a:t>connectors (read) + RAG (cited)</a:t>
            </a:r>
            <a:endParaRPr lang="en-US" sz="1500" dirty="0"/>
          </a:p>
        </p:txBody>
      </p:sp>
      <p:sp>
        <p:nvSpPr>
          <p:cNvPr id="12" name="Shape 10"/>
          <p:cNvSpPr/>
          <p:nvPr/>
        </p:nvSpPr>
        <p:spPr>
          <a:xfrm>
            <a:off x="941832" y="2578608"/>
            <a:ext cx="0" cy="182880"/>
          </a:xfrm>
          <a:prstGeom prst="line">
            <a:avLst/>
          </a:prstGeom>
          <a:noFill/>
          <a:ln w="19050">
            <a:solidFill>
              <a:srgbClr val="C7C9E8"/>
            </a:solidFill>
            <a:prstDash val="solid"/>
          </a:ln>
        </p:spPr>
      </p:sp>
      <p:sp>
        <p:nvSpPr>
          <p:cNvPr id="13" name="Shape 11"/>
          <p:cNvSpPr/>
          <p:nvPr/>
        </p:nvSpPr>
        <p:spPr>
          <a:xfrm>
            <a:off x="731520" y="2761488"/>
            <a:ext cx="420624" cy="420624"/>
          </a:xfrm>
          <a:prstGeom prst="ellipse">
            <a:avLst/>
          </a:prstGeom>
          <a:solidFill>
            <a:srgbClr val="4338CA"/>
          </a:solidFill>
          <a:ln/>
        </p:spPr>
      </p:sp>
      <p:sp>
        <p:nvSpPr>
          <p:cNvPr id="14" name="Text 12"/>
          <p:cNvSpPr/>
          <p:nvPr/>
        </p:nvSpPr>
        <p:spPr>
          <a:xfrm>
            <a:off x="731520" y="27614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325880" y="2715768"/>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Classify &amp; route   </a:t>
            </a:r>
            <a:pPr indent="0" marL="0">
              <a:buNone/>
            </a:pPr>
            <a:r>
              <a:rPr lang="en-US" sz="1300" dirty="0">
                <a:solidFill>
                  <a:srgbClr val="5A607E"/>
                </a:solidFill>
                <a:latin typeface="Calibri" pitchFamily="34" charset="0"/>
                <a:ea typeface="Calibri" pitchFamily="34" charset="-122"/>
                <a:cs typeface="Calibri" pitchFamily="34" charset="-120"/>
              </a:rPr>
              <a:t>sensitivity → local or cloud, via gateway</a:t>
            </a:r>
            <a:endParaRPr lang="en-US" sz="1500" dirty="0"/>
          </a:p>
        </p:txBody>
      </p:sp>
      <p:sp>
        <p:nvSpPr>
          <p:cNvPr id="16" name="Shape 14"/>
          <p:cNvSpPr/>
          <p:nvPr/>
        </p:nvSpPr>
        <p:spPr>
          <a:xfrm>
            <a:off x="941832" y="3182112"/>
            <a:ext cx="0" cy="182880"/>
          </a:xfrm>
          <a:prstGeom prst="line">
            <a:avLst/>
          </a:prstGeom>
          <a:noFill/>
          <a:ln w="19050">
            <a:solidFill>
              <a:srgbClr val="C7C9E8"/>
            </a:solidFill>
            <a:prstDash val="solid"/>
          </a:ln>
        </p:spPr>
      </p:sp>
      <p:sp>
        <p:nvSpPr>
          <p:cNvPr id="17" name="Shape 15"/>
          <p:cNvSpPr/>
          <p:nvPr/>
        </p:nvSpPr>
        <p:spPr>
          <a:xfrm>
            <a:off x="731520" y="3364992"/>
            <a:ext cx="420624" cy="420624"/>
          </a:xfrm>
          <a:prstGeom prst="ellipse">
            <a:avLst/>
          </a:prstGeom>
          <a:solidFill>
            <a:srgbClr val="4338CA"/>
          </a:solidFill>
          <a:ln/>
        </p:spPr>
      </p:sp>
      <p:sp>
        <p:nvSpPr>
          <p:cNvPr id="18" name="Text 16"/>
          <p:cNvSpPr/>
          <p:nvPr/>
        </p:nvSpPr>
        <p:spPr>
          <a:xfrm>
            <a:off x="731520" y="33649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325880" y="3319272"/>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Reason   </a:t>
            </a:r>
            <a:pPr indent="0" marL="0">
              <a:buNone/>
            </a:pPr>
            <a:r>
              <a:rPr lang="en-US" sz="1300" dirty="0">
                <a:solidFill>
                  <a:srgbClr val="5A607E"/>
                </a:solidFill>
                <a:latin typeface="Calibri" pitchFamily="34" charset="0"/>
                <a:ea typeface="Calibri" pitchFamily="34" charset="-122"/>
                <a:cs typeface="Calibri" pitchFamily="34" charset="-120"/>
              </a:rPr>
              <a:t>draft / classify / triage / summarize</a:t>
            </a:r>
            <a:endParaRPr lang="en-US" sz="1500" dirty="0"/>
          </a:p>
        </p:txBody>
      </p:sp>
      <p:sp>
        <p:nvSpPr>
          <p:cNvPr id="20" name="Shape 18"/>
          <p:cNvSpPr/>
          <p:nvPr/>
        </p:nvSpPr>
        <p:spPr>
          <a:xfrm>
            <a:off x="941832" y="3785616"/>
            <a:ext cx="0" cy="182880"/>
          </a:xfrm>
          <a:prstGeom prst="line">
            <a:avLst/>
          </a:prstGeom>
          <a:noFill/>
          <a:ln w="19050">
            <a:solidFill>
              <a:srgbClr val="C7C9E8"/>
            </a:solidFill>
            <a:prstDash val="solid"/>
          </a:ln>
        </p:spPr>
      </p:sp>
      <p:sp>
        <p:nvSpPr>
          <p:cNvPr id="21" name="Shape 19"/>
          <p:cNvSpPr/>
          <p:nvPr/>
        </p:nvSpPr>
        <p:spPr>
          <a:xfrm>
            <a:off x="731520" y="3968496"/>
            <a:ext cx="420624" cy="420624"/>
          </a:xfrm>
          <a:prstGeom prst="ellipse">
            <a:avLst/>
          </a:prstGeom>
          <a:solidFill>
            <a:srgbClr val="4338CA"/>
          </a:solidFill>
          <a:ln/>
        </p:spPr>
      </p:sp>
      <p:sp>
        <p:nvSpPr>
          <p:cNvPr id="22" name="Text 20"/>
          <p:cNvSpPr/>
          <p:nvPr/>
        </p:nvSpPr>
        <p:spPr>
          <a:xfrm>
            <a:off x="731520" y="39684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1325880" y="3922776"/>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Propose   </a:t>
            </a:r>
            <a:pPr indent="0" marL="0">
              <a:buNone/>
            </a:pPr>
            <a:r>
              <a:rPr lang="en-US" sz="1300" dirty="0">
                <a:solidFill>
                  <a:srgbClr val="5A607E"/>
                </a:solidFill>
                <a:latin typeface="Calibri" pitchFamily="34" charset="0"/>
                <a:ea typeface="Calibri" pitchFamily="34" charset="-122"/>
                <a:cs typeface="Calibri" pitchFamily="34" charset="-120"/>
              </a:rPr>
              <a:t>to the human-approval queue + rationale + sources</a:t>
            </a:r>
            <a:endParaRPr lang="en-US" sz="1500" dirty="0"/>
          </a:p>
        </p:txBody>
      </p:sp>
      <p:sp>
        <p:nvSpPr>
          <p:cNvPr id="24" name="Shape 22"/>
          <p:cNvSpPr/>
          <p:nvPr/>
        </p:nvSpPr>
        <p:spPr>
          <a:xfrm>
            <a:off x="941832" y="4389120"/>
            <a:ext cx="0" cy="182880"/>
          </a:xfrm>
          <a:prstGeom prst="line">
            <a:avLst/>
          </a:prstGeom>
          <a:noFill/>
          <a:ln w="19050">
            <a:solidFill>
              <a:srgbClr val="C7C9E8"/>
            </a:solidFill>
            <a:prstDash val="solid"/>
          </a:ln>
        </p:spPr>
      </p:sp>
      <p:sp>
        <p:nvSpPr>
          <p:cNvPr id="25" name="Shape 23"/>
          <p:cNvSpPr/>
          <p:nvPr/>
        </p:nvSpPr>
        <p:spPr>
          <a:xfrm>
            <a:off x="731520" y="4572000"/>
            <a:ext cx="420624" cy="420624"/>
          </a:xfrm>
          <a:prstGeom prst="ellipse">
            <a:avLst/>
          </a:prstGeom>
          <a:solidFill>
            <a:srgbClr val="4338CA"/>
          </a:solidFill>
          <a:ln/>
        </p:spPr>
      </p:sp>
      <p:sp>
        <p:nvSpPr>
          <p:cNvPr id="26" name="Text 24"/>
          <p:cNvSpPr/>
          <p:nvPr/>
        </p:nvSpPr>
        <p:spPr>
          <a:xfrm>
            <a:off x="731520" y="45720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1325880" y="4526280"/>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On approval → write   </a:t>
            </a:r>
            <a:pPr indent="0" marL="0">
              <a:buNone/>
            </a:pPr>
            <a:r>
              <a:rPr lang="en-US" sz="1300" dirty="0">
                <a:solidFill>
                  <a:srgbClr val="5A607E"/>
                </a:solidFill>
                <a:latin typeface="Calibri" pitchFamily="34" charset="0"/>
                <a:ea typeface="Calibri" pitchFamily="34" charset="-122"/>
                <a:cs typeface="Calibri" pitchFamily="34" charset="-120"/>
              </a:rPr>
              <a:t>to the system of record, via connector</a:t>
            </a:r>
            <a:endParaRPr lang="en-US" sz="1500" dirty="0"/>
          </a:p>
        </p:txBody>
      </p:sp>
      <p:sp>
        <p:nvSpPr>
          <p:cNvPr id="28" name="Shape 26"/>
          <p:cNvSpPr/>
          <p:nvPr/>
        </p:nvSpPr>
        <p:spPr>
          <a:xfrm>
            <a:off x="941832" y="4992624"/>
            <a:ext cx="0" cy="182880"/>
          </a:xfrm>
          <a:prstGeom prst="line">
            <a:avLst/>
          </a:prstGeom>
          <a:noFill/>
          <a:ln w="19050">
            <a:solidFill>
              <a:srgbClr val="C7C9E8"/>
            </a:solidFill>
            <a:prstDash val="solid"/>
          </a:ln>
        </p:spPr>
      </p:sp>
      <p:sp>
        <p:nvSpPr>
          <p:cNvPr id="29" name="Shape 27"/>
          <p:cNvSpPr/>
          <p:nvPr/>
        </p:nvSpPr>
        <p:spPr>
          <a:xfrm>
            <a:off x="731520" y="5175504"/>
            <a:ext cx="420624" cy="420624"/>
          </a:xfrm>
          <a:prstGeom prst="ellipse">
            <a:avLst/>
          </a:prstGeom>
          <a:solidFill>
            <a:srgbClr val="4338CA"/>
          </a:solidFill>
          <a:ln/>
        </p:spPr>
      </p:sp>
      <p:sp>
        <p:nvSpPr>
          <p:cNvPr id="30" name="Text 28"/>
          <p:cNvSpPr/>
          <p:nvPr/>
        </p:nvSpPr>
        <p:spPr>
          <a:xfrm>
            <a:off x="731520" y="517550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1" name="Text 29"/>
          <p:cNvSpPr/>
          <p:nvPr/>
        </p:nvSpPr>
        <p:spPr>
          <a:xfrm>
            <a:off x="1325880" y="5129784"/>
            <a:ext cx="10058400" cy="502920"/>
          </a:xfrm>
          <a:prstGeom prst="rect">
            <a:avLst/>
          </a:prstGeom>
          <a:noFill/>
          <a:ln/>
        </p:spPr>
        <p:txBody>
          <a:bodyPr wrap="square" lIns="0" tIns="0" rIns="0" bIns="0" rtlCol="0" anchor="ctr"/>
          <a:lstStyle/>
          <a:p>
            <a:pPr indent="0" marL="0">
              <a:buNone/>
            </a:pPr>
            <a:r>
              <a:rPr lang="en-US" sz="1500" b="1" dirty="0">
                <a:solidFill>
                  <a:srgbClr val="1A1E33"/>
                </a:solidFill>
                <a:latin typeface="Calibri" pitchFamily="34" charset="0"/>
                <a:ea typeface="Calibri" pitchFamily="34" charset="-122"/>
                <a:cs typeface="Calibri" pitchFamily="34" charset="-120"/>
              </a:rPr>
              <a:t>Audit   </a:t>
            </a:r>
            <a:pPr indent="0" marL="0">
              <a:buNone/>
            </a:pPr>
            <a:r>
              <a:rPr lang="en-US" sz="1300" dirty="0">
                <a:solidFill>
                  <a:srgbClr val="5A607E"/>
                </a:solidFill>
                <a:latin typeface="Calibri" pitchFamily="34" charset="0"/>
                <a:ea typeface="Calibri" pitchFamily="34" charset="-122"/>
                <a:cs typeface="Calibri" pitchFamily="34" charset="-120"/>
              </a:rPr>
              <a:t>every step → the Part 11 trail</a:t>
            </a:r>
            <a:endParaRPr lang="en-US" sz="1500" dirty="0"/>
          </a:p>
        </p:txBody>
      </p:sp>
      <p:sp>
        <p:nvSpPr>
          <p:cNvPr id="32" name="Text 30"/>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The loop is what makes 75 different automations safe and consistent — every one ends with a human and an audit entry.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E0A100"/>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BUILD ROADMAP</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Start small, earn trust</a:t>
            </a:r>
            <a:endParaRPr lang="en-US" sz="2600" dirty="0"/>
          </a:p>
        </p:txBody>
      </p:sp>
      <p:sp>
        <p:nvSpPr>
          <p:cNvPr id="5" name="Shape 3"/>
          <p:cNvSpPr/>
          <p:nvPr/>
        </p:nvSpPr>
        <p:spPr>
          <a:xfrm>
            <a:off x="640080" y="1600200"/>
            <a:ext cx="1828800" cy="822960"/>
          </a:xfrm>
          <a:prstGeom prst="rect">
            <a:avLst/>
          </a:prstGeom>
          <a:solidFill>
            <a:srgbClr val="64748B"/>
          </a:solidFill>
          <a:ln/>
        </p:spPr>
      </p:sp>
      <p:sp>
        <p:nvSpPr>
          <p:cNvPr id="6" name="Text 4"/>
          <p:cNvSpPr/>
          <p:nvPr/>
        </p:nvSpPr>
        <p:spPr>
          <a:xfrm>
            <a:off x="777240" y="1600200"/>
            <a:ext cx="1645920" cy="822960"/>
          </a:xfrm>
          <a:prstGeom prst="rect">
            <a:avLst/>
          </a:prstGeom>
          <a:noFill/>
          <a:ln/>
        </p:spPr>
        <p:txBody>
          <a:bodyPr wrap="square" lIns="0" tIns="0" rIns="0" bIns="0" rtlCol="0" anchor="ctr"/>
          <a:lstStyle/>
          <a:p>
            <a:pPr indent="0" marL="0">
              <a:lnSpc>
                <a:spcPct val="92000"/>
              </a:lnSpc>
              <a:buNone/>
            </a:pPr>
            <a:r>
              <a:rPr lang="en-US" sz="1000" b="1" spc="100" kern="0" dirty="0">
                <a:solidFill>
                  <a:srgbClr val="FFFFFF"/>
                </a:solidFill>
                <a:latin typeface="Georgia" pitchFamily="34" charset="0"/>
                <a:ea typeface="Georgia" pitchFamily="34" charset="-122"/>
                <a:cs typeface="Georgia" pitchFamily="34" charset="-120"/>
              </a:rPr>
              <a:t>PHASE 0
</a:t>
            </a:r>
            <a:pPr indent="0" marL="0">
              <a:lnSpc>
                <a:spcPct val="92000"/>
              </a:lnSpc>
              <a:buNone/>
            </a:pPr>
            <a:r>
              <a:rPr lang="en-US" sz="1250" b="1" dirty="0">
                <a:solidFill>
                  <a:srgbClr val="FFFFFF"/>
                </a:solidFill>
                <a:latin typeface="Georgia" pitchFamily="34" charset="0"/>
                <a:ea typeface="Georgia" pitchFamily="34" charset="-122"/>
                <a:cs typeface="Georgia" pitchFamily="34" charset="-120"/>
              </a:rPr>
              <a:t>The stack</a:t>
            </a:r>
            <a:endParaRPr lang="en-US" sz="1000" dirty="0"/>
          </a:p>
        </p:txBody>
      </p:sp>
      <p:sp>
        <p:nvSpPr>
          <p:cNvPr id="7" name="Shape 5"/>
          <p:cNvSpPr/>
          <p:nvPr/>
        </p:nvSpPr>
        <p:spPr>
          <a:xfrm>
            <a:off x="2468880" y="1600200"/>
            <a:ext cx="9052560" cy="822960"/>
          </a:xfrm>
          <a:prstGeom prst="rect">
            <a:avLst/>
          </a:prstGeom>
          <a:solidFill>
            <a:srgbClr val="F4F5FB"/>
          </a:solidFill>
          <a:ln w="12700">
            <a:solidFill>
              <a:srgbClr val="E0E3F1"/>
            </a:solidFill>
            <a:prstDash val="solid"/>
          </a:ln>
        </p:spPr>
      </p:sp>
      <p:sp>
        <p:nvSpPr>
          <p:cNvPr id="8" name="Text 6"/>
          <p:cNvSpPr/>
          <p:nvPr/>
        </p:nvSpPr>
        <p:spPr>
          <a:xfrm>
            <a:off x="2697480" y="1645920"/>
            <a:ext cx="8595360" cy="73152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Gateway · local model · Claude (BAA) · Presidio guardrail · approval queue · Part 11 trail</a:t>
            </a:r>
            <a:endParaRPr lang="en-US" sz="1250" dirty="0"/>
          </a:p>
        </p:txBody>
      </p:sp>
      <p:sp>
        <p:nvSpPr>
          <p:cNvPr id="9" name="Shape 7"/>
          <p:cNvSpPr/>
          <p:nvPr/>
        </p:nvSpPr>
        <p:spPr>
          <a:xfrm>
            <a:off x="640080" y="2560320"/>
            <a:ext cx="1828800" cy="822960"/>
          </a:xfrm>
          <a:prstGeom prst="rect">
            <a:avLst/>
          </a:prstGeom>
          <a:solidFill>
            <a:srgbClr val="0F9D6E"/>
          </a:solidFill>
          <a:ln/>
        </p:spPr>
      </p:sp>
      <p:sp>
        <p:nvSpPr>
          <p:cNvPr id="10" name="Text 8"/>
          <p:cNvSpPr/>
          <p:nvPr/>
        </p:nvSpPr>
        <p:spPr>
          <a:xfrm>
            <a:off x="777240" y="2560320"/>
            <a:ext cx="1645920" cy="822960"/>
          </a:xfrm>
          <a:prstGeom prst="rect">
            <a:avLst/>
          </a:prstGeom>
          <a:noFill/>
          <a:ln/>
        </p:spPr>
        <p:txBody>
          <a:bodyPr wrap="square" lIns="0" tIns="0" rIns="0" bIns="0" rtlCol="0" anchor="ctr"/>
          <a:lstStyle/>
          <a:p>
            <a:pPr indent="0" marL="0">
              <a:lnSpc>
                <a:spcPct val="92000"/>
              </a:lnSpc>
              <a:buNone/>
            </a:pPr>
            <a:r>
              <a:rPr lang="en-US" sz="1000" b="1" spc="100" kern="0" dirty="0">
                <a:solidFill>
                  <a:srgbClr val="FFFFFF"/>
                </a:solidFill>
                <a:latin typeface="Georgia" pitchFamily="34" charset="0"/>
                <a:ea typeface="Georgia" pitchFamily="34" charset="-122"/>
                <a:cs typeface="Georgia" pitchFamily="34" charset="-120"/>
              </a:rPr>
              <a:t>PHASE 1
</a:t>
            </a:r>
            <a:pPr indent="0" marL="0">
              <a:lnSpc>
                <a:spcPct val="92000"/>
              </a:lnSpc>
              <a:buNone/>
            </a:pPr>
            <a:r>
              <a:rPr lang="en-US" sz="1250" b="1" dirty="0">
                <a:solidFill>
                  <a:srgbClr val="FFFFFF"/>
                </a:solidFill>
                <a:latin typeface="Georgia" pitchFamily="34" charset="0"/>
                <a:ea typeface="Georgia" pitchFamily="34" charset="-122"/>
                <a:cs typeface="Georgia" pitchFamily="34" charset="-120"/>
              </a:rPr>
              <a:t>The knowledge base</a:t>
            </a:r>
            <a:endParaRPr lang="en-US" sz="1000" dirty="0"/>
          </a:p>
        </p:txBody>
      </p:sp>
      <p:sp>
        <p:nvSpPr>
          <p:cNvPr id="11" name="Shape 9"/>
          <p:cNvSpPr/>
          <p:nvPr/>
        </p:nvSpPr>
        <p:spPr>
          <a:xfrm>
            <a:off x="2468880" y="2560320"/>
            <a:ext cx="9052560" cy="822960"/>
          </a:xfrm>
          <a:prstGeom prst="rect">
            <a:avLst/>
          </a:prstGeom>
          <a:solidFill>
            <a:srgbClr val="F4F5FB"/>
          </a:solidFill>
          <a:ln w="12700">
            <a:solidFill>
              <a:srgbClr val="E0E3F1"/>
            </a:solidFill>
            <a:prstDash val="solid"/>
          </a:ln>
        </p:spPr>
      </p:sp>
      <p:sp>
        <p:nvSpPr>
          <p:cNvPr id="12" name="Text 10"/>
          <p:cNvSpPr/>
          <p:nvPr/>
        </p:nvSpPr>
        <p:spPr>
          <a:xfrm>
            <a:off x="2697480" y="2606040"/>
            <a:ext cx="8595360" cy="73152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Ingest SOPs/WIs → ship the SOP/compliance Q&amp;A agent first (pure GREEN, cited, instant value)</a:t>
            </a:r>
            <a:endParaRPr lang="en-US" sz="1250" dirty="0"/>
          </a:p>
        </p:txBody>
      </p:sp>
      <p:sp>
        <p:nvSpPr>
          <p:cNvPr id="13" name="Shape 11"/>
          <p:cNvSpPr/>
          <p:nvPr/>
        </p:nvSpPr>
        <p:spPr>
          <a:xfrm>
            <a:off x="640080" y="3520440"/>
            <a:ext cx="1828800" cy="822960"/>
          </a:xfrm>
          <a:prstGeom prst="rect">
            <a:avLst/>
          </a:prstGeom>
          <a:solidFill>
            <a:srgbClr val="2F6DB5"/>
          </a:solidFill>
          <a:ln/>
        </p:spPr>
      </p:sp>
      <p:sp>
        <p:nvSpPr>
          <p:cNvPr id="14" name="Text 12"/>
          <p:cNvSpPr/>
          <p:nvPr/>
        </p:nvSpPr>
        <p:spPr>
          <a:xfrm>
            <a:off x="777240" y="3520440"/>
            <a:ext cx="1645920" cy="822960"/>
          </a:xfrm>
          <a:prstGeom prst="rect">
            <a:avLst/>
          </a:prstGeom>
          <a:noFill/>
          <a:ln/>
        </p:spPr>
        <p:txBody>
          <a:bodyPr wrap="square" lIns="0" tIns="0" rIns="0" bIns="0" rtlCol="0" anchor="ctr"/>
          <a:lstStyle/>
          <a:p>
            <a:pPr indent="0" marL="0">
              <a:lnSpc>
                <a:spcPct val="92000"/>
              </a:lnSpc>
              <a:buNone/>
            </a:pPr>
            <a:r>
              <a:rPr lang="en-US" sz="1000" b="1" spc="100" kern="0" dirty="0">
                <a:solidFill>
                  <a:srgbClr val="FFFFFF"/>
                </a:solidFill>
                <a:latin typeface="Georgia" pitchFamily="34" charset="0"/>
                <a:ea typeface="Georgia" pitchFamily="34" charset="-122"/>
                <a:cs typeface="Georgia" pitchFamily="34" charset="-120"/>
              </a:rPr>
              <a:t>PHASE 2
</a:t>
            </a:r>
            <a:pPr indent="0" marL="0">
              <a:lnSpc>
                <a:spcPct val="92000"/>
              </a:lnSpc>
              <a:buNone/>
            </a:pPr>
            <a:r>
              <a:rPr lang="en-US" sz="1250" b="1" dirty="0">
                <a:solidFill>
                  <a:srgbClr val="FFFFFF"/>
                </a:solidFill>
                <a:latin typeface="Georgia" pitchFamily="34" charset="0"/>
                <a:ea typeface="Georgia" pitchFamily="34" charset="-122"/>
                <a:cs typeface="Georgia" pitchFamily="34" charset="-120"/>
              </a:rPr>
              <a:t>Read connectors + scheduled agents</a:t>
            </a:r>
            <a:endParaRPr lang="en-US" sz="1000" dirty="0"/>
          </a:p>
        </p:txBody>
      </p:sp>
      <p:sp>
        <p:nvSpPr>
          <p:cNvPr id="15" name="Shape 13"/>
          <p:cNvSpPr/>
          <p:nvPr/>
        </p:nvSpPr>
        <p:spPr>
          <a:xfrm>
            <a:off x="2468880" y="3520440"/>
            <a:ext cx="9052560" cy="822960"/>
          </a:xfrm>
          <a:prstGeom prst="rect">
            <a:avLst/>
          </a:prstGeom>
          <a:solidFill>
            <a:srgbClr val="F4F5FB"/>
          </a:solidFill>
          <a:ln w="12700">
            <a:solidFill>
              <a:srgbClr val="E0E3F1"/>
            </a:solidFill>
            <a:prstDash val="solid"/>
          </a:ln>
        </p:spPr>
      </p:sp>
      <p:sp>
        <p:nvSpPr>
          <p:cNvPr id="16" name="Text 14"/>
          <p:cNvSpPr/>
          <p:nvPr/>
        </p:nvSpPr>
        <p:spPr>
          <a:xfrm>
            <a:off x="2697480" y="3566160"/>
            <a:ext cx="8595360" cy="73152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Smartsheet / eTMF / Pinnacle 21 (read) → nightly QC-triage + weekly status (AMBER, approval queue)</a:t>
            </a:r>
            <a:endParaRPr lang="en-US" sz="1250" dirty="0"/>
          </a:p>
        </p:txBody>
      </p:sp>
      <p:sp>
        <p:nvSpPr>
          <p:cNvPr id="17" name="Shape 15"/>
          <p:cNvSpPr/>
          <p:nvPr/>
        </p:nvSpPr>
        <p:spPr>
          <a:xfrm>
            <a:off x="640080" y="4480560"/>
            <a:ext cx="1828800" cy="822960"/>
          </a:xfrm>
          <a:prstGeom prst="rect">
            <a:avLst/>
          </a:prstGeom>
          <a:solidFill>
            <a:srgbClr val="4338CA"/>
          </a:solidFill>
          <a:ln/>
        </p:spPr>
      </p:sp>
      <p:sp>
        <p:nvSpPr>
          <p:cNvPr id="18" name="Text 16"/>
          <p:cNvSpPr/>
          <p:nvPr/>
        </p:nvSpPr>
        <p:spPr>
          <a:xfrm>
            <a:off x="777240" y="4480560"/>
            <a:ext cx="1645920" cy="822960"/>
          </a:xfrm>
          <a:prstGeom prst="rect">
            <a:avLst/>
          </a:prstGeom>
          <a:noFill/>
          <a:ln/>
        </p:spPr>
        <p:txBody>
          <a:bodyPr wrap="square" lIns="0" tIns="0" rIns="0" bIns="0" rtlCol="0" anchor="ctr"/>
          <a:lstStyle/>
          <a:p>
            <a:pPr indent="0" marL="0">
              <a:lnSpc>
                <a:spcPct val="92000"/>
              </a:lnSpc>
              <a:buNone/>
            </a:pPr>
            <a:r>
              <a:rPr lang="en-US" sz="1000" b="1" spc="100" kern="0" dirty="0">
                <a:solidFill>
                  <a:srgbClr val="FFFFFF"/>
                </a:solidFill>
                <a:latin typeface="Georgia" pitchFamily="34" charset="0"/>
                <a:ea typeface="Georgia" pitchFamily="34" charset="-122"/>
                <a:cs typeface="Georgia" pitchFamily="34" charset="-120"/>
              </a:rPr>
              <a:t>PHASE 3
</a:t>
            </a:r>
            <a:pPr indent="0" marL="0">
              <a:lnSpc>
                <a:spcPct val="92000"/>
              </a:lnSpc>
              <a:buNone/>
            </a:pPr>
            <a:r>
              <a:rPr lang="en-US" sz="1250" b="1" dirty="0">
                <a:solidFill>
                  <a:srgbClr val="FFFFFF"/>
                </a:solidFill>
                <a:latin typeface="Georgia" pitchFamily="34" charset="0"/>
                <a:ea typeface="Georgia" pitchFamily="34" charset="-122"/>
                <a:cs typeface="Georgia" pitchFamily="34" charset="-120"/>
              </a:rPr>
              <a:t>Event-driven + monitoring</a:t>
            </a:r>
            <a:endParaRPr lang="en-US" sz="1000" dirty="0"/>
          </a:p>
        </p:txBody>
      </p:sp>
      <p:sp>
        <p:nvSpPr>
          <p:cNvPr id="19" name="Shape 17"/>
          <p:cNvSpPr/>
          <p:nvPr/>
        </p:nvSpPr>
        <p:spPr>
          <a:xfrm>
            <a:off x="2468880" y="4480560"/>
            <a:ext cx="9052560" cy="822960"/>
          </a:xfrm>
          <a:prstGeom prst="rect">
            <a:avLst/>
          </a:prstGeom>
          <a:solidFill>
            <a:srgbClr val="F4F5FB"/>
          </a:solidFill>
          <a:ln w="12700">
            <a:solidFill>
              <a:srgbClr val="E0E3F1"/>
            </a:solidFill>
            <a:prstDash val="solid"/>
          </a:ln>
        </p:spPr>
      </p:sp>
      <p:sp>
        <p:nvSpPr>
          <p:cNvPr id="20" name="Text 18"/>
          <p:cNvSpPr/>
          <p:nvPr/>
        </p:nvSpPr>
        <p:spPr>
          <a:xfrm>
            <a:off x="2697480" y="4526280"/>
            <a:ext cx="8595360" cy="73152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Timeline cascade · eTMF filing proposals · KRI/QTL signals — each graduates as it earns a track record</a:t>
            </a:r>
            <a:endParaRPr lang="en-US" sz="1250" dirty="0"/>
          </a:p>
        </p:txBody>
      </p:sp>
      <p:sp>
        <p:nvSpPr>
          <p:cNvPr id="21" name="Text 19"/>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Each new agent goes live behind the human-approval queue and graduates to lighter review as validation and trust accrue.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146304" cy="310896"/>
          </a:xfrm>
          <a:prstGeom prst="roundRect">
            <a:avLst>
              <a:gd name="adj" fmla="val 25000"/>
            </a:avLst>
          </a:prstGeom>
          <a:solidFill>
            <a:srgbClr val="E0A100"/>
          </a:solidFill>
          <a:ln/>
        </p:spPr>
      </p:sp>
      <p:sp>
        <p:nvSpPr>
          <p:cNvPr id="3" name="Text 1"/>
          <p:cNvSpPr/>
          <p:nvPr/>
        </p:nvSpPr>
        <p:spPr>
          <a:xfrm>
            <a:off x="914400" y="411480"/>
            <a:ext cx="10881360" cy="274320"/>
          </a:xfrm>
          <a:prstGeom prst="rect">
            <a:avLst/>
          </a:prstGeom>
          <a:noFill/>
          <a:ln/>
        </p:spPr>
        <p:txBody>
          <a:bodyPr wrap="square" lIns="0" tIns="0" rIns="0" bIns="0" rtlCol="0" anchor="ctr"/>
          <a:lstStyle/>
          <a:p>
            <a:pPr indent="0" marL="0">
              <a:buNone/>
            </a:pPr>
            <a:r>
              <a:rPr lang="en-US" sz="1100" b="1" spc="200" kern="0" dirty="0">
                <a:solidFill>
                  <a:srgbClr val="5A607E"/>
                </a:solidFill>
                <a:latin typeface="Calibri" pitchFamily="34" charset="0"/>
                <a:ea typeface="Calibri" pitchFamily="34" charset="-122"/>
                <a:cs typeface="Calibri" pitchFamily="34" charset="-120"/>
              </a:rPr>
              <a:t>WORKED EXAMPLE</a:t>
            </a:r>
            <a:endParaRPr lang="en-US" sz="1100" dirty="0"/>
          </a:p>
        </p:txBody>
      </p:sp>
      <p:sp>
        <p:nvSpPr>
          <p:cNvPr id="4" name="Text 2"/>
          <p:cNvSpPr/>
          <p:nvPr/>
        </p:nvSpPr>
        <p:spPr>
          <a:xfrm>
            <a:off x="914400" y="667512"/>
            <a:ext cx="10881360" cy="603504"/>
          </a:xfrm>
          <a:prstGeom prst="rect">
            <a:avLst/>
          </a:prstGeom>
          <a:noFill/>
          <a:ln/>
        </p:spPr>
        <p:txBody>
          <a:bodyPr wrap="square" lIns="0" tIns="0" rIns="0" bIns="0" rtlCol="0" anchor="ctr"/>
          <a:lstStyle/>
          <a:p>
            <a:pPr indent="0" marL="0">
              <a:buNone/>
            </a:pPr>
            <a:r>
              <a:rPr lang="en-US" sz="2600" b="1" dirty="0">
                <a:solidFill>
                  <a:srgbClr val="1A1E33"/>
                </a:solidFill>
                <a:latin typeface="Georgia" pitchFamily="34" charset="0"/>
                <a:ea typeface="Georgia" pitchFamily="34" charset="-122"/>
                <a:cs typeface="Georgia" pitchFamily="34" charset="-120"/>
              </a:rPr>
              <a:t>A day in the ops layer</a:t>
            </a:r>
            <a:endParaRPr lang="en-US" sz="2600" dirty="0"/>
          </a:p>
        </p:txBody>
      </p:sp>
      <p:sp>
        <p:nvSpPr>
          <p:cNvPr id="5" name="Shape 3"/>
          <p:cNvSpPr/>
          <p:nvPr/>
        </p:nvSpPr>
        <p:spPr>
          <a:xfrm>
            <a:off x="640080" y="1554480"/>
            <a:ext cx="1051560" cy="667512"/>
          </a:xfrm>
          <a:prstGeom prst="rect">
            <a:avLst/>
          </a:prstGeom>
          <a:solidFill>
            <a:srgbClr val="C2891C"/>
          </a:solidFill>
          <a:ln/>
        </p:spPr>
      </p:sp>
      <p:sp>
        <p:nvSpPr>
          <p:cNvPr id="6" name="Text 4"/>
          <p:cNvSpPr/>
          <p:nvPr/>
        </p:nvSpPr>
        <p:spPr>
          <a:xfrm>
            <a:off x="640080" y="1554480"/>
            <a:ext cx="1051560" cy="6675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02:00</a:t>
            </a:r>
            <a:endParaRPr lang="en-US" sz="1500" dirty="0"/>
          </a:p>
        </p:txBody>
      </p:sp>
      <p:sp>
        <p:nvSpPr>
          <p:cNvPr id="7" name="Shape 5"/>
          <p:cNvSpPr/>
          <p:nvPr/>
        </p:nvSpPr>
        <p:spPr>
          <a:xfrm>
            <a:off x="1691640" y="1554480"/>
            <a:ext cx="9829800" cy="667512"/>
          </a:xfrm>
          <a:prstGeom prst="rect">
            <a:avLst/>
          </a:prstGeom>
          <a:solidFill>
            <a:srgbClr val="F4F5FB"/>
          </a:solidFill>
          <a:ln w="12700">
            <a:solidFill>
              <a:srgbClr val="E0E3F1"/>
            </a:solidFill>
            <a:prstDash val="solid"/>
          </a:ln>
        </p:spPr>
      </p:sp>
      <p:sp>
        <p:nvSpPr>
          <p:cNvPr id="8" name="Text 6"/>
          <p:cNvSpPr/>
          <p:nvPr/>
        </p:nvSpPr>
        <p:spPr>
          <a:xfrm>
            <a:off x="1920240" y="1591056"/>
            <a:ext cx="9372600" cy="59436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Nightly QC: 3 genuinely new findings surfaced among 240; the rest pre-explained, routed to programmers.</a:t>
            </a:r>
            <a:endParaRPr lang="en-US" sz="1250" dirty="0"/>
          </a:p>
        </p:txBody>
      </p:sp>
      <p:sp>
        <p:nvSpPr>
          <p:cNvPr id="9" name="Shape 7"/>
          <p:cNvSpPr/>
          <p:nvPr/>
        </p:nvSpPr>
        <p:spPr>
          <a:xfrm>
            <a:off x="640080" y="2340864"/>
            <a:ext cx="1051560" cy="667512"/>
          </a:xfrm>
          <a:prstGeom prst="rect">
            <a:avLst/>
          </a:prstGeom>
          <a:solidFill>
            <a:srgbClr val="4338CA"/>
          </a:solidFill>
          <a:ln/>
        </p:spPr>
      </p:sp>
      <p:sp>
        <p:nvSpPr>
          <p:cNvPr id="10" name="Text 8"/>
          <p:cNvSpPr/>
          <p:nvPr/>
        </p:nvSpPr>
        <p:spPr>
          <a:xfrm>
            <a:off x="640080" y="2340864"/>
            <a:ext cx="1051560" cy="6675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10:30</a:t>
            </a:r>
            <a:endParaRPr lang="en-US" sz="1500" dirty="0"/>
          </a:p>
        </p:txBody>
      </p:sp>
      <p:sp>
        <p:nvSpPr>
          <p:cNvPr id="11" name="Shape 9"/>
          <p:cNvSpPr/>
          <p:nvPr/>
        </p:nvSpPr>
        <p:spPr>
          <a:xfrm>
            <a:off x="1691640" y="2340864"/>
            <a:ext cx="9829800" cy="667512"/>
          </a:xfrm>
          <a:prstGeom prst="rect">
            <a:avLst/>
          </a:prstGeom>
          <a:solidFill>
            <a:srgbClr val="F4F5FB"/>
          </a:solidFill>
          <a:ln w="12700">
            <a:solidFill>
              <a:srgbClr val="E0E3F1"/>
            </a:solidFill>
            <a:prstDash val="solid"/>
          </a:ln>
        </p:spPr>
      </p:sp>
      <p:sp>
        <p:nvSpPr>
          <p:cNvPr id="12" name="Text 10"/>
          <p:cNvSpPr/>
          <p:nvPr/>
        </p:nvSpPr>
        <p:spPr>
          <a:xfrm>
            <a:off x="1920240" y="2377440"/>
            <a:ext cx="9372600" cy="59436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Data cut declared → critical path recomputed, 'you're blocked' alerts drafted → PM approves → Smartsheet updates in minutes.</a:t>
            </a:r>
            <a:endParaRPr lang="en-US" sz="1250" dirty="0"/>
          </a:p>
        </p:txBody>
      </p:sp>
      <p:sp>
        <p:nvSpPr>
          <p:cNvPr id="13" name="Shape 11"/>
          <p:cNvSpPr/>
          <p:nvPr/>
        </p:nvSpPr>
        <p:spPr>
          <a:xfrm>
            <a:off x="640080" y="3127248"/>
            <a:ext cx="1051560" cy="667512"/>
          </a:xfrm>
          <a:prstGeom prst="rect">
            <a:avLst/>
          </a:prstGeom>
          <a:solidFill>
            <a:srgbClr val="2F6DB5"/>
          </a:solidFill>
          <a:ln/>
        </p:spPr>
      </p:sp>
      <p:sp>
        <p:nvSpPr>
          <p:cNvPr id="14" name="Text 12"/>
          <p:cNvSpPr/>
          <p:nvPr/>
        </p:nvSpPr>
        <p:spPr>
          <a:xfrm>
            <a:off x="640080" y="3127248"/>
            <a:ext cx="1051560" cy="6675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13:00</a:t>
            </a:r>
            <a:endParaRPr lang="en-US" sz="1500" dirty="0"/>
          </a:p>
        </p:txBody>
      </p:sp>
      <p:sp>
        <p:nvSpPr>
          <p:cNvPr id="15" name="Shape 13"/>
          <p:cNvSpPr/>
          <p:nvPr/>
        </p:nvSpPr>
        <p:spPr>
          <a:xfrm>
            <a:off x="1691640" y="3127248"/>
            <a:ext cx="9829800" cy="667512"/>
          </a:xfrm>
          <a:prstGeom prst="rect">
            <a:avLst/>
          </a:prstGeom>
          <a:solidFill>
            <a:srgbClr val="F4F5FB"/>
          </a:solidFill>
          <a:ln w="12700">
            <a:solidFill>
              <a:srgbClr val="E0E3F1"/>
            </a:solidFill>
            <a:prstDash val="solid"/>
          </a:ln>
        </p:spPr>
      </p:sp>
      <p:sp>
        <p:nvSpPr>
          <p:cNvPr id="16" name="Text 14"/>
          <p:cNvSpPr/>
          <p:nvPr/>
        </p:nvSpPr>
        <p:spPr>
          <a:xfrm>
            <a:off x="1920240" y="3163824"/>
            <a:ext cx="9372600" cy="59436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A KRI breaches → the local agent drafts the site follow-up and logs the RBQM register; medical review owns the call.</a:t>
            </a:r>
            <a:endParaRPr lang="en-US" sz="1250" dirty="0"/>
          </a:p>
        </p:txBody>
      </p:sp>
      <p:sp>
        <p:nvSpPr>
          <p:cNvPr id="17" name="Shape 15"/>
          <p:cNvSpPr/>
          <p:nvPr/>
        </p:nvSpPr>
        <p:spPr>
          <a:xfrm>
            <a:off x="640080" y="3913632"/>
            <a:ext cx="1051560" cy="667512"/>
          </a:xfrm>
          <a:prstGeom prst="rect">
            <a:avLst/>
          </a:prstGeom>
          <a:solidFill>
            <a:srgbClr val="0E7C86"/>
          </a:solidFill>
          <a:ln/>
        </p:spPr>
      </p:sp>
      <p:sp>
        <p:nvSpPr>
          <p:cNvPr id="18" name="Text 16"/>
          <p:cNvSpPr/>
          <p:nvPr/>
        </p:nvSpPr>
        <p:spPr>
          <a:xfrm>
            <a:off x="640080" y="3913632"/>
            <a:ext cx="1051560" cy="6675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15:00</a:t>
            </a:r>
            <a:endParaRPr lang="en-US" sz="1500" dirty="0"/>
          </a:p>
        </p:txBody>
      </p:sp>
      <p:sp>
        <p:nvSpPr>
          <p:cNvPr id="19" name="Shape 17"/>
          <p:cNvSpPr/>
          <p:nvPr/>
        </p:nvSpPr>
        <p:spPr>
          <a:xfrm>
            <a:off x="1691640" y="3913632"/>
            <a:ext cx="9829800" cy="667512"/>
          </a:xfrm>
          <a:prstGeom prst="rect">
            <a:avLst/>
          </a:prstGeom>
          <a:solidFill>
            <a:srgbClr val="F4F5FB"/>
          </a:solidFill>
          <a:ln w="12700">
            <a:solidFill>
              <a:srgbClr val="E0E3F1"/>
            </a:solidFill>
            <a:prstDash val="solid"/>
          </a:ln>
        </p:spPr>
      </p:sp>
      <p:sp>
        <p:nvSpPr>
          <p:cNvPr id="20" name="Text 18"/>
          <p:cNvSpPr/>
          <p:nvPr/>
        </p:nvSpPr>
        <p:spPr>
          <a:xfrm>
            <a:off x="1920240" y="3950208"/>
            <a:ext cx="9372600" cy="59436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3 reports filed to the eTMF on approval; a programmer gets an SOP answer, cited, in seconds.</a:t>
            </a:r>
            <a:endParaRPr lang="en-US" sz="1250" dirty="0"/>
          </a:p>
        </p:txBody>
      </p:sp>
      <p:sp>
        <p:nvSpPr>
          <p:cNvPr id="21" name="Shape 19"/>
          <p:cNvSpPr/>
          <p:nvPr/>
        </p:nvSpPr>
        <p:spPr>
          <a:xfrm>
            <a:off x="640080" y="4700016"/>
            <a:ext cx="1051560" cy="667512"/>
          </a:xfrm>
          <a:prstGeom prst="rect">
            <a:avLst/>
          </a:prstGeom>
          <a:solidFill>
            <a:srgbClr val="0F9D6E"/>
          </a:solidFill>
          <a:ln/>
        </p:spPr>
      </p:sp>
      <p:sp>
        <p:nvSpPr>
          <p:cNvPr id="22" name="Text 20"/>
          <p:cNvSpPr/>
          <p:nvPr/>
        </p:nvSpPr>
        <p:spPr>
          <a:xfrm>
            <a:off x="640080" y="4700016"/>
            <a:ext cx="1051560" cy="6675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16:00</a:t>
            </a:r>
            <a:endParaRPr lang="en-US" sz="1500" dirty="0"/>
          </a:p>
        </p:txBody>
      </p:sp>
      <p:sp>
        <p:nvSpPr>
          <p:cNvPr id="23" name="Shape 21"/>
          <p:cNvSpPr/>
          <p:nvPr/>
        </p:nvSpPr>
        <p:spPr>
          <a:xfrm>
            <a:off x="1691640" y="4700016"/>
            <a:ext cx="9829800" cy="667512"/>
          </a:xfrm>
          <a:prstGeom prst="rect">
            <a:avLst/>
          </a:prstGeom>
          <a:solidFill>
            <a:srgbClr val="F4F5FB"/>
          </a:solidFill>
          <a:ln w="12700">
            <a:solidFill>
              <a:srgbClr val="E0E3F1"/>
            </a:solidFill>
            <a:prstDash val="solid"/>
          </a:ln>
        </p:spPr>
      </p:sp>
      <p:sp>
        <p:nvSpPr>
          <p:cNvPr id="24" name="Text 22"/>
          <p:cNvSpPr/>
          <p:nvPr/>
        </p:nvSpPr>
        <p:spPr>
          <a:xfrm>
            <a:off x="1920240" y="4736592"/>
            <a:ext cx="9372600" cy="594360"/>
          </a:xfrm>
          <a:prstGeom prst="rect">
            <a:avLst/>
          </a:prstGeom>
          <a:noFill/>
          <a:ln/>
        </p:spPr>
        <p:txBody>
          <a:bodyPr wrap="square" lIns="0" tIns="0" rIns="0" bIns="0" rtlCol="0" anchor="ctr"/>
          <a:lstStyle/>
          <a:p>
            <a:pPr indent="0" marL="0">
              <a:lnSpc>
                <a:spcPct val="100000"/>
              </a:lnSpc>
              <a:buNone/>
            </a:pPr>
            <a:r>
              <a:rPr lang="en-US" sz="1250" dirty="0">
                <a:solidFill>
                  <a:srgbClr val="1A1E33"/>
                </a:solidFill>
                <a:latin typeface="Calibri" pitchFamily="34" charset="0"/>
                <a:ea typeface="Calibri" pitchFamily="34" charset="-122"/>
                <a:cs typeface="Calibri" pitchFamily="34" charset="-120"/>
              </a:rPr>
              <a:t>The weekly status report drafts itself from the plan-of-record; the PM edits two lines and sends.</a:t>
            </a:r>
            <a:endParaRPr lang="en-US" sz="1250" dirty="0"/>
          </a:p>
        </p:txBody>
      </p:sp>
      <p:sp>
        <p:nvSpPr>
          <p:cNvPr id="25" name="Text 23"/>
          <p:cNvSpPr/>
          <p:nvPr/>
        </p:nvSpPr>
        <p:spPr>
          <a:xfrm>
            <a:off x="640080" y="6437376"/>
            <a:ext cx="10881360" cy="274320"/>
          </a:xfrm>
          <a:prstGeom prst="rect">
            <a:avLst/>
          </a:prstGeom>
          <a:noFill/>
          <a:ln/>
        </p:spPr>
        <p:txBody>
          <a:bodyPr wrap="square" lIns="0" tIns="0" rIns="0" bIns="0" rtlCol="0" anchor="ctr"/>
          <a:lstStyle/>
          <a:p>
            <a:pPr indent="0" marL="0">
              <a:buNone/>
            </a:pPr>
            <a:r>
              <a:rPr lang="en-US" sz="850" i="1" dirty="0">
                <a:solidFill>
                  <a:srgbClr val="9197B5"/>
                </a:solidFill>
                <a:latin typeface="Calibri" pitchFamily="34" charset="0"/>
                <a:ea typeface="Calibri" pitchFamily="34" charset="-122"/>
                <a:cs typeface="Calibri" pitchFamily="34" charset="-120"/>
              </a:rPr>
              <a:t>Every regulated number came from a validated system; no patient data left the building; a human approved every committed change.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83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4338CA"/>
          </a:solidFill>
          <a:ln/>
        </p:spPr>
      </p:sp>
      <p:sp>
        <p:nvSpPr>
          <p:cNvPr id="3" name="Shape 1"/>
          <p:cNvSpPr/>
          <p:nvPr/>
        </p:nvSpPr>
        <p:spPr>
          <a:xfrm>
            <a:off x="640080" y="731520"/>
            <a:ext cx="146304" cy="310896"/>
          </a:xfrm>
          <a:prstGeom prst="roundRect">
            <a:avLst>
              <a:gd name="adj" fmla="val 25000"/>
            </a:avLst>
          </a:prstGeom>
          <a:solidFill>
            <a:srgbClr val="4338CA"/>
          </a:solidFill>
          <a:ln/>
        </p:spPr>
      </p:sp>
      <p:sp>
        <p:nvSpPr>
          <p:cNvPr id="4" name="Text 2"/>
          <p:cNvSpPr/>
          <p:nvPr/>
        </p:nvSpPr>
        <p:spPr>
          <a:xfrm>
            <a:off x="914400" y="685800"/>
            <a:ext cx="7315200" cy="320040"/>
          </a:xfrm>
          <a:prstGeom prst="rect">
            <a:avLst/>
          </a:prstGeom>
          <a:noFill/>
          <a:ln/>
        </p:spPr>
        <p:txBody>
          <a:bodyPr wrap="square" lIns="0" tIns="0" rIns="0" bIns="0" rtlCol="0" anchor="ctr"/>
          <a:lstStyle/>
          <a:p>
            <a:pPr indent="0" marL="0">
              <a:buNone/>
            </a:pPr>
            <a:r>
              <a:rPr lang="en-US" sz="1200" b="1" spc="300" kern="0" dirty="0">
                <a:solidFill>
                  <a:srgbClr val="D5DAF5"/>
                </a:solidFill>
                <a:latin typeface="Calibri" pitchFamily="34" charset="0"/>
                <a:ea typeface="Calibri" pitchFamily="34" charset="-122"/>
                <a:cs typeface="Calibri" pitchFamily="34" charset="-120"/>
              </a:rPr>
              <a:t>RECAP</a:t>
            </a:r>
            <a:endParaRPr lang="en-US" sz="1200" dirty="0"/>
          </a:p>
        </p:txBody>
      </p:sp>
      <p:sp>
        <p:nvSpPr>
          <p:cNvPr id="5" name="Text 3"/>
          <p:cNvSpPr/>
          <p:nvPr/>
        </p:nvSpPr>
        <p:spPr>
          <a:xfrm>
            <a:off x="640080" y="1280160"/>
            <a:ext cx="10789920" cy="8229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75 governed automations. Humans keep ownership.</a:t>
            </a:r>
            <a:endParaRPr lang="en-US" sz="3200" dirty="0"/>
          </a:p>
        </p:txBody>
      </p:sp>
      <p:sp>
        <p:nvSpPr>
          <p:cNvPr id="6" name="Text 4"/>
          <p:cNvSpPr/>
          <p:nvPr/>
        </p:nvSpPr>
        <p:spPr>
          <a:xfrm>
            <a:off x="640080" y="2514600"/>
            <a:ext cx="502920" cy="502920"/>
          </a:xfrm>
          <a:prstGeom prst="rect">
            <a:avLst/>
          </a:prstGeom>
          <a:noFill/>
          <a:ln/>
        </p:spPr>
        <p:txBody>
          <a:bodyPr wrap="square" lIns="0" tIns="0" rIns="0" bIns="0" rtlCol="0" anchor="ctr"/>
          <a:lstStyle/>
          <a:p>
            <a:pPr indent="0" marL="0">
              <a:buNone/>
            </a:pPr>
            <a:r>
              <a:rPr lang="en-US" sz="2200" b="1" dirty="0">
                <a:solidFill>
                  <a:srgbClr val="8B86F0"/>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234440" y="2532888"/>
            <a:ext cx="10424160" cy="64008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Absorbs the cross-system busywork   </a:t>
            </a:r>
            <a:pPr indent="0" marL="0">
              <a:lnSpc>
                <a:spcPct val="102000"/>
              </a:lnSpc>
              <a:buNone/>
            </a:pPr>
            <a:r>
              <a:rPr lang="en-US" sz="1350" dirty="0">
                <a:solidFill>
                  <a:srgbClr val="D5DAF5"/>
                </a:solidFill>
                <a:latin typeface="Calibri" pitchFamily="34" charset="0"/>
                <a:ea typeface="Calibri" pitchFamily="34" charset="-122"/>
                <a:cs typeface="Calibri" pitchFamily="34" charset="-120"/>
              </a:rPr>
              <a:t>QC triage, filing, status, tracking, monitoring — across PM, trial management, and monitoring.</a:t>
            </a:r>
            <a:endParaRPr lang="en-US" sz="1350" dirty="0"/>
          </a:p>
        </p:txBody>
      </p:sp>
      <p:sp>
        <p:nvSpPr>
          <p:cNvPr id="8" name="Text 6"/>
          <p:cNvSpPr/>
          <p:nvPr/>
        </p:nvSpPr>
        <p:spPr>
          <a:xfrm>
            <a:off x="640080" y="3291840"/>
            <a:ext cx="502920" cy="502920"/>
          </a:xfrm>
          <a:prstGeom prst="rect">
            <a:avLst/>
          </a:prstGeom>
          <a:noFill/>
          <a:ln/>
        </p:spPr>
        <p:txBody>
          <a:bodyPr wrap="square" lIns="0" tIns="0" rIns="0" bIns="0" rtlCol="0" anchor="ctr"/>
          <a:lstStyle/>
          <a:p>
            <a:pPr indent="0" marL="0">
              <a:buNone/>
            </a:pPr>
            <a:r>
              <a:rPr lang="en-US" sz="2200" b="1" dirty="0">
                <a:solidFill>
                  <a:srgbClr val="8B86F0"/>
                </a:solidFill>
                <a:latin typeface="Georgia" pitchFamily="34" charset="0"/>
                <a:ea typeface="Georgia" pitchFamily="34" charset="-122"/>
                <a:cs typeface="Georgia" pitchFamily="34" charset="-120"/>
              </a:rPr>
              <a:t>2</a:t>
            </a:r>
            <a:endParaRPr lang="en-US" sz="2200" dirty="0"/>
          </a:p>
        </p:txBody>
      </p:sp>
      <p:sp>
        <p:nvSpPr>
          <p:cNvPr id="9" name="Text 7"/>
          <p:cNvSpPr/>
          <p:nvPr/>
        </p:nvSpPr>
        <p:spPr>
          <a:xfrm>
            <a:off x="1234440" y="3310128"/>
            <a:ext cx="10424160" cy="64008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Validated tools + humans own what's regulated   </a:t>
            </a:r>
            <a:pPr indent="0" marL="0">
              <a:lnSpc>
                <a:spcPct val="102000"/>
              </a:lnSpc>
              <a:buNone/>
            </a:pPr>
            <a:r>
              <a:rPr lang="en-US" sz="1350" dirty="0">
                <a:solidFill>
                  <a:srgbClr val="D5DAF5"/>
                </a:solidFill>
                <a:latin typeface="Calibri" pitchFamily="34" charset="0"/>
                <a:ea typeface="Calibri" pitchFamily="34" charset="-122"/>
                <a:cs typeface="Calibri" pitchFamily="34" charset="-120"/>
              </a:rPr>
              <a:t>Every reported number and record of truth; PHI stays on the local model.</a:t>
            </a:r>
            <a:endParaRPr lang="en-US" sz="1350" dirty="0"/>
          </a:p>
        </p:txBody>
      </p:sp>
      <p:sp>
        <p:nvSpPr>
          <p:cNvPr id="10" name="Text 8"/>
          <p:cNvSpPr/>
          <p:nvPr/>
        </p:nvSpPr>
        <p:spPr>
          <a:xfrm>
            <a:off x="640080" y="4069080"/>
            <a:ext cx="502920" cy="502920"/>
          </a:xfrm>
          <a:prstGeom prst="rect">
            <a:avLst/>
          </a:prstGeom>
          <a:noFill/>
          <a:ln/>
        </p:spPr>
        <p:txBody>
          <a:bodyPr wrap="square" lIns="0" tIns="0" rIns="0" bIns="0" rtlCol="0" anchor="ctr"/>
          <a:lstStyle/>
          <a:p>
            <a:pPr indent="0" marL="0">
              <a:buNone/>
            </a:pPr>
            <a:r>
              <a:rPr lang="en-US" sz="2200" b="1" dirty="0">
                <a:solidFill>
                  <a:srgbClr val="8B86F0"/>
                </a:solidFill>
                <a:latin typeface="Georgia" pitchFamily="34" charset="0"/>
                <a:ea typeface="Georgia" pitchFamily="34" charset="-122"/>
                <a:cs typeface="Georgia" pitchFamily="34" charset="-120"/>
              </a:rPr>
              <a:t>3</a:t>
            </a:r>
            <a:endParaRPr lang="en-US" sz="2200" dirty="0"/>
          </a:p>
        </p:txBody>
      </p:sp>
      <p:sp>
        <p:nvSpPr>
          <p:cNvPr id="11" name="Text 9"/>
          <p:cNvSpPr/>
          <p:nvPr/>
        </p:nvSpPr>
        <p:spPr>
          <a:xfrm>
            <a:off x="1234440" y="4087368"/>
            <a:ext cx="10424160" cy="64008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Safe by construction   </a:t>
            </a:r>
            <a:pPr indent="0" marL="0">
              <a:lnSpc>
                <a:spcPct val="102000"/>
              </a:lnSpc>
              <a:buNone/>
            </a:pPr>
            <a:r>
              <a:rPr lang="en-US" sz="1350" dirty="0">
                <a:solidFill>
                  <a:srgbClr val="D5DAF5"/>
                </a:solidFill>
                <a:latin typeface="Calibri" pitchFamily="34" charset="0"/>
                <a:ea typeface="Calibri" pitchFamily="34" charset="-122"/>
                <a:cs typeface="Calibri" pitchFamily="34" charset="-120"/>
              </a:rPr>
              <a:t>One gateway, one audit trail, a human-approval queue on every regulated change.</a:t>
            </a:r>
            <a:endParaRPr lang="en-US" sz="1350" dirty="0"/>
          </a:p>
        </p:txBody>
      </p:sp>
      <p:sp>
        <p:nvSpPr>
          <p:cNvPr id="12" name="Text 10"/>
          <p:cNvSpPr/>
          <p:nvPr/>
        </p:nvSpPr>
        <p:spPr>
          <a:xfrm>
            <a:off x="640080" y="4846320"/>
            <a:ext cx="502920" cy="502920"/>
          </a:xfrm>
          <a:prstGeom prst="rect">
            <a:avLst/>
          </a:prstGeom>
          <a:noFill/>
          <a:ln/>
        </p:spPr>
        <p:txBody>
          <a:bodyPr wrap="square" lIns="0" tIns="0" rIns="0" bIns="0" rtlCol="0" anchor="ctr"/>
          <a:lstStyle/>
          <a:p>
            <a:pPr indent="0" marL="0">
              <a:buNone/>
            </a:pPr>
            <a:r>
              <a:rPr lang="en-US" sz="2200" b="1" dirty="0">
                <a:solidFill>
                  <a:srgbClr val="8B86F0"/>
                </a:solidFill>
                <a:latin typeface="Georgia" pitchFamily="34" charset="0"/>
                <a:ea typeface="Georgia" pitchFamily="34" charset="-122"/>
                <a:cs typeface="Georgia" pitchFamily="34" charset="-120"/>
              </a:rPr>
              <a:t>4</a:t>
            </a:r>
            <a:endParaRPr lang="en-US" sz="2200" dirty="0"/>
          </a:p>
        </p:txBody>
      </p:sp>
      <p:sp>
        <p:nvSpPr>
          <p:cNvPr id="13" name="Text 11"/>
          <p:cNvSpPr/>
          <p:nvPr/>
        </p:nvSpPr>
        <p:spPr>
          <a:xfrm>
            <a:off x="1234440" y="4864608"/>
            <a:ext cx="10424160" cy="64008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Start with the knowledge base   </a:t>
            </a:r>
            <a:pPr indent="0" marL="0">
              <a:lnSpc>
                <a:spcPct val="102000"/>
              </a:lnSpc>
              <a:buNone/>
            </a:pPr>
            <a:r>
              <a:rPr lang="en-US" sz="1350" dirty="0">
                <a:solidFill>
                  <a:srgbClr val="D5DAF5"/>
                </a:solidFill>
                <a:latin typeface="Calibri" pitchFamily="34" charset="0"/>
                <a:ea typeface="Calibri" pitchFamily="34" charset="-122"/>
                <a:cs typeface="Calibri" pitchFamily="34" charset="-120"/>
              </a:rPr>
              <a:t>Ship the SOP Q&amp;A agent first; keep everything behind the queue; expand as trust grows.</a:t>
            </a:r>
            <a:endParaRPr lang="en-US" sz="1350" dirty="0"/>
          </a:p>
        </p:txBody>
      </p:sp>
      <p:sp>
        <p:nvSpPr>
          <p:cNvPr id="14" name="Shape 12"/>
          <p:cNvSpPr/>
          <p:nvPr/>
        </p:nvSpPr>
        <p:spPr>
          <a:xfrm>
            <a:off x="640080" y="5852160"/>
            <a:ext cx="10881360" cy="0"/>
          </a:xfrm>
          <a:prstGeom prst="line">
            <a:avLst/>
          </a:prstGeom>
          <a:noFill/>
          <a:ln w="12700">
            <a:solidFill>
              <a:srgbClr val="3A3E72"/>
            </a:solidFill>
            <a:prstDash val="solid"/>
          </a:ln>
        </p:spPr>
      </p:sp>
      <p:sp>
        <p:nvSpPr>
          <p:cNvPr id="15" name="Text 13"/>
          <p:cNvSpPr/>
          <p:nvPr/>
        </p:nvSpPr>
        <p:spPr>
          <a:xfrm>
            <a:off x="640080" y="5961888"/>
            <a:ext cx="10881360" cy="457200"/>
          </a:xfrm>
          <a:prstGeom prst="rect">
            <a:avLst/>
          </a:prstGeom>
          <a:noFill/>
          <a:ln/>
        </p:spPr>
        <p:txBody>
          <a:bodyPr wrap="square" lIns="0" tIns="0" rIns="0" bIns="0" rtlCol="0" anchor="ctr"/>
          <a:lstStyle/>
          <a:p>
            <a:pPr indent="0" marL="0">
              <a:buNone/>
            </a:pPr>
            <a:r>
              <a:rPr lang="en-US" sz="1500" b="1" i="1" dirty="0">
                <a:solidFill>
                  <a:srgbClr val="FFFFFF"/>
                </a:solidFill>
                <a:latin typeface="Georgia" pitchFamily="34" charset="0"/>
                <a:ea typeface="Georgia" pitchFamily="34" charset="-122"/>
                <a:cs typeface="Georgia" pitchFamily="34" charset="-120"/>
              </a:rPr>
              <a:t>The full catalog — every automation, engine, integration, and human checkpoint — is in the operating wiki.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AI Trial-Operations Layer — Walkthrough</dc:title>
  <dc:subject>PptxGenJS Presentation</dc:subject>
  <dc:creator>Lead Biostatistician</dc:creator>
  <cp:lastModifiedBy>Lead Biostatistician</cp:lastModifiedBy>
  <cp:revision>1</cp:revision>
  <dcterms:created xsi:type="dcterms:W3CDTF">2026-06-10T04:41:00Z</dcterms:created>
  <dcterms:modified xsi:type="dcterms:W3CDTF">2026-06-10T04:41:00Z</dcterms:modified>
</cp:coreProperties>
</file>