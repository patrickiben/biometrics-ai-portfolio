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WORKED EXAMPLE · STUDY CP-101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deliverable, end to end —</a:t>
            </a:r>
            <a:endParaRPr lang="en-US" sz="3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Phase-1 PK package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 single PK deliverable from Protocol to CSR — and see exactly what each stage routes to AI, to a validated tool, and to a human. The rule never changes: sensitivity decides the engine, validated tools own every reported number, and a statistician signs.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5029200"/>
            <a:ext cx="662940" cy="274320"/>
          </a:xfrm>
          <a:prstGeom prst="roundRect">
            <a:avLst>
              <a:gd name="adj" fmla="val 16667"/>
            </a:avLst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02920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5349240"/>
            <a:ext cx="1577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/ unmasked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57500" y="5029200"/>
            <a:ext cx="1751076" cy="274320"/>
          </a:xfrm>
          <a:prstGeom prst="roundRect">
            <a:avLst>
              <a:gd name="adj" fmla="val 16667"/>
            </a:avLst>
          </a:prstGeom>
          <a:solidFill>
            <a:srgbClr val="2F6DB5"/>
          </a:solidFill>
          <a:ln/>
        </p:spPr>
      </p:sp>
      <p:sp>
        <p:nvSpPr>
          <p:cNvPr id="9" name="Text 7"/>
          <p:cNvSpPr/>
          <p:nvPr/>
        </p:nvSpPr>
        <p:spPr>
          <a:xfrm>
            <a:off x="2857500" y="5029200"/>
            <a:ext cx="1751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(Claude, BAA)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57500" y="5349240"/>
            <a:ext cx="2665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hard, de-identified reasoning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63056" y="5029200"/>
            <a:ext cx="1595628" cy="274320"/>
          </a:xfrm>
          <a:prstGeom prst="roundRect">
            <a:avLst>
              <a:gd name="adj" fmla="val 16667"/>
            </a:avLst>
          </a:prstGeom>
          <a:solidFill>
            <a:srgbClr val="0F9D6E"/>
          </a:solidFill>
          <a:ln/>
        </p:spPr>
      </p:sp>
      <p:sp>
        <p:nvSpPr>
          <p:cNvPr id="12" name="Text 10"/>
          <p:cNvSpPr/>
          <p:nvPr/>
        </p:nvSpPr>
        <p:spPr>
          <a:xfrm>
            <a:off x="6163056" y="5029200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+ HUMAN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63056" y="5349240"/>
            <a:ext cx="25100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&amp; sign-off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6126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Illustrative. Reported NCA numbers come from Phoenix WinNonlin, never an LLM.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DELIVERABLE &amp; THE RULE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PK package = ADPC dataset + PK TLFs + the CSR PK section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868680"/>
          </a:xfrm>
          <a:prstGeom prst="rect">
            <a:avLst/>
          </a:prstGeom>
          <a:solidFill>
            <a:srgbClr val="F4F5FB"/>
          </a:solidFill>
          <a:ln w="12700">
            <a:solidFill>
              <a:srgbClr val="DDE1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91440" cy="86868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28016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rule (every stage):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touches unmasked / participant-level data → 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 hard reasoning on de-identified text → 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Claude (BAA)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 every reported number → 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3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tool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QC'd and 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by a human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2066544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468880"/>
            <a:ext cx="2066544" cy="73152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10" name="Shape 8"/>
          <p:cNvSpPr/>
          <p:nvPr/>
        </p:nvSpPr>
        <p:spPr>
          <a:xfrm>
            <a:off x="1252728" y="2880360"/>
            <a:ext cx="475488" cy="475488"/>
          </a:xfrm>
          <a:prstGeom prst="ellipse">
            <a:avLst/>
          </a:prstGeom>
          <a:solidFill>
            <a:srgbClr val="2F6DB5"/>
          </a:solidFill>
          <a:ln/>
        </p:spPr>
      </p:sp>
      <p:sp>
        <p:nvSpPr>
          <p:cNvPr id="11" name="Text 9"/>
          <p:cNvSpPr/>
          <p:nvPr/>
        </p:nvSpPr>
        <p:spPr>
          <a:xfrm>
            <a:off x="1252728" y="2880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66928" y="352044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Protocol &amp; SAP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4251960"/>
            <a:ext cx="1847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 PK statistical-methods prose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05456" y="3840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752344" y="2468880"/>
            <a:ext cx="2066544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52344" y="2468880"/>
            <a:ext cx="2066544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7" name="Shape 15"/>
          <p:cNvSpPr/>
          <p:nvPr/>
        </p:nvSpPr>
        <p:spPr>
          <a:xfrm>
            <a:off x="3547872" y="2880360"/>
            <a:ext cx="475488" cy="47548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3547872" y="2880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862072" y="352044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SDTM → ADaM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862072" y="4251960"/>
            <a:ext cx="1847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validate the ADPC dataset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3840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47488" y="2468880"/>
            <a:ext cx="2066544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47488" y="2468880"/>
            <a:ext cx="2066544" cy="7315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4" name="Shape 22"/>
          <p:cNvSpPr/>
          <p:nvPr/>
        </p:nvSpPr>
        <p:spPr>
          <a:xfrm>
            <a:off x="5843016" y="2880360"/>
            <a:ext cx="475488" cy="47548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5843016" y="2880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157216" y="352044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(NCA)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57216" y="4251960"/>
            <a:ext cx="1847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Cmax/AUC/t½ + QC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95744" y="3840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342632" y="2468880"/>
            <a:ext cx="2066544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42632" y="2468880"/>
            <a:ext cx="2066544" cy="73152"/>
          </a:xfrm>
          <a:prstGeom prst="rect">
            <a:avLst/>
          </a:prstGeom>
          <a:solidFill>
            <a:srgbClr val="C2891C"/>
          </a:solidFill>
          <a:ln/>
        </p:spPr>
      </p:sp>
      <p:sp>
        <p:nvSpPr>
          <p:cNvPr id="31" name="Shape 29"/>
          <p:cNvSpPr/>
          <p:nvPr/>
        </p:nvSpPr>
        <p:spPr>
          <a:xfrm>
            <a:off x="8138160" y="2880360"/>
            <a:ext cx="475488" cy="475488"/>
          </a:xfrm>
          <a:prstGeom prst="ellipse">
            <a:avLst/>
          </a:prstGeom>
          <a:solidFill>
            <a:srgbClr val="C2891C"/>
          </a:solidFill>
          <a:ln/>
        </p:spPr>
      </p:sp>
      <p:sp>
        <p:nvSpPr>
          <p:cNvPr id="32" name="Text 30"/>
          <p:cNvSpPr/>
          <p:nvPr/>
        </p:nvSpPr>
        <p:spPr>
          <a:xfrm>
            <a:off x="8138160" y="2880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452360" y="352044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TLF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452360" y="4251960"/>
            <a:ext cx="1847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 reconcile the PK tables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390888" y="3840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637776" y="2468880"/>
            <a:ext cx="2066544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637776" y="2468880"/>
            <a:ext cx="2066544" cy="73152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38" name="Shape 36"/>
          <p:cNvSpPr/>
          <p:nvPr/>
        </p:nvSpPr>
        <p:spPr>
          <a:xfrm>
            <a:off x="10433304" y="2880360"/>
            <a:ext cx="475488" cy="475488"/>
          </a:xfrm>
          <a:prstGeom prst="ellipse">
            <a:avLst/>
          </a:prstGeom>
          <a:solidFill>
            <a:srgbClr val="2F6DB5"/>
          </a:solidFill>
          <a:ln/>
        </p:spPr>
      </p:sp>
      <p:sp>
        <p:nvSpPr>
          <p:cNvPr id="39" name="Text 37"/>
          <p:cNvSpPr/>
          <p:nvPr/>
        </p:nvSpPr>
        <p:spPr>
          <a:xfrm>
            <a:off x="10433304" y="2880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9747504" y="352044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747504" y="4251960"/>
            <a:ext cx="1847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 PK methods/results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6236208"/>
            <a:ext cx="11247120" cy="457200"/>
          </a:xfrm>
          <a:prstGeom prst="rect">
            <a:avLst/>
          </a:prstGeom>
          <a:solidFill>
            <a:srgbClr val="ECECFB"/>
          </a:solidFill>
          <a:ln/>
        </p:spPr>
      </p:sp>
      <p:sp>
        <p:nvSpPr>
          <p:cNvPr id="43" name="Shape 41"/>
          <p:cNvSpPr/>
          <p:nvPr/>
        </p:nvSpPr>
        <p:spPr>
          <a:xfrm>
            <a:off x="457200" y="6236208"/>
            <a:ext cx="91440" cy="4572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44" name="Text 42"/>
          <p:cNvSpPr/>
          <p:nvPr/>
        </p:nvSpPr>
        <p:spPr>
          <a:xfrm>
            <a:off x="685800" y="62362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deliverable, five stages — the engine changes with the data, but the numbers and the sign-off never leave validated tools and the statistician.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2F6DB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PROTOCOL &amp; SAP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Drafting the PK statistical-methods section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566160" cy="3657600"/>
          </a:xfrm>
          <a:prstGeom prst="rect">
            <a:avLst/>
          </a:prstGeom>
          <a:solidFill>
            <a:srgbClr val="E5EEF8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3566160" cy="512064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417320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08960" y="1536192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1E4C82"/>
          </a:solidFill>
          <a:ln/>
        </p:spPr>
      </p:sp>
      <p:sp>
        <p:nvSpPr>
          <p:cNvPr id="9" name="Text 7"/>
          <p:cNvSpPr/>
          <p:nvPr/>
        </p:nvSpPr>
        <p:spPr>
          <a:xfrm>
            <a:off x="3108960" y="15361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2075688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drafts the PK methods prose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8368" y="2788920"/>
            <a:ext cx="31638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E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protocol + SAP shell (de-identified text): NCA parameters, BLQ rule, nominal-vs-actual time, populations — with [placeholders] for study values. Invents nothing.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1417320"/>
            <a:ext cx="3566160" cy="3657600"/>
          </a:xfrm>
          <a:prstGeom prst="rect">
            <a:avLst/>
          </a:prstGeom>
          <a:solidFill>
            <a:srgbClr val="EEF1F6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1417320"/>
            <a:ext cx="3566160" cy="5120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4" name="Text 12"/>
          <p:cNvSpPr/>
          <p:nvPr/>
        </p:nvSpPr>
        <p:spPr>
          <a:xfrm>
            <a:off x="4462272" y="1417320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TOOL — OWNS THE NUMBER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98848" y="2075688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498848" y="2788920"/>
            <a:ext cx="31638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3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reported number here yet; this stage is text. The analysis logic stays authoritative in the SAP, human-owned.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38160" y="1417320"/>
            <a:ext cx="3566160" cy="3657600"/>
          </a:xfrm>
          <a:prstGeom prst="rect">
            <a:avLst/>
          </a:prstGeom>
          <a:solidFill>
            <a:srgbClr val="E7F6F0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38160" y="1417320"/>
            <a:ext cx="3566160" cy="512064"/>
          </a:xfrm>
          <a:prstGeom prst="rect">
            <a:avLst/>
          </a:prstGeom>
          <a:solidFill>
            <a:srgbClr val="0F9D6E"/>
          </a:solidFill>
          <a:ln/>
        </p:spPr>
      </p:sp>
      <p:sp>
        <p:nvSpPr>
          <p:cNvPr id="19" name="Text 17"/>
          <p:cNvSpPr/>
          <p:nvPr/>
        </p:nvSpPr>
        <p:spPr>
          <a:xfrm>
            <a:off x="8302752" y="1417320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— SIGNS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39328" y="2075688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Statistician reviews &amp; edits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339328" y="2788920"/>
            <a:ext cx="31638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0B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every derivation rule, fills placeholders, owns the estimand and endpoint decisions. The SAP is signed.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6236208"/>
            <a:ext cx="11247120" cy="457200"/>
          </a:xfrm>
          <a:prstGeom prst="rect">
            <a:avLst/>
          </a:prstGeom>
          <a:solidFill>
            <a:srgbClr val="ECECFB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6236208"/>
            <a:ext cx="91440" cy="457200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62362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Hard, non-sensitive reasoning on de-identified text → cloud. The statistician owns the logic and the sign-off.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· SDTM → ADaM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&amp; validating the ADPC dataset (real PK data)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566160" cy="3657600"/>
          </a:xfrm>
          <a:prstGeom prst="rect">
            <a:avLst/>
          </a:prstGeom>
          <a:solidFill>
            <a:srgbClr val="E2F1F2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3566160" cy="51206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417320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08960" y="1536192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0A4F57"/>
          </a:solidFill>
          <a:ln/>
        </p:spPr>
      </p:sp>
      <p:sp>
        <p:nvSpPr>
          <p:cNvPr id="9" name="Text 7"/>
          <p:cNvSpPr/>
          <p:nvPr/>
        </p:nvSpPr>
        <p:spPr>
          <a:xfrm>
            <a:off x="3108960" y="15361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2075688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model assists the ADPC build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8368" y="2788920"/>
            <a:ext cx="31638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0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real, unmasked PC/PK data — zero egress: BLQ handling (pre-first-quantifiable→0, else LLOQ/2), nominal &amp; actual time, deviation flags, mapping to ADPC. Drafts the spec &amp; code.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1417320"/>
            <a:ext cx="3566160" cy="3657600"/>
          </a:xfrm>
          <a:prstGeom prst="rect">
            <a:avLst/>
          </a:prstGeom>
          <a:solidFill>
            <a:srgbClr val="EEF1F6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1417320"/>
            <a:ext cx="3566160" cy="5120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4" name="Text 12"/>
          <p:cNvSpPr/>
          <p:nvPr/>
        </p:nvSpPr>
        <p:spPr>
          <a:xfrm>
            <a:off x="4462272" y="1417320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TOOL — OWNS THE NUMBER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98848" y="2075688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Pinnacle 21 validates conformance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498848" y="2788920"/>
            <a:ext cx="31638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3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CDISC/ADaMIG + Define-XML checks run in the validated tool — the conformance result is the tool's, not the model's.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38160" y="1417320"/>
            <a:ext cx="3566160" cy="3657600"/>
          </a:xfrm>
          <a:prstGeom prst="rect">
            <a:avLst/>
          </a:prstGeom>
          <a:solidFill>
            <a:srgbClr val="E7F6F0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38160" y="1417320"/>
            <a:ext cx="3566160" cy="512064"/>
          </a:xfrm>
          <a:prstGeom prst="rect">
            <a:avLst/>
          </a:prstGeom>
          <a:solidFill>
            <a:srgbClr val="0F9D6E"/>
          </a:solidFill>
          <a:ln/>
        </p:spPr>
      </p:sp>
      <p:sp>
        <p:nvSpPr>
          <p:cNvPr id="19" name="Text 17"/>
          <p:cNvSpPr/>
          <p:nvPr/>
        </p:nvSpPr>
        <p:spPr>
          <a:xfrm>
            <a:off x="8302752" y="1417320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— SIGNS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39328" y="2075688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QC double-programming; statistician signs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339328" y="2788920"/>
            <a:ext cx="31638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0B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program reconciles ADPC; discrepancies resolved; the dataset is signed and frozen.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6236208"/>
            <a:ext cx="11247120" cy="457200"/>
          </a:xfrm>
          <a:prstGeom prst="rect">
            <a:avLst/>
          </a:prstGeom>
          <a:solidFill>
            <a:srgbClr val="ECECFB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6236208"/>
            <a:ext cx="9144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62362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Participant-level / unmasked → LOCAL, zero egress. Conformance comes from Pinnacle 21; a human signs the frozen ADPC.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64748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· ANALYSIS (NCA)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Computing the PK parameters — the numbers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566160" cy="3657600"/>
          </a:xfrm>
          <a:prstGeom prst="rect">
            <a:avLst/>
          </a:prstGeom>
          <a:solidFill>
            <a:srgbClr val="E2F1F2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3566160" cy="51206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417320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08960" y="1536192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0A4F57"/>
          </a:solidFill>
          <a:ln/>
        </p:spPr>
      </p:sp>
      <p:sp>
        <p:nvSpPr>
          <p:cNvPr id="9" name="Text 7"/>
          <p:cNvSpPr/>
          <p:nvPr/>
        </p:nvSpPr>
        <p:spPr>
          <a:xfrm>
            <a:off x="3108960" y="15361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2075688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model assists QC &amp; narrative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8368" y="2788920"/>
            <a:ext cx="31638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0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Sanity-checks profiles, flags outliers/anomalies for review, drafts the analysis notes — on the unmasked data, zero egress. It never produces a reported value.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1417320"/>
            <a:ext cx="3566160" cy="3657600"/>
          </a:xfrm>
          <a:prstGeom prst="rect">
            <a:avLst/>
          </a:prstGeom>
          <a:solidFill>
            <a:srgbClr val="EEF1F6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1417320"/>
            <a:ext cx="3566160" cy="5120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4" name="Text 12"/>
          <p:cNvSpPr/>
          <p:nvPr/>
        </p:nvSpPr>
        <p:spPr>
          <a:xfrm>
            <a:off x="4462272" y="1417320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TOOL — OWNS THE NUMBER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98848" y="2075688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Phoenix WinNonlin computes the NCA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498848" y="2788920"/>
            <a:ext cx="31638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3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Cmax, Tmax, AUC0-t, AUC0-inf, t½, CL/F, Vz/F — in the validated NCA tool. These ARE the reported numbers.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38160" y="1417320"/>
            <a:ext cx="3566160" cy="3657600"/>
          </a:xfrm>
          <a:prstGeom prst="rect">
            <a:avLst/>
          </a:prstGeom>
          <a:solidFill>
            <a:srgbClr val="E7F6F0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38160" y="1417320"/>
            <a:ext cx="3566160" cy="512064"/>
          </a:xfrm>
          <a:prstGeom prst="rect">
            <a:avLst/>
          </a:prstGeom>
          <a:solidFill>
            <a:srgbClr val="0F9D6E"/>
          </a:solidFill>
          <a:ln/>
        </p:spPr>
      </p:sp>
      <p:sp>
        <p:nvSpPr>
          <p:cNvPr id="19" name="Text 17"/>
          <p:cNvSpPr/>
          <p:nvPr/>
        </p:nvSpPr>
        <p:spPr>
          <a:xfrm>
            <a:off x="8302752" y="1417320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— SIGNS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39328" y="2075688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double-programming; sign-off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339328" y="2788920"/>
            <a:ext cx="31638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0B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analyst's run reconciles the parameters; the medical monitor reviews emerging PK; the statistician signs.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6236208"/>
            <a:ext cx="11247120" cy="457200"/>
          </a:xfrm>
          <a:prstGeom prst="rect">
            <a:avLst/>
          </a:prstGeom>
          <a:solidFill>
            <a:srgbClr val="ECECFB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6236208"/>
            <a:ext cx="91440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62362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reported NCA numbers come from Phoenix — never an LLM. The model assists QC; double-programming and a human own the result.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C2891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· TLF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Generating &amp; reconciling the PK tables, listings, figures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566160" cy="3657600"/>
          </a:xfrm>
          <a:prstGeom prst="rect">
            <a:avLst/>
          </a:prstGeom>
          <a:solidFill>
            <a:srgbClr val="E5EEF8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3566160" cy="512064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417320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08960" y="1536192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1E4C82"/>
          </a:solidFill>
          <a:ln/>
        </p:spPr>
      </p:sp>
      <p:sp>
        <p:nvSpPr>
          <p:cNvPr id="9" name="Text 7"/>
          <p:cNvSpPr/>
          <p:nvPr/>
        </p:nvSpPr>
        <p:spPr>
          <a:xfrm>
            <a:off x="3108960" y="15361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2075688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drafts shells, titles, footnotes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8368" y="2788920"/>
            <a:ext cx="31638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E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TLF shell prose, table titles &amp; footnotes, and a consistency check of wording across outputs — text only.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1417320"/>
            <a:ext cx="3566160" cy="3657600"/>
          </a:xfrm>
          <a:prstGeom prst="rect">
            <a:avLst/>
          </a:prstGeom>
          <a:solidFill>
            <a:srgbClr val="EEF1F6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1417320"/>
            <a:ext cx="3566160" cy="5120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4" name="Text 12"/>
          <p:cNvSpPr/>
          <p:nvPr/>
        </p:nvSpPr>
        <p:spPr>
          <a:xfrm>
            <a:off x="4462272" y="1417320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TOOL — OWNS THE NUMBER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98848" y="2075688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SAS / validated macros produce the TLFs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498848" y="2788920"/>
            <a:ext cx="31638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3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tables/figures are produced by the validated programs from the frozen ADPC + NCA results.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38160" y="1417320"/>
            <a:ext cx="3566160" cy="3657600"/>
          </a:xfrm>
          <a:prstGeom prst="rect">
            <a:avLst/>
          </a:prstGeom>
          <a:solidFill>
            <a:srgbClr val="E7F6F0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38160" y="1417320"/>
            <a:ext cx="3566160" cy="512064"/>
          </a:xfrm>
          <a:prstGeom prst="rect">
            <a:avLst/>
          </a:prstGeom>
          <a:solidFill>
            <a:srgbClr val="0F9D6E"/>
          </a:solidFill>
          <a:ln/>
        </p:spPr>
      </p:sp>
      <p:sp>
        <p:nvSpPr>
          <p:cNvPr id="19" name="Text 17"/>
          <p:cNvSpPr/>
          <p:nvPr/>
        </p:nvSpPr>
        <p:spPr>
          <a:xfrm>
            <a:off x="8302752" y="1417320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— SIGNS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39328" y="2075688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QC reconciles to source; statistician signs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339328" y="2788920"/>
            <a:ext cx="31638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0B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QC ties every cell back to the validated outputs; the TLF package is signed.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6236208"/>
            <a:ext cx="11247120" cy="457200"/>
          </a:xfrm>
          <a:prstGeom prst="rect">
            <a:avLst/>
          </a:prstGeom>
          <a:solidFill>
            <a:srgbClr val="ECECFB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6236208"/>
            <a:ext cx="91440" cy="457200"/>
          </a:xfrm>
          <a:prstGeom prst="rect">
            <a:avLst/>
          </a:prstGeom>
          <a:solidFill>
            <a:srgbClr val="C2891C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62362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drafts wording; the validated programs produce the numbers; QC reconciles to source and a human signs.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2F6DB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· CSR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Drafting the PK methods &amp; results section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566160" cy="3657600"/>
          </a:xfrm>
          <a:prstGeom prst="rect">
            <a:avLst/>
          </a:prstGeom>
          <a:solidFill>
            <a:srgbClr val="E5EEF8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3566160" cy="512064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417320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08960" y="1536192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1E4C82"/>
          </a:solidFill>
          <a:ln/>
        </p:spPr>
      </p:sp>
      <p:sp>
        <p:nvSpPr>
          <p:cNvPr id="9" name="Text 7"/>
          <p:cNvSpPr/>
          <p:nvPr/>
        </p:nvSpPr>
        <p:spPr>
          <a:xfrm>
            <a:off x="3108960" y="15361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2075688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drafts the PK CSR prose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8368" y="2788920"/>
            <a:ext cx="31638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E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SAP + the (de-identified) summary outputs: a methods/results narrative consistent with the TLFs — cites the tables, paraphrases nothing numeric it shouldn't.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1417320"/>
            <a:ext cx="3566160" cy="3657600"/>
          </a:xfrm>
          <a:prstGeom prst="rect">
            <a:avLst/>
          </a:prstGeom>
          <a:solidFill>
            <a:srgbClr val="EEF1F6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1417320"/>
            <a:ext cx="3566160" cy="5120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4" name="Text 12"/>
          <p:cNvSpPr/>
          <p:nvPr/>
        </p:nvSpPr>
        <p:spPr>
          <a:xfrm>
            <a:off x="4462272" y="1417320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TOOL — OWNS THE NUMBER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98848" y="2075688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TLFs/Define remain the source of truth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498848" y="2788920"/>
            <a:ext cx="31638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3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in the prose traces to a signed TLF; the model copies, never computes.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38160" y="1417320"/>
            <a:ext cx="3566160" cy="3657600"/>
          </a:xfrm>
          <a:prstGeom prst="rect">
            <a:avLst/>
          </a:prstGeom>
          <a:solidFill>
            <a:srgbClr val="E7F6F0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38160" y="1417320"/>
            <a:ext cx="3566160" cy="512064"/>
          </a:xfrm>
          <a:prstGeom prst="rect">
            <a:avLst/>
          </a:prstGeom>
          <a:solidFill>
            <a:srgbClr val="0F9D6E"/>
          </a:solidFill>
          <a:ln/>
        </p:spPr>
      </p:sp>
      <p:sp>
        <p:nvSpPr>
          <p:cNvPr id="19" name="Text 17"/>
          <p:cNvSpPr/>
          <p:nvPr/>
        </p:nvSpPr>
        <p:spPr>
          <a:xfrm>
            <a:off x="8302752" y="1417320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— SIGNS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39328" y="2075688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Medical writer + statistician finalize &amp; sign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339328" y="2788920"/>
            <a:ext cx="31638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0B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for accuracy and interpretation; the CSR section is finalized into the regulated document.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6236208"/>
            <a:ext cx="11247120" cy="457200"/>
          </a:xfrm>
          <a:prstGeom prst="rect">
            <a:avLst/>
          </a:prstGeom>
          <a:solidFill>
            <a:srgbClr val="ECECFB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6236208"/>
            <a:ext cx="91440" cy="457200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62362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De-identified summary reasoning → cloud draft. The signed TLFs own every number; humans finalize the regulated text.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EXAMPLE SHOWS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did the drafting and the QC. Validated tools and humans owned the numbers.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94960" cy="1600200"/>
          </a:xfrm>
          <a:prstGeom prst="rect">
            <a:avLst/>
          </a:prstGeom>
          <a:solidFill>
            <a:srgbClr val="1E2350"/>
          </a:solidFill>
          <a:ln w="12700">
            <a:solidFill>
              <a:srgbClr val="343A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65960"/>
            <a:ext cx="82296" cy="1600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1226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Sensitivity routed the engine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569464"/>
            <a:ext cx="48920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Unmasked PK data stayed on the LOCAL model (zero egress); de-identified reasoning went to CLOUD Claude.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92240" y="1965960"/>
            <a:ext cx="5394960" cy="1600200"/>
          </a:xfrm>
          <a:prstGeom prst="rect">
            <a:avLst/>
          </a:prstGeom>
          <a:solidFill>
            <a:srgbClr val="1E2350"/>
          </a:solidFill>
          <a:ln w="12700">
            <a:solidFill>
              <a:srgbClr val="343A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965960"/>
            <a:ext cx="82296" cy="1600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211226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Validated tools owned every number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66560" y="2569464"/>
            <a:ext cx="48920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computed the NCA; Pinnacle 21 validated conformance; SAS produced the TLFs. The LLM never produced a reported value.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5394960" cy="1600200"/>
          </a:xfrm>
          <a:prstGeom prst="rect">
            <a:avLst/>
          </a:prstGeom>
          <a:solidFill>
            <a:srgbClr val="1E2350"/>
          </a:solidFill>
          <a:ln w="12700">
            <a:solidFill>
              <a:srgbClr val="343A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794760"/>
            <a:ext cx="82296" cy="1600200"/>
          </a:xfrm>
          <a:prstGeom prst="rect">
            <a:avLst/>
          </a:prstGeom>
          <a:solidFill>
            <a:srgbClr val="0F9D6E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94106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human signed every gate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398264"/>
            <a:ext cx="48920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ADPC, double-programmed parameters, reconciled TLFs, finalized CSR — each signed.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92240" y="3794760"/>
            <a:ext cx="5394960" cy="1600200"/>
          </a:xfrm>
          <a:prstGeom prst="rect">
            <a:avLst/>
          </a:prstGeom>
          <a:solidFill>
            <a:srgbClr val="1E2350"/>
          </a:solidFill>
          <a:ln w="12700">
            <a:solidFill>
              <a:srgbClr val="343A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3794760"/>
            <a:ext cx="82296" cy="16002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394106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payoff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66560" y="4398264"/>
            <a:ext cx="48920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drafting and tighter QC across Protocol→CSR — with the data staying put and the regulated outputs unchanged in provenance.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Illustrative. The full 136-deliverable map and register are in the pipeline package; reported numbers always come from validated tools.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worked example — the Phase-1 PK package</dc:title>
  <dc:subject>PptxGenJS Presentation</dc:subject>
  <dc:creator>PptxGenJS</dc:creator>
  <cp:lastModifiedBy>PptxGenJS</cp:lastModifiedBy>
  <cp:revision>1</cp:revision>
  <dcterms:created xsi:type="dcterms:W3CDTF">2026-06-10T22:32:49Z</dcterms:created>
  <dcterms:modified xsi:type="dcterms:W3CDTF">2026-06-10T22:32:49Z</dcterms:modified>
</cp:coreProperties>
</file>