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274320"/>
            <a:ext cx="146304" cy="384048"/>
          </a:xfrm>
          <a:prstGeom prst="roundRect">
            <a:avLst>
              <a:gd name="adj" fmla="val 25000"/>
            </a:avLst>
          </a:prstGeom>
          <a:solidFill>
            <a:srgbClr val="4338CA"/>
          </a:solidFill>
          <a:ln/>
        </p:spPr>
      </p:sp>
      <p:sp>
        <p:nvSpPr>
          <p:cNvPr id="3" name="Text 1"/>
          <p:cNvSpPr/>
          <p:nvPr/>
        </p:nvSpPr>
        <p:spPr>
          <a:xfrm>
            <a:off x="704088" y="256032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EARLY-PHASE CLINICAL PHARMACOLOGY · BIOSTATISTICS DELIVERABLES PIPELINE · 136 DELIVERABLES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704088" y="475488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E3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 review  →  CSR draft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033626" cy="3246120"/>
          </a:xfrm>
          <a:prstGeom prst="rect">
            <a:avLst/>
          </a:prstGeom>
          <a:solidFill>
            <a:srgbClr val="ECEE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033626" cy="749808"/>
          </a:xfrm>
          <a:prstGeom prst="rect">
            <a:avLst/>
          </a:prstGeom>
          <a:solidFill>
            <a:srgbClr val="3B4BA8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89888"/>
            <a:ext cx="17593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S1
</a:t>
            </a:r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Study Design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Protocol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76072" y="2194560"/>
            <a:ext cx="1741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3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biostat input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3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Estimands → endpoints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3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Sample-size justification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3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design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2B35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DSMB / SRC decision rules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11480" y="4005072"/>
            <a:ext cx="2033626" cy="566928"/>
          </a:xfrm>
          <a:prstGeom prst="rect">
            <a:avLst/>
          </a:prstGeom>
          <a:solidFill>
            <a:srgbClr val="3B4BA8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" y="4023360"/>
            <a:ext cx="18507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approved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463394" y="28026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737714" y="1325880"/>
            <a:ext cx="2033626" cy="3246120"/>
          </a:xfrm>
          <a:prstGeom prst="rect">
            <a:avLst/>
          </a:prstGeom>
          <a:solidFill>
            <a:srgbClr val="E2F1F2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37714" y="1325880"/>
            <a:ext cx="2033626" cy="74980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2874874" y="1389888"/>
            <a:ext cx="17593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S2
</a:t>
            </a:r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Planning &amp;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Specifications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902306" y="2194560"/>
            <a:ext cx="1741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 Plan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TLF shells / mock-ups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&amp; SDTM specs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Randomization schedule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0A4F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Data-review &amp; QC plans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737714" y="4005072"/>
            <a:ext cx="2033626" cy="5669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7" name="Text 15"/>
          <p:cNvSpPr/>
          <p:nvPr/>
        </p:nvSpPr>
        <p:spPr>
          <a:xfrm>
            <a:off x="2829154" y="4023360"/>
            <a:ext cx="18507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 &amp; specs final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789627" y="28026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063947" y="1325880"/>
            <a:ext cx="2033626" cy="3246120"/>
          </a:xfrm>
          <a:prstGeom prst="rect">
            <a:avLst/>
          </a:prstGeom>
          <a:solidFill>
            <a:srgbClr val="E5EEF8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63947" y="1325880"/>
            <a:ext cx="2033626" cy="74980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1" name="Text 19"/>
          <p:cNvSpPr/>
          <p:nvPr/>
        </p:nvSpPr>
        <p:spPr>
          <a:xfrm>
            <a:off x="5201107" y="1389888"/>
            <a:ext cx="17593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S3
</a:t>
            </a:r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&amp;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CDISC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28539" y="2194560"/>
            <a:ext cx="1741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SDTM datasets + aCRF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datasets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Define-XML + cSDRG/ADRG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Conformance (Pinnacle 21)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 + audit trail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063947" y="4005072"/>
            <a:ext cx="2033626" cy="566928"/>
          </a:xfrm>
          <a:prstGeom prst="rect">
            <a:avLst/>
          </a:prstGeom>
          <a:solidFill>
            <a:srgbClr val="2F6DB5"/>
          </a:solidFill>
          <a:ln/>
        </p:spPr>
      </p:sp>
      <p:sp>
        <p:nvSpPr>
          <p:cNvPr id="24" name="Text 22"/>
          <p:cNvSpPr/>
          <p:nvPr/>
        </p:nvSpPr>
        <p:spPr>
          <a:xfrm>
            <a:off x="5155387" y="4023360"/>
            <a:ext cx="18507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lock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15861" y="28026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390181" y="1325880"/>
            <a:ext cx="2033626" cy="3246120"/>
          </a:xfrm>
          <a:prstGeom prst="rect">
            <a:avLst/>
          </a:prstGeom>
          <a:solidFill>
            <a:srgbClr val="FAF0D8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90181" y="1325880"/>
            <a:ext cx="2033626" cy="749808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28" name="Text 26"/>
          <p:cNvSpPr/>
          <p:nvPr/>
        </p:nvSpPr>
        <p:spPr>
          <a:xfrm>
            <a:off x="7527341" y="1389888"/>
            <a:ext cx="17593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S4
</a:t>
            </a:r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Analysis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QC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7554773" y="2194560"/>
            <a:ext cx="1741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PK conc &amp; NCA TLFs (Phoenix)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/ PD TLFs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popPK / exposure-response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double-programming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6B4E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Unblinding (controlled)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7390181" y="4005072"/>
            <a:ext cx="2033626" cy="566928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31" name="Text 29"/>
          <p:cNvSpPr/>
          <p:nvPr/>
        </p:nvSpPr>
        <p:spPr>
          <a:xfrm>
            <a:off x="7481621" y="4023360"/>
            <a:ext cx="18507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QC-passed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9442094" y="2802636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9716414" y="1325880"/>
            <a:ext cx="2033626" cy="3246120"/>
          </a:xfrm>
          <a:prstGeom prst="rect">
            <a:avLst/>
          </a:prstGeom>
          <a:solidFill>
            <a:srgbClr val="ECEC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716414" y="1325880"/>
            <a:ext cx="2033626" cy="74980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5" name="Text 33"/>
          <p:cNvSpPr/>
          <p:nvPr/>
        </p:nvSpPr>
        <p:spPr>
          <a:xfrm>
            <a:off x="9853574" y="1389888"/>
            <a:ext cx="175930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90000"/>
              </a:lnSpc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S5
</a:t>
            </a:r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</a:t>
            </a:r>
            <a:endParaRPr lang="en-US" sz="1100" dirty="0"/>
          </a:p>
          <a:p>
            <a:pPr algn="ctr" indent="0" marL="0">
              <a:lnSpc>
                <a:spcPct val="9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&amp; CSR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881006" y="2194560"/>
            <a:ext cx="174101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methods &amp; results text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In-text tables / figures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appendices (16.x)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+ guides → eCTD m5</a:t>
            </a:r>
            <a:endParaRPr lang="en-US" sz="1000" dirty="0"/>
          </a:p>
          <a:p>
            <a:pPr marL="127000" indent="-127000">
              <a:lnSpc>
                <a:spcPct val="98000"/>
              </a:lnSpc>
              <a:spcAft>
                <a:spcPts val="700"/>
              </a:spcAft>
              <a:buSzPct val="100000"/>
              <a:buChar char="•"/>
            </a:pPr>
            <a:r>
              <a:rPr lang="en-US" sz="1000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Cross-doc consistency QC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9716414" y="4005072"/>
            <a:ext cx="2033626" cy="566928"/>
          </a:xfrm>
          <a:prstGeom prst="rect">
            <a:avLst/>
          </a:prstGeom>
          <a:solidFill>
            <a:srgbClr val="4338CA"/>
          </a:solidFill>
          <a:ln/>
        </p:spPr>
      </p:sp>
      <p:sp>
        <p:nvSpPr>
          <p:cNvPr id="38" name="Text 36"/>
          <p:cNvSpPr/>
          <p:nvPr/>
        </p:nvSpPr>
        <p:spPr>
          <a:xfrm>
            <a:off x="9807854" y="4023360"/>
            <a:ext cx="185074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85000"/>
              </a:lnSpc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
</a:t>
            </a:r>
            <a:pPr algn="ctr" indent="0" marL="0">
              <a:lnSpc>
                <a:spcPct val="85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CSR draft delivered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411480" y="4736592"/>
            <a:ext cx="11338560" cy="384048"/>
          </a:xfrm>
          <a:prstGeom prst="rect">
            <a:avLst/>
          </a:prstGeom>
          <a:solidFill>
            <a:srgbClr val="E5EEF8"/>
          </a:solidFill>
          <a:ln w="12700">
            <a:solidFill>
              <a:srgbClr val="CBDD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" y="47365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C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CDISC data-standards track:  </a:t>
            </a:r>
            <a:pPr indent="0" marL="0">
              <a:buNone/>
            </a:pPr>
            <a:r>
              <a:rPr lang="en-US" sz="10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SDTM → ADaM → Define-XML + cSDRG / ADRG + conformance   (runs through Stages 3–5)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411480" y="5193792"/>
            <a:ext cx="11338560" cy="384048"/>
          </a:xfrm>
          <a:prstGeom prst="rect">
            <a:avLst/>
          </a:prstGeom>
          <a:solidFill>
            <a:srgbClr val="ECECFB"/>
          </a:solidFill>
          <a:ln w="12700">
            <a:solidFill>
              <a:srgbClr val="D6D6F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" y="5193792"/>
            <a:ext cx="10881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Hybrid-AI governance track:  </a:t>
            </a:r>
            <a:pPr indent="0" marL="0">
              <a:buNone/>
            </a:pPr>
            <a:r>
              <a:rPr lang="en-US" sz="105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data-classification routing · model-freeze records · engine-of-record register · zero-egress attestation   (all stages)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11480" y="5696712"/>
            <a:ext cx="3627120" cy="548640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11480" y="5696712"/>
            <a:ext cx="82296" cy="548640"/>
          </a:xfrm>
          <a:prstGeom prst="rect">
            <a:avLst/>
          </a:prstGeom>
          <a:solidFill>
            <a:srgbClr val="0F9D6E"/>
          </a:solidFill>
          <a:ln/>
        </p:spPr>
      </p:sp>
      <p:sp>
        <p:nvSpPr>
          <p:cNvPr id="45" name="Text 43"/>
          <p:cNvSpPr/>
          <p:nvPr/>
        </p:nvSpPr>
        <p:spPr>
          <a:xfrm>
            <a:off x="612648" y="5696712"/>
            <a:ext cx="330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GREEN · 48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drafts, scaffolds, docs (de-identified)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267200" y="5696712"/>
            <a:ext cx="3627120" cy="548640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267200" y="5696712"/>
            <a:ext cx="82296" cy="548640"/>
          </a:xfrm>
          <a:prstGeom prst="rect">
            <a:avLst/>
          </a:prstGeom>
          <a:solidFill>
            <a:srgbClr val="C2891C"/>
          </a:solidFill>
          <a:ln/>
        </p:spPr>
      </p:sp>
      <p:sp>
        <p:nvSpPr>
          <p:cNvPr id="48" name="Text 46"/>
          <p:cNvSpPr/>
          <p:nvPr/>
        </p:nvSpPr>
        <p:spPr>
          <a:xfrm>
            <a:off x="4468368" y="5696712"/>
            <a:ext cx="330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🟡 AMBER · 54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/ TLF code: AI as one side of double-programming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122920" y="5696712"/>
            <a:ext cx="3627120" cy="548640"/>
          </a:xfrm>
          <a:prstGeom prst="rect">
            <a:avLst/>
          </a:prstGeom>
          <a:solidFill>
            <a:srgbClr val="F4F5FB"/>
          </a:solidFill>
          <a:ln w="12700">
            <a:solidFill>
              <a:srgbClr val="E0E3F1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122920" y="5696712"/>
            <a:ext cx="82296" cy="548640"/>
          </a:xfrm>
          <a:prstGeom prst="rect">
            <a:avLst/>
          </a:prstGeom>
          <a:solidFill>
            <a:srgbClr val="B5564B"/>
          </a:solidFill>
          <a:ln/>
        </p:spPr>
      </p:sp>
      <p:sp>
        <p:nvSpPr>
          <p:cNvPr id="51" name="Text 49"/>
          <p:cNvSpPr/>
          <p:nvPr/>
        </p:nvSpPr>
        <p:spPr>
          <a:xfrm>
            <a:off x="8324088" y="5696712"/>
            <a:ext cx="330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100" b="1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RED · 34  </a:t>
            </a:r>
            <a:pPr indent="0" marL="0">
              <a:lnSpc>
                <a:spcPct val="95000"/>
              </a:lnSpc>
              <a:buNone/>
            </a:pPr>
            <a:r>
              <a:rPr lang="en-US" sz="950" dirty="0">
                <a:solidFill>
                  <a:srgbClr val="5A6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engine produces the number; LLM out of the path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11480" y="6336792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12C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hard rules:  </a:t>
            </a:r>
            <a:pPr indent="0" marL="0">
              <a:buNone/>
            </a:pPr>
            <a:r>
              <a:rPr lang="en-US" sz="1000" dirty="0">
                <a:solidFill>
                  <a:srgbClr val="1A1E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PHI / unblinded never leaves (local frozen model) · every reported number from a validated engine, never an LLM · de-identification unlocks the cloud path (contracted cloud model only).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11480" y="6510528"/>
            <a:ext cx="11338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91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136 deliverables across 5 stages · full register with every field = the .xlsx · stage-by-stage detail = the Word/PDF reference · standards current mid-2026 (CDISC SDTMIG v3.4 / ADaMIG v1.3 / Define-XML v2.1; ICH E3·E6(R3)·E9(R1)·M11; 21 CFR Part 11).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Early-Phase Clin-Pharm Biostatistics Pipeline — Protocol to CSR</dc:title>
  <dc:subject>PptxGenJS Presentation</dc:subject>
  <dc:creator>PptxGenJS</dc:creator>
  <cp:lastModifiedBy>PptxGenJS</cp:lastModifiedBy>
  <cp:revision>1</cp:revision>
  <dcterms:created xsi:type="dcterms:W3CDTF">2026-06-10T04:22:50Z</dcterms:created>
  <dcterms:modified xsi:type="dcterms:W3CDTF">2026-06-10T04:22:50Z</dcterms:modified>
</cp:coreProperties>
</file>