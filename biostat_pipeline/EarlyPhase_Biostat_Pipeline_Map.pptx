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46304" cy="384048"/>
          </a:xfrm>
          <a:prstGeom prst="roundRect">
            <a:avLst>
              <a:gd name="adj" fmla="val 25000"/>
            </a:avLst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256032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EARLY-PHASE CLINICAL PHARMACOLOGY · BIOSTATISTICS DELIVERABLES PIPELINE · 132 DELIVERABLES · REFERENCE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04088" y="47548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Protocol review  →  CSR draft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33626" cy="3246120"/>
          </a:xfrm>
          <a:prstGeom prst="rect">
            <a:avLst/>
          </a:prstGeom>
          <a:solidFill>
            <a:srgbClr val="ECEE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033626" cy="749808"/>
          </a:xfrm>
          <a:prstGeom prst="rect">
            <a:avLst/>
          </a:prstGeom>
          <a:solidFill>
            <a:srgbClr val="3B4BA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Study Design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Protocol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6072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biostat input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Estimands → endpoints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Sample-size justification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Randomization design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DSMB / SRC decision rules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4005072"/>
            <a:ext cx="2033626" cy="566928"/>
          </a:xfrm>
          <a:prstGeom prst="rect">
            <a:avLst/>
          </a:prstGeom>
          <a:solidFill>
            <a:srgbClr val="3B4BA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approved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463394" y="28026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37714" y="1325880"/>
            <a:ext cx="2033626" cy="3246120"/>
          </a:xfrm>
          <a:prstGeom prst="rect">
            <a:avLst/>
          </a:prstGeom>
          <a:solidFill>
            <a:srgbClr val="E2F1F2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7714" y="1325880"/>
            <a:ext cx="2033626" cy="74980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2874874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 &amp;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Specifications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02306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Plan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TLF shells / mock-ups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&amp; SDTM specs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Randomization schedule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Data-review &amp; QC plans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37714" y="4005072"/>
            <a:ext cx="2033626" cy="5669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2829154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&amp; specs final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89627" y="28026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63947" y="1325880"/>
            <a:ext cx="2033626" cy="3246120"/>
          </a:xfrm>
          <a:prstGeom prst="rect">
            <a:avLst/>
          </a:prstGeom>
          <a:solidFill>
            <a:srgbClr val="E5EEF8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63947" y="1325880"/>
            <a:ext cx="2033626" cy="74980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1" name="Text 19"/>
          <p:cNvSpPr/>
          <p:nvPr/>
        </p:nvSpPr>
        <p:spPr>
          <a:xfrm>
            <a:off x="5201107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&amp;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CDISC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28539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SDTM datasets + aCRF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datasets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Define-XML + cSDRG/ADRG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Conformance (Pinnacle 21)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lock + audit trail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63947" y="4005072"/>
            <a:ext cx="2033626" cy="56692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4" name="Text 22"/>
          <p:cNvSpPr/>
          <p:nvPr/>
        </p:nvSpPr>
        <p:spPr>
          <a:xfrm>
            <a:off x="5155387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lock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115861" y="28026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90181" y="1325880"/>
            <a:ext cx="2033626" cy="3246120"/>
          </a:xfrm>
          <a:prstGeom prst="rect">
            <a:avLst/>
          </a:prstGeom>
          <a:solidFill>
            <a:srgbClr val="FAF0D8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90181" y="1325880"/>
            <a:ext cx="2033626" cy="749808"/>
          </a:xfrm>
          <a:prstGeom prst="rect">
            <a:avLst/>
          </a:prstGeom>
          <a:solidFill>
            <a:srgbClr val="C2891C"/>
          </a:solidFill>
          <a:ln/>
        </p:spPr>
      </p:sp>
      <p:sp>
        <p:nvSpPr>
          <p:cNvPr id="28" name="Text 26"/>
          <p:cNvSpPr/>
          <p:nvPr/>
        </p:nvSpPr>
        <p:spPr>
          <a:xfrm>
            <a:off x="7527341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S4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QC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54773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conc &amp; NCA TLFs (Phoenix)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PD TLFs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popPK / exposure-response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double-programming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Unblinding (controlled)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90181" y="4005072"/>
            <a:ext cx="2033626" cy="566928"/>
          </a:xfrm>
          <a:prstGeom prst="rect">
            <a:avLst/>
          </a:prstGeom>
          <a:solidFill>
            <a:srgbClr val="C2891C"/>
          </a:solidFill>
          <a:ln/>
        </p:spPr>
      </p:sp>
      <p:sp>
        <p:nvSpPr>
          <p:cNvPr id="31" name="Text 29"/>
          <p:cNvSpPr/>
          <p:nvPr/>
        </p:nvSpPr>
        <p:spPr>
          <a:xfrm>
            <a:off x="7481621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QC-passed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9442094" y="28026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16414" y="1325880"/>
            <a:ext cx="2033626" cy="3246120"/>
          </a:xfrm>
          <a:prstGeom prst="rect">
            <a:avLst/>
          </a:prstGeom>
          <a:solidFill>
            <a:srgbClr val="ECEC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16414" y="1325880"/>
            <a:ext cx="2033626" cy="749808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/>
          <p:nvPr/>
        </p:nvSpPr>
        <p:spPr>
          <a:xfrm>
            <a:off x="9853574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S5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CSR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881006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methods &amp; results text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In-text tables / figures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appendices (16.x)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+ guides → eCTD m5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 consistency QC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716414" y="4005072"/>
            <a:ext cx="2033626" cy="566928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/>
          <p:nvPr/>
        </p:nvSpPr>
        <p:spPr>
          <a:xfrm>
            <a:off x="9807854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draft delivered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4736592"/>
            <a:ext cx="11338560" cy="384048"/>
          </a:xfrm>
          <a:prstGeom prst="rect">
            <a:avLst/>
          </a:prstGeom>
          <a:solidFill>
            <a:srgbClr val="E5EEF8"/>
          </a:solidFill>
          <a:ln w="12700">
            <a:solidFill>
              <a:srgbClr val="CBDD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47365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CDISC data-standards track:  </a:t>
            </a:r>
            <a:pPr indent="0" marL="0">
              <a:buNone/>
            </a:pPr>
            <a:r>
              <a:rPr lang="en-US" sz="1050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SDTM → ADaM → Define-XML + cSDRG / ADRG + conformance   (runs through Stages 3–5)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11480" y="5193792"/>
            <a:ext cx="11338560" cy="384048"/>
          </a:xfrm>
          <a:prstGeom prst="rect">
            <a:avLst/>
          </a:prstGeom>
          <a:solidFill>
            <a:srgbClr val="ECECFB"/>
          </a:solidFill>
          <a:ln w="12700">
            <a:solidFill>
              <a:srgbClr val="D6D6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1937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track:  </a:t>
            </a:r>
            <a:pPr indent="0" marL="0">
              <a:buNone/>
            </a:pPr>
            <a:r>
              <a:rPr lang="en-US" sz="1050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double programming · engine-of-record register (software and version) · audit trail (21 CFR Part 11) · named sign-off   (all stages)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11480" y="5696712"/>
            <a:ext cx="3627120" cy="548640"/>
          </a:xfrm>
          <a:prstGeom prst="rect">
            <a:avLst/>
          </a:prstGeom>
          <a:solidFill>
            <a:srgbClr val="F4F5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5696712"/>
            <a:ext cx="82296" cy="5486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5" name="Text 43"/>
          <p:cNvSpPr/>
          <p:nvPr/>
        </p:nvSpPr>
        <p:spPr>
          <a:xfrm>
            <a:off x="612648" y="5696712"/>
            <a:ext cx="330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programming  </a:t>
            </a:r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submission-grade output: an independent second program and a logged reconciliation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267200" y="5696712"/>
            <a:ext cx="3627120" cy="548640"/>
          </a:xfrm>
          <a:prstGeom prst="rect">
            <a:avLst/>
          </a:prstGeom>
          <a:solidFill>
            <a:srgbClr val="F4F5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67200" y="5696712"/>
            <a:ext cx="82296" cy="54864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48" name="Text 46"/>
          <p:cNvSpPr/>
          <p:nvPr/>
        </p:nvSpPr>
        <p:spPr>
          <a:xfrm>
            <a:off x="4468368" y="5696712"/>
            <a:ext cx="330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engines  </a:t>
            </a:r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numbers from validated SAS/R programs; NCA from Phoenix WinNonlin or PKNCA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122920" y="5696712"/>
            <a:ext cx="3627120" cy="548640"/>
          </a:xfrm>
          <a:prstGeom prst="rect">
            <a:avLst/>
          </a:prstGeom>
          <a:solidFill>
            <a:srgbClr val="F4F5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22920" y="5696712"/>
            <a:ext cx="82296" cy="54864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/>
          <p:nvPr/>
        </p:nvSpPr>
        <p:spPr>
          <a:xfrm>
            <a:off x="8324088" y="5696712"/>
            <a:ext cx="330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sign-off  </a:t>
            </a:r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qualified statistician reviews and signs each deliverable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11480" y="6336792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map, not a track record:  </a:t>
            </a:r>
            <a:pPr indent="0" marL="0">
              <a:buNone/>
            </a:pPr>
            <a:r>
              <a:rPr lang="en-US" sz="1000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deliverable would be produced and checked. A proposal for AI-assisted drafting under controls is an appendix to the reference document.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19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 deliverables across 5 stages · full register with every field = the .xlsx · stage-by-stage detail = the Word/PDF reference · standards as of October 2026 (CDISC SDTMIG v3.4 / ADaMIG v1.3 / Define-XML v2.1; ICH E3·E6(R3)·E9(R1)·M11; 21 CFR Part 11).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Early-Phase Clin-Pharm Biostatistics Pipeline: Protocol to CSR</dc:title>
  <dc:subject>PptxGenJS Presentation</dc:subject>
  <dc:creator>Patrick Iben</dc:creator>
  <cp:lastModifiedBy>Patrick Iben</cp:lastModifiedBy>
  <cp:revision>1</cp:revision>
  <dcterms:created xsi:type="dcterms:W3CDTF">2026-10-25T03:16:23Z</dcterms:created>
  <dcterms:modified xsi:type="dcterms:W3CDTF">2026-10-25T03:16:23Z</dcterms:modified>
</cp:coreProperties>
</file>