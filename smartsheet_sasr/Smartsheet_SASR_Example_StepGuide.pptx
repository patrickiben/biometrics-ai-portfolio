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3474720" cy="6858000"/>
          </a:xfrm>
          <a:prstGeom prst="rect">
            <a:avLst/>
          </a:prstGeom>
          <a:solidFill>
            <a:srgbClr val="1B1F47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0"/>
            <a:ext cx="73152" cy="6858000"/>
          </a:xfrm>
          <a:prstGeom prst="rect">
            <a:avLst/>
          </a:prstGeom>
          <a:solidFill>
            <a:srgbClr val="3A6FB0"/>
          </a:solidFill>
          <a:ln/>
        </p:spPr>
      </p:sp>
      <p:sp>
        <p:nvSpPr>
          <p:cNvPr id="4" name="Shape 2"/>
          <p:cNvSpPr/>
          <p:nvPr/>
        </p:nvSpPr>
        <p:spPr>
          <a:xfrm>
            <a:off x="9098280" y="1325880"/>
            <a:ext cx="2697480" cy="676656"/>
          </a:xfrm>
          <a:prstGeom prst="roundRect">
            <a:avLst>
              <a:gd name="adj" fmla="val 8108"/>
            </a:avLst>
          </a:prstGeom>
          <a:solidFill>
            <a:srgbClr val="262A55"/>
          </a:solidFill>
          <a:ln w="12700">
            <a:solidFill>
              <a:srgbClr val="3A3E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0" y="138074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
</a:t>
            </a:r>
            <a:pPr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AE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· Task Scheduler / cron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241280" y="20025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098280" y="2167128"/>
            <a:ext cx="2697480" cy="676656"/>
          </a:xfrm>
          <a:prstGeom prst="roundRect">
            <a:avLst>
              <a:gd name="adj" fmla="val 8108"/>
            </a:avLst>
          </a:prstGeom>
          <a:solidFill>
            <a:srgbClr val="262A55"/>
          </a:solidFill>
          <a:ln w="12700">
            <a:solidFill>
              <a:srgbClr val="3A3E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0" y="22219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/ R
</a:t>
            </a:r>
            <a:pPr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AE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 HTTP / httr2 → API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241280" y="28437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098280" y="3008376"/>
            <a:ext cx="2697480" cy="676656"/>
          </a:xfrm>
          <a:prstGeom prst="roundRect">
            <a:avLst>
              <a:gd name="adj" fmla="val 8108"/>
            </a:avLst>
          </a:prstGeom>
          <a:solidFill>
            <a:srgbClr val="262A55"/>
          </a:solidFill>
          <a:ln w="12700">
            <a:solidFill>
              <a:srgbClr val="3A3E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0" y="30632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Smartsheet
</a:t>
            </a:r>
            <a:pPr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AE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rows updated by key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241280" y="3685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98280" y="3849624"/>
            <a:ext cx="2697480" cy="676656"/>
          </a:xfrm>
          <a:prstGeom prst="roundRect">
            <a:avLst>
              <a:gd name="adj" fmla="val 8108"/>
            </a:avLst>
          </a:prstGeom>
          <a:solidFill>
            <a:srgbClr val="262A55"/>
          </a:solidFill>
          <a:ln w="12700">
            <a:solidFill>
              <a:srgbClr val="3A3E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39044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Smartsheet alert
</a:t>
            </a:r>
            <a:pPr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AE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workflow emails the team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SMARTSHEET × SAS/R · STUDY CP-101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178308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tracker updates itself —</a:t>
            </a:r>
            <a:endParaRPr lang="en-US" sz="3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Smartsheet sends the alert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640080" y="361188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nightly SAS/R job reads the CP-101 Program Tracker, updates status, % complete, and milestone dates from the validated data, cascades a moved date, attaches the latest status PDF — and a Smartsheet automated workflow emails the team. No AI. Operations data only, never PHI or a reported clinical number.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" y="5212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mockups. Smartsheet is a tracker, not a system of record; validated systems own the authoritative data.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3A6FB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Scheduled SAS/R → the Smartsheet API → your tracker → an alert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06040" cy="4206240"/>
          </a:xfrm>
          <a:prstGeom prst="rect">
            <a:avLst/>
          </a:prstGeom>
          <a:solidFill>
            <a:srgbClr val="EEF1F6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606040" cy="457200"/>
          </a:xfrm>
          <a:prstGeom prst="rect">
            <a:avLst/>
          </a:prstGeom>
          <a:solidFill>
            <a:srgbClr val="5A607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63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22402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 / cron fires the SAS/R job nightly, under a service account.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81528" y="33832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37560" y="1463040"/>
            <a:ext cx="2606040" cy="4206240"/>
          </a:xfrm>
          <a:prstGeom prst="rect">
            <a:avLst/>
          </a:prstGeom>
          <a:solidFill>
            <a:srgbClr val="EAF1FA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463040"/>
            <a:ext cx="2606040" cy="457200"/>
          </a:xfrm>
          <a:prstGeom prst="rect">
            <a:avLst/>
          </a:prstGeom>
          <a:solidFill>
            <a:srgbClr val="3A6FB0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463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/ R → API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2057400"/>
            <a:ext cx="22402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 HTTP (SAS) or httr2 (R) calls the Smartsheet REST API with a Bearer token: read the sheet, then update rows by a stable key.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61888" y="33832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606040" cy="4206240"/>
          </a:xfrm>
          <a:prstGeom prst="rect">
            <a:avLst/>
          </a:prstGeom>
          <a:solidFill>
            <a:srgbClr val="E2F1F2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463040"/>
            <a:ext cx="260604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463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SMARTSHEET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057400"/>
            <a:ext cx="22402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tracker rows update in place (no duplicates), files attach, status cells flip.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42248" y="33832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098280" y="1463040"/>
            <a:ext cx="2606040" cy="4206240"/>
          </a:xfrm>
          <a:prstGeom prst="rect">
            <a:avLst/>
          </a:prstGeom>
          <a:solidFill>
            <a:srgbClr val="FBF1D8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98280" y="1463040"/>
            <a:ext cx="2606040" cy="457200"/>
          </a:xfrm>
          <a:prstGeom prst="rect">
            <a:avLst/>
          </a:prstGeom>
          <a:solidFill>
            <a:srgbClr val="C2891C"/>
          </a:solidFill>
          <a:ln/>
        </p:spPr>
      </p:sp>
      <p:sp>
        <p:nvSpPr>
          <p:cNvPr id="22" name="Text 20"/>
          <p:cNvSpPr/>
          <p:nvPr/>
        </p:nvSpPr>
        <p:spPr>
          <a:xfrm>
            <a:off x="9235440" y="1463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2057400"/>
            <a:ext cx="22402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Smartsheet automated workflow (configured once in the UI) emails the team when a cell changes.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6236208"/>
            <a:ext cx="11247120" cy="457200"/>
          </a:xfrm>
          <a:prstGeom prst="rect">
            <a:avLst/>
          </a:prstGeom>
          <a:solidFill>
            <a:srgbClr val="ECEC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" y="6309360"/>
            <a:ext cx="310896" cy="310896"/>
          </a:xfrm>
          <a:prstGeom prst="ellipse">
            <a:avLst/>
          </a:prstGeom>
          <a:solidFill>
            <a:srgbClr val="3A6FB0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" y="6309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60704" y="62362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in one line: SAS/R writes the data; Smartsheet sends the notification. You configure the alert once in the UI; the job just changes the cell.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3A6FB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1 · READ THE SHEET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job reads the tracker — rows keyed by a Task ID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solidFill>
            <a:srgbClr val="3A6FB0"/>
          </a:solidFill>
          <a:ln/>
        </p:spPr>
      </p:sp>
      <p:sp>
        <p:nvSpPr>
          <p:cNvPr id="7" name="Shape 5"/>
          <p:cNvSpPr/>
          <p:nvPr/>
        </p:nvSpPr>
        <p:spPr>
          <a:xfrm>
            <a:off x="603504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67512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03504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11887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Smartsheet — CP-101 Program Tracker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1783080"/>
            <a:ext cx="10881360" cy="365760"/>
          </a:xfrm>
          <a:prstGeom prst="rect">
            <a:avLst/>
          </a:prstGeom>
          <a:solidFill>
            <a:srgbClr val="3A6FB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1783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ID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77840" y="1783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0" y="1783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Done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0" y="1783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418320" y="17830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0" y="1783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21488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CP101-ENR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920240" y="21488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vs plan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59552" y="2249424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E6F6EC"/>
          </a:solidFill>
          <a:ln/>
        </p:spPr>
      </p:sp>
      <p:sp>
        <p:nvSpPr>
          <p:cNvPr id="28" name="Text 26"/>
          <p:cNvSpPr/>
          <p:nvPr/>
        </p:nvSpPr>
        <p:spPr>
          <a:xfrm>
            <a:off x="5559552" y="22494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132320" y="21488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0" y="21488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418320" y="21488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515600" y="21488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2606040"/>
            <a:ext cx="10881360" cy="4572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26060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CP101-ADPC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920240" y="26060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ADPC spec — finalize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559552" y="2706624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E6F6EC"/>
          </a:solidFill>
          <a:ln/>
        </p:spPr>
      </p:sp>
      <p:sp>
        <p:nvSpPr>
          <p:cNvPr id="37" name="Text 35"/>
          <p:cNvSpPr/>
          <p:nvPr/>
        </p:nvSpPr>
        <p:spPr>
          <a:xfrm>
            <a:off x="5559552" y="27066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132320" y="26060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046720" y="26060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Patel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418320" y="26060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Jun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515600" y="26060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31520" y="30632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CP101-CUT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920240" y="30632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soft-lock / data cut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559552" y="3163824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E6F6EC"/>
          </a:solidFill>
          <a:ln/>
        </p:spPr>
      </p:sp>
      <p:sp>
        <p:nvSpPr>
          <p:cNvPr id="45" name="Text 43"/>
          <p:cNvSpPr/>
          <p:nvPr/>
        </p:nvSpPr>
        <p:spPr>
          <a:xfrm>
            <a:off x="5559552" y="31638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132320" y="30632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046720" y="30632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418320" y="30632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Jun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515600" y="30632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40080" y="3520440"/>
            <a:ext cx="10881360" cy="4572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51" name="Text 49"/>
          <p:cNvSpPr/>
          <p:nvPr/>
        </p:nvSpPr>
        <p:spPr>
          <a:xfrm>
            <a:off x="731520" y="35204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CP101-TLF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920240" y="35204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TLFs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559552" y="3621024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E6F6EC"/>
          </a:solidFill>
          <a:ln/>
        </p:spPr>
      </p:sp>
      <p:sp>
        <p:nvSpPr>
          <p:cNvPr id="54" name="Text 52"/>
          <p:cNvSpPr/>
          <p:nvPr/>
        </p:nvSpPr>
        <p:spPr>
          <a:xfrm>
            <a:off x="5559552" y="36210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132320" y="35204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046720" y="3520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Kim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418320" y="35204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Jun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0515600" y="35204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31520" y="39776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CP101-DSMB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920240" y="39776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DSMB pack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559552" y="4078224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E6F6EC"/>
          </a:solidFill>
          <a:ln/>
        </p:spPr>
      </p:sp>
      <p:sp>
        <p:nvSpPr>
          <p:cNvPr id="62" name="Text 60"/>
          <p:cNvSpPr/>
          <p:nvPr/>
        </p:nvSpPr>
        <p:spPr>
          <a:xfrm>
            <a:off x="5559552" y="40782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132320" y="39776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046720" y="39776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9418320" y="39776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Jun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515600" y="39776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40080" y="5029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 pulls the sheet (GET /sheets/{id}) and maps each row by its Task ID — so it updates the right rows in place, never appending duplicates.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457200" y="6236208"/>
            <a:ext cx="11247120" cy="457200"/>
          </a:xfrm>
          <a:prstGeom prst="rect">
            <a:avLst/>
          </a:prstGeom>
          <a:solidFill>
            <a:srgbClr val="ECECFB"/>
          </a:solidFill>
          <a:ln/>
        </p:spPr>
      </p:sp>
      <p:sp>
        <p:nvSpPr>
          <p:cNvPr id="69" name="Shape 67"/>
          <p:cNvSpPr/>
          <p:nvPr/>
        </p:nvSpPr>
        <p:spPr>
          <a:xfrm>
            <a:off x="603504" y="6309360"/>
            <a:ext cx="310896" cy="310896"/>
          </a:xfrm>
          <a:prstGeom prst="ellipse">
            <a:avLst/>
          </a:prstGeom>
          <a:solidFill>
            <a:srgbClr val="3A6FB0"/>
          </a:solidFill>
          <a:ln/>
        </p:spPr>
      </p:sp>
      <p:sp>
        <p:nvSpPr>
          <p:cNvPr id="70" name="Text 68"/>
          <p:cNvSpPr/>
          <p:nvPr/>
        </p:nvSpPr>
        <p:spPr>
          <a:xfrm>
            <a:off x="603504" y="6309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1" name="Text 69"/>
          <p:cNvSpPr/>
          <p:nvPr/>
        </p:nvSpPr>
        <p:spPr>
          <a:xfrm>
            <a:off x="1060704" y="62362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first, key by Task ID. Idempotency is the whole game: update the existing row, never blind-append — so re-running the job never duplicates a thing.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C2891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2 · UPDATE STATUS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Status, % complete &amp; dates updated from the validated data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solidFill>
            <a:srgbClr val="3A6FB0"/>
          </a:solidFill>
          <a:ln/>
        </p:spPr>
      </p:sp>
      <p:sp>
        <p:nvSpPr>
          <p:cNvPr id="7" name="Shape 5"/>
          <p:cNvSpPr/>
          <p:nvPr/>
        </p:nvSpPr>
        <p:spPr>
          <a:xfrm>
            <a:off x="603504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67512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03504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11887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Smartsheet — CP-101 Program Tracker (after the nightly run)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1783080"/>
            <a:ext cx="10881360" cy="365760"/>
          </a:xfrm>
          <a:prstGeom prst="rect">
            <a:avLst/>
          </a:prstGeom>
          <a:solidFill>
            <a:srgbClr val="3A6FB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1783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ID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0" y="1783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1783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Done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0" y="1783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0" y="17830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241280" y="17830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2148840"/>
            <a:ext cx="10881360" cy="457200"/>
          </a:xfrm>
          <a:prstGeom prst="rect">
            <a:avLst/>
          </a:prstGeom>
          <a:solidFill>
            <a:srgbClr val="FFF7E0"/>
          </a:solidFill>
          <a:ln w="12700">
            <a:solidFill>
              <a:srgbClr val="C289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21488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CP101-ENR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20240" y="2148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vs plan — 76% of plan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285232" y="2249424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FBECEA"/>
          </a:solidFill>
          <a:ln/>
        </p:spPr>
      </p:sp>
      <p:sp>
        <p:nvSpPr>
          <p:cNvPr id="29" name="Text 27"/>
          <p:cNvSpPr/>
          <p:nvPr/>
        </p:nvSpPr>
        <p:spPr>
          <a:xfrm>
            <a:off x="5285232" y="22494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58000" y="21488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0" y="21488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44000" y="21488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241280" y="21488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835640" y="221284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D7F2E1"/>
          </a:solidFill>
          <a:ln/>
        </p:spPr>
      </p:sp>
      <p:sp>
        <p:nvSpPr>
          <p:cNvPr id="35" name="Text 33"/>
          <p:cNvSpPr/>
          <p:nvPr/>
        </p:nvSpPr>
        <p:spPr>
          <a:xfrm>
            <a:off x="10835640" y="22128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0080" y="2606040"/>
            <a:ext cx="10881360" cy="457200"/>
          </a:xfrm>
          <a:prstGeom prst="rect">
            <a:avLst/>
          </a:prstGeom>
          <a:solidFill>
            <a:srgbClr val="FFF7E0"/>
          </a:solidFill>
          <a:ln w="12700">
            <a:solidFill>
              <a:srgbClr val="C2891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26060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CP101-ADPC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920240" y="26060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ADPC spec — finalize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285232" y="2706624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E6F6EC"/>
          </a:solidFill>
          <a:ln/>
        </p:spPr>
      </p:sp>
      <p:sp>
        <p:nvSpPr>
          <p:cNvPr id="40" name="Text 38"/>
          <p:cNvSpPr/>
          <p:nvPr/>
        </p:nvSpPr>
        <p:spPr>
          <a:xfrm>
            <a:off x="5285232" y="27066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858000" y="26060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772400" y="26060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Patel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144000" y="26060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Jun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241280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0835640" y="267004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D7F2E1"/>
          </a:solidFill>
          <a:ln/>
        </p:spPr>
      </p:sp>
      <p:sp>
        <p:nvSpPr>
          <p:cNvPr id="46" name="Text 44"/>
          <p:cNvSpPr/>
          <p:nvPr/>
        </p:nvSpPr>
        <p:spPr>
          <a:xfrm>
            <a:off x="10835640" y="26700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40080" y="3063240"/>
            <a:ext cx="10881360" cy="457200"/>
          </a:xfrm>
          <a:prstGeom prst="rect">
            <a:avLst/>
          </a:prstGeom>
          <a:solidFill>
            <a:srgbClr val="FFF7E0"/>
          </a:solidFill>
          <a:ln w="12700">
            <a:solidFill>
              <a:srgbClr val="C2891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" y="30632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CP101-CUT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920240" y="30632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soft-lock / data cut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285232" y="3163824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FBF1D8"/>
          </a:solidFill>
          <a:ln/>
        </p:spPr>
      </p:sp>
      <p:sp>
        <p:nvSpPr>
          <p:cNvPr id="51" name="Text 49"/>
          <p:cNvSpPr/>
          <p:nvPr/>
        </p:nvSpPr>
        <p:spPr>
          <a:xfrm>
            <a:off x="5285232" y="31638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8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858000" y="30632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772400" y="30632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144000" y="30632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Jun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241280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0835640" y="312724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D7F2E1"/>
          </a:solidFill>
          <a:ln/>
        </p:spPr>
      </p:sp>
      <p:sp>
        <p:nvSpPr>
          <p:cNvPr id="57" name="Text 55"/>
          <p:cNvSpPr/>
          <p:nvPr/>
        </p:nvSpPr>
        <p:spPr>
          <a:xfrm>
            <a:off x="10835640" y="31272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40080" y="3520440"/>
            <a:ext cx="10881360" cy="457200"/>
          </a:xfrm>
          <a:prstGeom prst="rect">
            <a:avLst/>
          </a:prstGeom>
          <a:solidFill>
            <a:srgbClr val="FFF7E0"/>
          </a:solidFill>
          <a:ln w="12700">
            <a:solidFill>
              <a:srgbClr val="C2891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1520" y="35204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CP101-TLF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920240" y="3520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TLFs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285232" y="3621024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E6F6EC"/>
          </a:solidFill>
          <a:ln/>
        </p:spPr>
      </p:sp>
      <p:sp>
        <p:nvSpPr>
          <p:cNvPr id="62" name="Text 60"/>
          <p:cNvSpPr/>
          <p:nvPr/>
        </p:nvSpPr>
        <p:spPr>
          <a:xfrm>
            <a:off x="5285232" y="36210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858000" y="35204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772400" y="3520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Kim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9144000" y="35204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Jun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241280" y="3520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0835640" y="358444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D7F2E1"/>
          </a:solidFill>
          <a:ln/>
        </p:spPr>
      </p:sp>
      <p:sp>
        <p:nvSpPr>
          <p:cNvPr id="68" name="Text 66"/>
          <p:cNvSpPr/>
          <p:nvPr/>
        </p:nvSpPr>
        <p:spPr>
          <a:xfrm>
            <a:off x="10835640" y="35844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731520" y="39776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CP101-DSMB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1920240" y="39776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DSMB pack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285232" y="4078224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E6F6EC"/>
          </a:solidFill>
          <a:ln/>
        </p:spPr>
      </p:sp>
      <p:sp>
        <p:nvSpPr>
          <p:cNvPr id="72" name="Text 70"/>
          <p:cNvSpPr/>
          <p:nvPr/>
        </p:nvSpPr>
        <p:spPr>
          <a:xfrm>
            <a:off x="5285232" y="40782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6858000" y="39776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772400" y="39776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9144000" y="39776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Jun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10241280" y="39776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457200" y="6236208"/>
            <a:ext cx="11247120" cy="457200"/>
          </a:xfrm>
          <a:prstGeom prst="rect">
            <a:avLst/>
          </a:prstGeom>
          <a:solidFill>
            <a:srgbClr val="ECECFB"/>
          </a:solidFill>
          <a:ln/>
        </p:spPr>
      </p:sp>
      <p:sp>
        <p:nvSpPr>
          <p:cNvPr id="78" name="Shape 76"/>
          <p:cNvSpPr/>
          <p:nvPr/>
        </p:nvSpPr>
        <p:spPr>
          <a:xfrm>
            <a:off x="603504" y="6309360"/>
            <a:ext cx="310896" cy="310896"/>
          </a:xfrm>
          <a:prstGeom prst="ellipse">
            <a:avLst/>
          </a:prstGeom>
          <a:solidFill>
            <a:srgbClr val="C2891C"/>
          </a:solidFill>
          <a:ln/>
        </p:spPr>
      </p:sp>
      <p:sp>
        <p:nvSpPr>
          <p:cNvPr id="79" name="Text 77"/>
          <p:cNvSpPr/>
          <p:nvPr/>
        </p:nvSpPr>
        <p:spPr>
          <a:xfrm>
            <a:off x="603504" y="6309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80" name="Text 78"/>
          <p:cNvSpPr/>
          <p:nvPr/>
        </p:nvSpPr>
        <p:spPr>
          <a:xfrm>
            <a:off x="1060704" y="62362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/sheets/{id}/rows updates the cells by row id: enrollment flips to At Risk, ADPC jumps to 85%, the cut date moves to 19 Jun — straight from the validated study data.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3 · CASCADE A DATE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cut moved 17 → 19 Jun — dependents follow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3949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394960" cy="365760"/>
          </a:xfrm>
          <a:prstGeom prst="rect">
            <a:avLst/>
          </a:prstGeom>
          <a:solidFill>
            <a:srgbClr val="12152E"/>
          </a:solidFill>
          <a:ln/>
        </p:spPr>
      </p:sp>
      <p:sp>
        <p:nvSpPr>
          <p:cNvPr id="7" name="Shape 5"/>
          <p:cNvSpPr/>
          <p:nvPr/>
        </p:nvSpPr>
        <p:spPr>
          <a:xfrm>
            <a:off x="603504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67512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03504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1188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/ R — the cascade (deterministic)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169164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the confirmed change */
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cut: 17 Jun -&gt; 19 Jun  (+2 days)
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shift the dependent milestones */
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soft-lock     22 -&gt; 24 Jun
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dry-run TLFs  24 -&gt; 26 Jun
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DSMB pack     30 Jun (holds)
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one PUT updates the affected rows */
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D2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%ss_upsert(sheet=&amp;tracker, keycol=TaskID,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D2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data=cascade_rows);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188720"/>
            <a:ext cx="56692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188720"/>
            <a:ext cx="5669280" cy="365760"/>
          </a:xfrm>
          <a:prstGeom prst="rect">
            <a:avLst/>
          </a:prstGeom>
          <a:solidFill>
            <a:srgbClr val="3A6FB0"/>
          </a:solidFill>
          <a:ln/>
        </p:spPr>
      </p:sp>
      <p:sp>
        <p:nvSpPr>
          <p:cNvPr id="20" name="Shape 18"/>
          <p:cNvSpPr/>
          <p:nvPr/>
        </p:nvSpPr>
        <p:spPr>
          <a:xfrm>
            <a:off x="6181344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245352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309360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181344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245352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181344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245352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309360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1188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Smartsheet — affected rows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1783080"/>
            <a:ext cx="5303520" cy="365760"/>
          </a:xfrm>
          <a:prstGeom prst="rect">
            <a:avLst/>
          </a:prstGeom>
          <a:solidFill>
            <a:srgbClr val="3A6FB0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1783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052560" y="1783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(was)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332720" y="1783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(now)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2148840"/>
            <a:ext cx="5303520" cy="457200"/>
          </a:xfrm>
          <a:prstGeom prst="rect">
            <a:avLst/>
          </a:prstGeom>
          <a:solidFill>
            <a:srgbClr val="FFF7E0"/>
          </a:solidFill>
          <a:ln w="12700">
            <a:solidFill>
              <a:srgbClr val="C289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2148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cut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052560" y="21488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Jun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332720" y="21488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Jun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835640" y="221284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D7F2E1"/>
          </a:solidFill>
          <a:ln/>
        </p:spPr>
      </p:sp>
      <p:sp>
        <p:nvSpPr>
          <p:cNvPr id="39" name="Text 37"/>
          <p:cNvSpPr/>
          <p:nvPr/>
        </p:nvSpPr>
        <p:spPr>
          <a:xfrm>
            <a:off x="10835640" y="22128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17920" y="2606040"/>
            <a:ext cx="5303520" cy="457200"/>
          </a:xfrm>
          <a:prstGeom prst="rect">
            <a:avLst/>
          </a:prstGeom>
          <a:solidFill>
            <a:srgbClr val="FFF7E0"/>
          </a:solidFill>
          <a:ln w="12700">
            <a:solidFill>
              <a:srgbClr val="C2891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2606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Soft-lock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052560" y="26060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Jun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332720" y="26060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Jun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835640" y="267004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D7F2E1"/>
          </a:solidFill>
          <a:ln/>
        </p:spPr>
      </p:sp>
      <p:sp>
        <p:nvSpPr>
          <p:cNvPr id="45" name="Text 43"/>
          <p:cNvSpPr/>
          <p:nvPr/>
        </p:nvSpPr>
        <p:spPr>
          <a:xfrm>
            <a:off x="10835640" y="26700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17920" y="3063240"/>
            <a:ext cx="5303520" cy="457200"/>
          </a:xfrm>
          <a:prstGeom prst="rect">
            <a:avLst/>
          </a:prstGeom>
          <a:solidFill>
            <a:srgbClr val="FFF7E0"/>
          </a:solidFill>
          <a:ln w="12700">
            <a:solidFill>
              <a:srgbClr val="C2891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3063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TLFs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052560" y="30632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Jun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332720" y="30632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Jun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0835640" y="312724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D7F2E1"/>
          </a:solidFill>
          <a:ln/>
        </p:spPr>
      </p:sp>
      <p:sp>
        <p:nvSpPr>
          <p:cNvPr id="51" name="Text 49"/>
          <p:cNvSpPr/>
          <p:nvPr/>
        </p:nvSpPr>
        <p:spPr>
          <a:xfrm>
            <a:off x="10835640" y="31272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217920" y="3520440"/>
            <a:ext cx="5303520" cy="4572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53" name="Text 51"/>
          <p:cNvSpPr/>
          <p:nvPr/>
        </p:nvSpPr>
        <p:spPr>
          <a:xfrm>
            <a:off x="6309360" y="3520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DSMB pack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052560" y="35204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332720" y="35204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217920" y="42062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dates are computed in SAS/R and pushed in one update — the timeline stays consistent without anyone re-typing it.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457200" y="6236208"/>
            <a:ext cx="11247120" cy="457200"/>
          </a:xfrm>
          <a:prstGeom prst="rect">
            <a:avLst/>
          </a:prstGeom>
          <a:solidFill>
            <a:srgbClr val="ECECFB"/>
          </a:solidFill>
          <a:ln/>
        </p:spPr>
      </p:sp>
      <p:sp>
        <p:nvSpPr>
          <p:cNvPr id="58" name="Shape 56"/>
          <p:cNvSpPr/>
          <p:nvPr/>
        </p:nvSpPr>
        <p:spPr>
          <a:xfrm>
            <a:off x="603504" y="6309360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9" name="Text 57"/>
          <p:cNvSpPr/>
          <p:nvPr/>
        </p:nvSpPr>
        <p:spPr>
          <a:xfrm>
            <a:off x="603504" y="6309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1060704" y="62362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date moves, the job recomputes the dependent milestones and updates them in one call — the cascade is deterministic, and the tracker never drifts out of sync.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C2891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4–5 · ATTACH &amp; ALERT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Attach the status PDF — and let Smartsheet send the alert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3949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394960" cy="365760"/>
          </a:xfrm>
          <a:prstGeom prst="rect">
            <a:avLst/>
          </a:prstGeom>
          <a:solidFill>
            <a:srgbClr val="3A6FB0"/>
          </a:solidFill>
          <a:ln/>
        </p:spPr>
      </p:sp>
      <p:sp>
        <p:nvSpPr>
          <p:cNvPr id="7" name="Shape 5"/>
          <p:cNvSpPr/>
          <p:nvPr/>
        </p:nvSpPr>
        <p:spPr>
          <a:xfrm>
            <a:off x="603504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67512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03504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1188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Smartsheet — summary row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1691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CP-101 — weekly status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2148840"/>
            <a:ext cx="4937760" cy="640080"/>
          </a:xfrm>
          <a:prstGeom prst="rect">
            <a:avLst/>
          </a:prstGeom>
          <a:solidFill>
            <a:srgbClr val="EAF1FA"/>
          </a:solidFill>
          <a:ln w="12700">
            <a:solidFill>
              <a:srgbClr val="CBDD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1488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 CP101_status_2026-06-16.pdf  (attached by the job)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" y="30175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/sheets/{id}/rows/{rowId}/attachments — the latest one-page status PDF lands on the summary row, so the current report is always one click away in the tracker.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1188720"/>
            <a:ext cx="56692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188720"/>
            <a:ext cx="5669280" cy="365760"/>
          </a:xfrm>
          <a:prstGeom prst="rect">
            <a:avLst/>
          </a:prstGeom>
          <a:solidFill>
            <a:srgbClr val="5059C9"/>
          </a:solidFill>
          <a:ln/>
        </p:spPr>
      </p:sp>
      <p:sp>
        <p:nvSpPr>
          <p:cNvPr id="23" name="Shape 21"/>
          <p:cNvSpPr/>
          <p:nvPr/>
        </p:nvSpPr>
        <p:spPr>
          <a:xfrm>
            <a:off x="6181344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245352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181344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245352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309360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181344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245352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9360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1188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— from Smartsheet Automation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63640" y="1691640"/>
            <a:ext cx="5212080" cy="548640"/>
          </a:xfrm>
          <a:prstGeom prst="rect">
            <a:avLst/>
          </a:prstGeom>
          <a:solidFill>
            <a:srgbClr val="FB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16916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 CP-101 Program Tracker — a task is now At Risk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63640" y="23317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Smartsheet · Automated workflow · to: PM, Biostat lead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63640" y="274320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B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</a:t>
            </a:r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2B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CP101-ENR — Enrollment vs plan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B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changed to </a:t>
            </a:r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B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(76% of plan).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B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tracker to review. — Sent by the Smartsheet workflow your team configured, triggered by tonight's update.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6236208"/>
            <a:ext cx="11247120" cy="457200"/>
          </a:xfrm>
          <a:prstGeom prst="rect">
            <a:avLst/>
          </a:prstGeom>
          <a:solidFill>
            <a:srgbClr val="ECECFB"/>
          </a:solidFill>
          <a:ln/>
        </p:spPr>
      </p:sp>
      <p:sp>
        <p:nvSpPr>
          <p:cNvPr id="38" name="Shape 36"/>
          <p:cNvSpPr/>
          <p:nvPr/>
        </p:nvSpPr>
        <p:spPr>
          <a:xfrm>
            <a:off x="603504" y="6309360"/>
            <a:ext cx="310896" cy="310896"/>
          </a:xfrm>
          <a:prstGeom prst="ellipse">
            <a:avLst/>
          </a:prstGeom>
          <a:solidFill>
            <a:srgbClr val="C2891C"/>
          </a:solidFill>
          <a:ln/>
        </p:spPr>
      </p:sp>
      <p:sp>
        <p:nvSpPr>
          <p:cNvPr id="39" name="Text 37"/>
          <p:cNvSpPr/>
          <p:nvPr/>
        </p:nvSpPr>
        <p:spPr>
          <a:xfrm>
            <a:off x="603504" y="6309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060704" y="62362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SAS/R wrote the data; Smartsheet sent the alert. The rich notification is a workflow you set up once in the Smartsheet UI — the job just flips the cell that triggers it.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IT SAFELY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guardrails for an unattended SAS/R → Smartsheet job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394960" cy="1920240"/>
          </a:xfrm>
          <a:prstGeom prst="rect">
            <a:avLst/>
          </a:prstGeom>
          <a:solidFill>
            <a:srgbClr val="F4F5FB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91440" cy="192024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270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Idempotent by key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039112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existing rows by a stable Task ID — never blind-append. Re-running the job (or a retry) never creates duplicate rows.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325880"/>
            <a:ext cx="5394960" cy="1920240"/>
          </a:xfrm>
          <a:prstGeom prst="rect">
            <a:avLst/>
          </a:prstGeom>
          <a:solidFill>
            <a:srgbClr val="F4F5FB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325880"/>
            <a:ext cx="91440" cy="19202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5270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Ops-only — no PHI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29400" y="2039112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only timelines, status, % complete, milestone dates, ownership. NEVER PHI, participant-level data, unblinded info, or reported clinical numbers — a column allowlist enforces it.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5394960" cy="1920240"/>
          </a:xfrm>
          <a:prstGeom prst="rect">
            <a:avLst/>
          </a:prstGeom>
          <a:solidFill>
            <a:srgbClr val="F4F5FB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520440"/>
            <a:ext cx="91440" cy="1920240"/>
          </a:xfrm>
          <a:prstGeom prst="rect">
            <a:avLst/>
          </a:prstGeom>
          <a:solidFill>
            <a:srgbClr val="C2891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7216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kept secret + fail-loud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77240" y="4233672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token lives in a permissioned credentials file / env var, never in code. A missing/expired token or an API error stops loud and emails the backup — never a silent no-op.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3520440"/>
            <a:ext cx="5394960" cy="1920240"/>
          </a:xfrm>
          <a:prstGeom prst="rect">
            <a:avLst/>
          </a:prstGeom>
          <a:solidFill>
            <a:srgbClr val="F4F5FB"/>
          </a:solidFill>
          <a:ln w="12700">
            <a:solidFill>
              <a:srgbClr val="DD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E33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3520440"/>
            <a:ext cx="91440" cy="19202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37216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Rate-limit aware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29400" y="4233672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HTTP 429 with exponential backoff and batch updates; the tracker stays consistent even under throttling.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5897880"/>
            <a:ext cx="11247120" cy="548640"/>
          </a:xfrm>
          <a:prstGeom prst="rect">
            <a:avLst/>
          </a:prstGeom>
          <a:solidFill>
            <a:srgbClr val="15183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8978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boundary: </a:t>
            </a:r>
            <a:pPr indent="0" marL="0">
              <a:buNone/>
            </a:pPr>
            <a:r>
              <a:rPr lang="en-US" sz="125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Smartsheet is a cloud tracker — operational data only. The validated systems own the authoritative numbers; Smartsheet shows the status.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3A6FB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macro to push status; Smartsheet does the rest.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94960" cy="1600200"/>
          </a:xfrm>
          <a:prstGeom prst="rect">
            <a:avLst/>
          </a:prstGeom>
          <a:solidFill>
            <a:srgbClr val="1E2350"/>
          </a:solidFill>
          <a:ln w="12700">
            <a:solidFill>
              <a:srgbClr val="343A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65960"/>
            <a:ext cx="82296" cy="1600200"/>
          </a:xfrm>
          <a:prstGeom prst="rect">
            <a:avLst/>
          </a:prstGeom>
          <a:solidFill>
            <a:srgbClr val="3A6FB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122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Maximum ease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569464"/>
            <a:ext cx="48920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 SAS/R macro library wraps the Smartsheet API — one call pushes a status, attaches a report, or cascades a date. Schedule it once; the tracker maintains itself.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92240" y="1965960"/>
            <a:ext cx="5394960" cy="1600200"/>
          </a:xfrm>
          <a:prstGeom prst="rect">
            <a:avLst/>
          </a:prstGeom>
          <a:solidFill>
            <a:srgbClr val="1E2350"/>
          </a:solidFill>
          <a:ln w="12700">
            <a:solidFill>
              <a:srgbClr val="343A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965960"/>
            <a:ext cx="82296" cy="1600200"/>
          </a:xfrm>
          <a:prstGeom prst="rect">
            <a:avLst/>
          </a:prstGeom>
          <a:solidFill>
            <a:srgbClr val="C2891C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21122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SAS/R does the data; Smartsheet does the alert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66560" y="2569464"/>
            <a:ext cx="48920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API calls from your validated programs; the rich notifications are Smartsheet workflows you configure once in the UI.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5394960" cy="1600200"/>
          </a:xfrm>
          <a:prstGeom prst="rect">
            <a:avLst/>
          </a:prstGeom>
          <a:solidFill>
            <a:srgbClr val="1E2350"/>
          </a:solidFill>
          <a:ln w="12700">
            <a:solidFill>
              <a:srgbClr val="343A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794760"/>
            <a:ext cx="82296" cy="1600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9410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Governed by design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398264"/>
            <a:ext cx="48920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updates, an ops-only column allowlist (no PHI), a secret token, and fail-loud error handling.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92240" y="3794760"/>
            <a:ext cx="5394960" cy="1600200"/>
          </a:xfrm>
          <a:prstGeom prst="rect">
            <a:avLst/>
          </a:prstGeom>
          <a:solidFill>
            <a:srgbClr val="1E2350"/>
          </a:solidFill>
          <a:ln w="12700">
            <a:solidFill>
              <a:srgbClr val="343A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3794760"/>
            <a:ext cx="82296" cy="1600200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39410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Fits the family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66560" y="4398264"/>
            <a:ext cx="48920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no-AI companion to the SAS/R trial-monitoring automation — same scheduler, same discipline, a different target.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Illustrative. No AI — deterministic API automation. Operations data only; the validated systems own every reported number.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Smartsheet × SAS/R — nightly tracker automation (CP-101)</dc:title>
  <dc:subject>PptxGenJS Presentation</dc:subject>
  <dc:creator>PptxGenJS</dc:creator>
  <cp:lastModifiedBy>PptxGenJS</cp:lastModifiedBy>
  <cp:revision>1</cp:revision>
  <dcterms:created xsi:type="dcterms:W3CDTF">2026-06-10T23:21:56Z</dcterms:created>
  <dcterms:modified xsi:type="dcterms:W3CDTF">2026-06-10T23:21:56Z</dcterms:modified>
</cp:coreProperties>
</file>